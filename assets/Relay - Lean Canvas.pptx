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020" r:id="rId2"/>
    <p:sldId id="201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6327"/>
  </p:normalViewPr>
  <p:slideViewPr>
    <p:cSldViewPr snapToGrid="0">
      <p:cViewPr varScale="1">
        <p:scale>
          <a:sx n="120" d="100"/>
          <a:sy n="120" d="100"/>
        </p:scale>
        <p:origin x="1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2013-E0A4-7963-538F-CC46CDF52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B3A393-75B5-4D28-BE1A-B83BF7AE3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55D1A-FD71-B678-083E-D72A0D7F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8D7A8-A838-8AEA-5CE6-241BBFD0A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DC252-2C1B-9567-212A-F89458B4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55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32AC-609F-758D-004C-559B5074D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89A7D-C2ED-E0F5-A28D-59BF0F9DF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37604-3602-2BBF-CDC8-649CE6DD7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4B653-2CFF-7C23-0701-F139820C2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650B3-7FF2-38C2-FE93-69DDE7563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61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3C5C4-322C-D437-329A-4B0168F08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37C62-6FE5-92C4-0A43-050E71043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E1118-57A5-8A26-C89F-06F461601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1D957-83C1-B6AD-4463-E56A77405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895D9-7F62-99F0-BB5F-CB26ABA7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51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87CAC-57A1-20B4-C3C1-70D43952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AE978-656D-6A16-AD3A-6591C5B7F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490AA-0AF3-2EF9-7980-2D6A63C68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E3367-8AA3-757C-2181-9357C3A6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6493-319F-C7FC-FB06-3BC561EE6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6CE56-102E-5A2E-ABE4-463BCA21A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49F52-7D5F-6E57-8FF7-E3A1CD370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73C57-51B1-52CF-B9CD-37D4CDA18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83FE5F-1FF3-F436-2D38-BF45E57DC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D9FE6B-3C5C-2845-3B9B-D8AA39612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5B6E25-2626-35F0-A769-6E1C3F931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F3EA7A-BFF4-82D7-443D-4EFC7D90F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9E9C63-83BE-3236-0645-C97B2ED36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2DEFB9-9F51-5AEB-ADC3-D8335125A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75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03CE3-0AEF-E082-5357-C2FE8F1E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BBD72-7DA0-0491-5056-2830F5E6B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65720-9B94-7AFA-3F69-AFC7A3B54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BF271-F6BE-9D94-B8C0-61A65FE2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01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27C37-B590-9425-42A3-62DAD7240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612D7F-4CE5-4217-FF06-D6547D27D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1EA00-F8DE-5FF6-923B-5469A7A6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47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17174-C21A-396E-8AB0-7F7F448C9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405A5-9553-8775-E0DA-A4D0A9AB8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B2A5C-4AFC-E8D8-388C-C233F4CD4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88E3F-7A81-B841-D6FD-5A3825A99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213F7-3FD5-E355-B5FA-B368E3F96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DA08C-AAD8-2E2B-7691-AB09807CE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67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791E0-4F62-9001-6D28-1B2EC8FD8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196BB-F78E-7970-913C-0DF27DADF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4474B-3ADD-2CC1-4D70-E69D9EAC8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7AB1B-5786-5465-9364-E13C75AF5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31F5D-95E9-D4AF-63D0-C69703D74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D4E43-8E8A-F692-639A-33D2E3B8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2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AAFA7-C038-DAD4-ACA9-84C5A677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2AED8-BD0F-35B0-F5FD-193291B4F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5BF21-DCF9-7CE4-9143-8DC6E724B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533C1-363E-1DD3-D57D-40D805481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1BCAD-5FD0-338A-71E5-6CA218090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1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ACEC15-547D-BA9D-290E-0C94E4B90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BF7DD-A65B-0C81-490D-292E8923A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8C43C-2191-EB5F-8B55-82D16B1E7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44324-5BB5-E4FF-97CB-6F1ACCD1F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8AD3C-A544-D1B6-FE4F-2754065B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77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76FAEA-31EC-D142-717B-133FDA87B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5A273-D511-5B21-5752-EB2677158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ADC8C-666D-AE98-0573-3602ED7EB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D2115-CCC0-C940-AD3D-153A4CBEC1B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36EFD-41E7-CB90-7786-5031CE100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8DC5-1D5D-2654-4123-4CE449834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28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Logo" Type="http://schemas.openxmlformats.org/officeDocument/2006/relationships/image" Target="../media/logo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Logo" Type="http://schemas.openxmlformats.org/officeDocument/2006/relationships/image" Target="../media/logo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7CAA-3FDA-FECD-E38D-C1DF80872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008" y="387928"/>
            <a:ext cx="2737659" cy="498225"/>
          </a:xfrm>
        </p:spPr>
        <p:txBody>
          <a:bodyPr/>
          <a:lstStyle/>
          <a:p>
            <a:r>
              <a:rPr lang="en-US" sz="2133" dirty="0">
                <a:latin typeface="Arial" panose="020B0604020202020204" pitchFamily="34" charset="0"/>
                <a:cs typeface="Arial" panose="020B0604020202020204" pitchFamily="34" charset="0"/>
              </a:rPr>
              <a:t>Relay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D561F8-E95C-FBA2-80B7-9CFA3B639F0C}"/>
              </a:ext>
            </a:extLst>
          </p:cNvPr>
          <p:cNvSpPr txBox="1">
            <a:spLocks/>
          </p:cNvSpPr>
          <p:nvPr/>
        </p:nvSpPr>
        <p:spPr>
          <a:xfrm>
            <a:off x="11157140" y="323759"/>
            <a:ext cx="908859" cy="831275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2133" b="0" dirty="0"/>
          </a:p>
          <a:p>
            <a:r>
              <a:rPr lang="en-US" sz="2133" b="0" dirty="0"/>
              <a:t/>
            </a:r>
          </a:p>
          <a:p>
            <a:endParaRPr lang="en-US" sz="2133" b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FBF81-E438-5859-FCC6-78363E52F086}"/>
              </a:ext>
            </a:extLst>
          </p:cNvPr>
          <p:cNvSpPr txBox="1">
            <a:spLocks/>
          </p:cNvSpPr>
          <p:nvPr/>
        </p:nvSpPr>
        <p:spPr>
          <a:xfrm>
            <a:off x="266008" y="886151"/>
            <a:ext cx="4366952" cy="1400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67" b="0" dirty="0">
                <a:latin typeface="Arial" panose="020B0604020202020204" pitchFamily="34" charset="0"/>
                <a:cs typeface="Arial" panose="020B0604020202020204" pitchFamily="34" charset="0"/>
              </a:rPr>
              <a:t>Leadership Team and Roles:</a:t>
            </a:r>
          </a:p>
          <a:p>
            <a:r>
              <a:rPr lang="en-US" sz="1333" b="0" dirty="0">
                <a:latin typeface="Arial" panose="020B0604020202020204" pitchFamily="34" charset="0"/>
                <a:cs typeface="Arial" panose="020B0604020202020204" pitchFamily="34" charset="0"/>
              </a:rPr>
              <a:t>CEO – Mihir</a:t>
            </a:r>
          </a:p>
          <a:p>
            <a:r>
              <a:rPr lang="en-US" sz="1333" b="0" dirty="0">
                <a:latin typeface="Arial" panose="020B0604020202020204" pitchFamily="34" charset="0"/>
                <a:cs typeface="Arial" panose="020B0604020202020204" pitchFamily="34" charset="0"/>
              </a:rPr>
              <a:t>VP Dev – Shenwei</a:t>
            </a:r>
          </a:p>
          <a:p>
            <a:r>
              <a:rPr lang="en-US" sz="1333" b="0" dirty="0">
                <a:latin typeface="Arial" panose="020B0604020202020204" pitchFamily="34" charset="0"/>
                <a:cs typeface="Arial" panose="020B0604020202020204" pitchFamily="34" charset="0"/>
              </a:rPr>
              <a:t>VP Sales/Mktg – Sam</a:t>
            </a:r>
          </a:p>
          <a:p>
            <a:r>
              <a:rPr lang="en-US" sz="1333" b="0" dirty="0">
                <a:latin typeface="Arial" panose="020B0604020202020204" pitchFamily="34" charset="0"/>
                <a:cs typeface="Arial" panose="020B0604020202020204" pitchFamily="34" charset="0"/>
              </a:rPr>
              <a:t>VP Finance – Kush</a:t>
            </a:r>
          </a:p>
          <a:p>
            <a:r>
              <a:rPr lang="en-US" sz="1333" b="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76725F-92D1-16D1-D576-10B051010E90}"/>
              </a:ext>
            </a:extLst>
          </p:cNvPr>
          <p:cNvSpPr txBox="1"/>
          <p:nvPr/>
        </p:nvSpPr>
        <p:spPr>
          <a:xfrm>
            <a:off x="266008" y="3924986"/>
            <a:ext cx="11400000" cy="9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Relay Storage &amp; Reservations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Bridging the 3-month gap between graduating students selling furniture and incoming students who need it — with campus storage and online reservations.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D3D851-1907-3455-B8D4-85F242C00513}"/>
              </a:ext>
            </a:extLst>
          </p:cNvPr>
          <p:cNvSpPr txBox="1">
            <a:spLocks/>
          </p:cNvSpPr>
          <p:nvPr/>
        </p:nvSpPr>
        <p:spPr>
          <a:xfrm>
            <a:off x="266008" y="2844788"/>
            <a:ext cx="4366952" cy="49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67" b="0" dirty="0"/>
              <a:t>Mission Statement:</a:t>
            </a:r>
          </a:p>
        </p:txBody>
      </p:sp>
      <p:pic>
        <p:nvPicPr>
          <p:cNvPr id="501" name="Company Logo" descr="Relay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1237140" y="403759"/>
            <a:ext cx="748859" cy="67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338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7CAA-3FDA-FECD-E38D-C1DF80872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01" y="74646"/>
            <a:ext cx="2737659" cy="498225"/>
          </a:xfrm>
        </p:spPr>
        <p:txBody>
          <a:bodyPr/>
          <a:lstStyle/>
          <a:p>
            <a:r>
              <a:rPr lang="en-US" sz="2133" dirty="0"/>
              <a:t>Relay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D561F8-E95C-FBA2-80B7-9CFA3B639F0C}"/>
              </a:ext>
            </a:extLst>
          </p:cNvPr>
          <p:cNvSpPr txBox="1">
            <a:spLocks/>
          </p:cNvSpPr>
          <p:nvPr/>
        </p:nvSpPr>
        <p:spPr>
          <a:xfrm>
            <a:off x="11157140" y="323759"/>
            <a:ext cx="908859" cy="831275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2133" b="0" dirty="0"/>
          </a:p>
          <a:p>
            <a:r>
              <a:rPr lang="en-US" sz="2133" b="0" dirty="0"/>
              <a:t/>
            </a:r>
          </a:p>
          <a:p>
            <a:endParaRPr lang="en-US" sz="2133" b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524D252-BEC7-4D8B-4A54-FDF57CD414DC}"/>
              </a:ext>
            </a:extLst>
          </p:cNvPr>
          <p:cNvGrpSpPr/>
          <p:nvPr/>
        </p:nvGrpSpPr>
        <p:grpSpPr>
          <a:xfrm>
            <a:off x="1041991" y="574159"/>
            <a:ext cx="9892059" cy="6147320"/>
            <a:chOff x="485775" y="925848"/>
            <a:chExt cx="7731187" cy="394455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4046F58-D3C5-B7F2-3F5A-A3BDEDED6C45}"/>
                </a:ext>
              </a:extLst>
            </p:cNvPr>
            <p:cNvGrpSpPr/>
            <p:nvPr/>
          </p:nvGrpSpPr>
          <p:grpSpPr>
            <a:xfrm>
              <a:off x="485775" y="925848"/>
              <a:ext cx="7731187" cy="3944556"/>
              <a:chOff x="485775" y="925848"/>
              <a:chExt cx="7731187" cy="3944556"/>
            </a:xfrm>
          </p:grpSpPr>
          <p:sp>
            <p:nvSpPr>
              <p:cNvPr id="12" name="Shape 280">
                <a:extLst>
                  <a:ext uri="{FF2B5EF4-FFF2-40B4-BE49-F238E27FC236}">
                    <a16:creationId xmlns:a16="http://schemas.microsoft.com/office/drawing/2014/main" id="{6DFA5055-3789-CBB3-1164-B4C4239E53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775" y="925848"/>
                <a:ext cx="7724975" cy="3944556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1625519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333">
                  <a:solidFill>
                    <a:srgbClr val="191919"/>
                  </a:solidFill>
                  <a:latin typeface="HelvNeue Light for IBM"/>
                </a:endParaRPr>
              </a:p>
            </p:txBody>
          </p:sp>
          <p:sp>
            <p:nvSpPr>
              <p:cNvPr id="13" name="Shape 281">
                <a:extLst>
                  <a:ext uri="{FF2B5EF4-FFF2-40B4-BE49-F238E27FC236}">
                    <a16:creationId xmlns:a16="http://schemas.microsoft.com/office/drawing/2014/main" id="{C3A6569D-B61C-EEB6-4FA4-388026A460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775" y="3474517"/>
                <a:ext cx="3864827" cy="1166724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1625519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333">
                  <a:solidFill>
                    <a:srgbClr val="191919"/>
                  </a:solidFill>
                  <a:latin typeface="HelvNeue Light for IBM"/>
                </a:endParaRPr>
              </a:p>
            </p:txBody>
          </p:sp>
          <p:sp>
            <p:nvSpPr>
              <p:cNvPr id="14" name="Shape 282">
                <a:extLst>
                  <a:ext uri="{FF2B5EF4-FFF2-40B4-BE49-F238E27FC236}">
                    <a16:creationId xmlns:a16="http://schemas.microsoft.com/office/drawing/2014/main" id="{551B86C6-74A1-67E9-4270-41A42DEEDD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0486" y="3474517"/>
                <a:ext cx="3864827" cy="1166724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1625519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333">
                  <a:solidFill>
                    <a:srgbClr val="191919"/>
                  </a:solidFill>
                  <a:latin typeface="HelvNeue Light for IBM"/>
                </a:endParaRPr>
              </a:p>
            </p:txBody>
          </p:sp>
          <p:sp>
            <p:nvSpPr>
              <p:cNvPr id="15" name="Shape 283">
                <a:extLst>
                  <a:ext uri="{FF2B5EF4-FFF2-40B4-BE49-F238E27FC236}">
                    <a16:creationId xmlns:a16="http://schemas.microsoft.com/office/drawing/2014/main" id="{A6025E39-FB68-282B-E4BF-345692EC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71967" y="928250"/>
                <a:ext cx="1544995" cy="2542875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1625519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333">
                  <a:solidFill>
                    <a:srgbClr val="191919"/>
                  </a:solidFill>
                  <a:latin typeface="HelvNeue Light for IBM"/>
                </a:endParaRPr>
              </a:p>
            </p:txBody>
          </p:sp>
          <p:sp>
            <p:nvSpPr>
              <p:cNvPr id="16" name="Shape 284">
                <a:extLst>
                  <a:ext uri="{FF2B5EF4-FFF2-40B4-BE49-F238E27FC236}">
                    <a16:creationId xmlns:a16="http://schemas.microsoft.com/office/drawing/2014/main" id="{AF65179A-53E8-038E-547C-789DD8C814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635" y="928250"/>
                <a:ext cx="1544995" cy="2542875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1625519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333">
                  <a:solidFill>
                    <a:srgbClr val="191919"/>
                  </a:solidFill>
                  <a:latin typeface="HelvNeue Light for IBM"/>
                </a:endParaRPr>
              </a:p>
            </p:txBody>
          </p:sp>
          <p:sp>
            <p:nvSpPr>
              <p:cNvPr id="17" name="Shape 285">
                <a:extLst>
                  <a:ext uri="{FF2B5EF4-FFF2-40B4-BE49-F238E27FC236}">
                    <a16:creationId xmlns:a16="http://schemas.microsoft.com/office/drawing/2014/main" id="{A09D8A0E-AA4A-53ED-BC8F-9C14F4916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1343" y="925848"/>
                <a:ext cx="1544995" cy="1225027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1625519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333">
                  <a:solidFill>
                    <a:srgbClr val="191919"/>
                  </a:solidFill>
                  <a:latin typeface="HelvNeue Light for IBM"/>
                </a:endParaRPr>
              </a:p>
            </p:txBody>
          </p:sp>
          <p:sp>
            <p:nvSpPr>
              <p:cNvPr id="18" name="Shape 286">
                <a:extLst>
                  <a:ext uri="{FF2B5EF4-FFF2-40B4-BE49-F238E27FC236}">
                    <a16:creationId xmlns:a16="http://schemas.microsoft.com/office/drawing/2014/main" id="{7CE4C178-3880-0EAC-546D-B1C7593129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1343" y="2153182"/>
                <a:ext cx="1544995" cy="1317943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1625519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333">
                  <a:solidFill>
                    <a:srgbClr val="191919"/>
                  </a:solidFill>
                  <a:latin typeface="HelvNeue Light for IBM"/>
                </a:endParaRPr>
              </a:p>
            </p:txBody>
          </p:sp>
          <p:sp>
            <p:nvSpPr>
              <p:cNvPr id="19" name="Shape 287">
                <a:extLst>
                  <a:ext uri="{FF2B5EF4-FFF2-40B4-BE49-F238E27FC236}">
                    <a16:creationId xmlns:a16="http://schemas.microsoft.com/office/drawing/2014/main" id="{E27AAD74-787E-C9C3-088E-9196268A65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2259" y="925848"/>
                <a:ext cx="1544995" cy="1092321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1625519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333">
                  <a:solidFill>
                    <a:srgbClr val="191919"/>
                  </a:solidFill>
                  <a:latin typeface="HelvNeue Light for IBM"/>
                </a:endParaRPr>
              </a:p>
            </p:txBody>
          </p:sp>
          <p:sp>
            <p:nvSpPr>
              <p:cNvPr id="20" name="Shape 288">
                <a:extLst>
                  <a:ext uri="{FF2B5EF4-FFF2-40B4-BE49-F238E27FC236}">
                    <a16:creationId xmlns:a16="http://schemas.microsoft.com/office/drawing/2014/main" id="{63FC951D-CFEC-9F8C-AF64-2D72790D0A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2259" y="2020665"/>
                <a:ext cx="1544995" cy="1450460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1625519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333">
                  <a:solidFill>
                    <a:srgbClr val="191919"/>
                  </a:solidFill>
                  <a:latin typeface="HelvNeue Light for IBM"/>
                </a:endParaRPr>
              </a:p>
            </p:txBody>
          </p:sp>
        </p:grpSp>
        <p:sp>
          <p:nvSpPr>
            <p:cNvPr id="10" name="Shape 289">
              <a:extLst>
                <a:ext uri="{FF2B5EF4-FFF2-40B4-BE49-F238E27FC236}">
                  <a16:creationId xmlns:a16="http://schemas.microsoft.com/office/drawing/2014/main" id="{2DBD6EE1-853B-70AE-FB2E-D7822CA52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66" y="976700"/>
              <a:ext cx="531912" cy="129931"/>
            </a:xfrm>
            <a:prstGeom prst="rect">
              <a:avLst/>
            </a:prstGeom>
            <a:noFill/>
            <a:ln w="12700">
              <a:noFill/>
              <a:miter lim="4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1019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68A35"/>
                </a:buClr>
              </a:pPr>
              <a:r>
                <a:rPr lang="en-US" sz="12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Helvetica Neue Light for IBM" charset="0"/>
                </a:rPr>
                <a:t>Problem</a:t>
              </a:r>
            </a:p>
          </p:txBody>
        </p:sp>
        <p:sp>
          <p:nvSpPr>
            <p:cNvPr id="11" name="Shape 295">
              <a:extLst>
                <a:ext uri="{FF2B5EF4-FFF2-40B4-BE49-F238E27FC236}">
                  <a16:creationId xmlns:a16="http://schemas.microsoft.com/office/drawing/2014/main" id="{7009A914-0869-E535-2CF7-73A6426D0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704" y="976700"/>
              <a:ext cx="1489047" cy="129931"/>
            </a:xfrm>
            <a:prstGeom prst="rect">
              <a:avLst/>
            </a:prstGeom>
            <a:noFill/>
            <a:ln w="12700">
              <a:noFill/>
              <a:miter lim="4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defTabSz="1019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68A35"/>
                </a:buClr>
              </a:pPr>
              <a:r>
                <a:rPr lang="en-US" sz="12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Helvetica Neue Light for IBM" charset="0"/>
                </a:rPr>
                <a:t>Customer Segments</a:t>
              </a:r>
            </a:p>
          </p:txBody>
        </p:sp>
      </p:grpSp>
      <p:sp>
        <p:nvSpPr>
          <p:cNvPr id="21" name="Shape 289">
            <a:extLst>
              <a:ext uri="{FF2B5EF4-FFF2-40B4-BE49-F238E27FC236}">
                <a16:creationId xmlns:a16="http://schemas.microsoft.com/office/drawing/2014/main" id="{9A939380-5620-0B7B-9418-4F3FE2951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003" y="653405"/>
            <a:ext cx="662485" cy="202488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Solution</a:t>
            </a:r>
            <a:endParaRPr lang="en-US" sz="12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Light for IBM" charset="0"/>
            </a:endParaRPr>
          </a:p>
        </p:txBody>
      </p:sp>
      <p:sp>
        <p:nvSpPr>
          <p:cNvPr id="22" name="Shape 289">
            <a:extLst>
              <a:ext uri="{FF2B5EF4-FFF2-40B4-BE49-F238E27FC236}">
                <a16:creationId xmlns:a16="http://schemas.microsoft.com/office/drawing/2014/main" id="{322C0766-3810-9792-9CE9-0EB250449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4716" y="645988"/>
            <a:ext cx="1976821" cy="404978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Unique V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alue Proposition</a:t>
            </a:r>
            <a:endParaRPr lang="en-US" sz="12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Light for IBM" charset="0"/>
            </a:endParaRPr>
          </a:p>
        </p:txBody>
      </p:sp>
      <p:sp>
        <p:nvSpPr>
          <p:cNvPr id="23" name="Shape 289">
            <a:extLst>
              <a:ext uri="{FF2B5EF4-FFF2-40B4-BE49-F238E27FC236}">
                <a16:creationId xmlns:a16="http://schemas.microsoft.com/office/drawing/2014/main" id="{696B038B-1BA8-F72F-D007-D0B67166D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8293" y="645988"/>
            <a:ext cx="1689240" cy="202488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Unfair Advantage</a:t>
            </a:r>
          </a:p>
        </p:txBody>
      </p:sp>
      <p:sp>
        <p:nvSpPr>
          <p:cNvPr id="24" name="Shape 295">
            <a:extLst>
              <a:ext uri="{FF2B5EF4-FFF2-40B4-BE49-F238E27FC236}">
                <a16:creationId xmlns:a16="http://schemas.microsoft.com/office/drawing/2014/main" id="{559A54FD-D7F8-8D9C-D03B-6C23380EC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8293" y="2373952"/>
            <a:ext cx="1905237" cy="202488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Channels</a:t>
            </a:r>
          </a:p>
        </p:txBody>
      </p:sp>
      <p:sp>
        <p:nvSpPr>
          <p:cNvPr id="25" name="Shape 295">
            <a:extLst>
              <a:ext uri="{FF2B5EF4-FFF2-40B4-BE49-F238E27FC236}">
                <a16:creationId xmlns:a16="http://schemas.microsoft.com/office/drawing/2014/main" id="{1982E51F-CB12-EDB3-B0B2-E4F2FF73F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8627" y="2559350"/>
            <a:ext cx="1905237" cy="202488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Key Metrics</a:t>
            </a:r>
          </a:p>
        </p:txBody>
      </p:sp>
      <p:sp>
        <p:nvSpPr>
          <p:cNvPr id="26" name="Shape 295">
            <a:extLst>
              <a:ext uri="{FF2B5EF4-FFF2-40B4-BE49-F238E27FC236}">
                <a16:creationId xmlns:a16="http://schemas.microsoft.com/office/drawing/2014/main" id="{C89B6C54-96CD-48BB-A76C-745F53994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6714" y="4621173"/>
            <a:ext cx="2632925" cy="202488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Cost Structure</a:t>
            </a:r>
          </a:p>
        </p:txBody>
      </p:sp>
      <p:sp>
        <p:nvSpPr>
          <p:cNvPr id="27" name="Shape 295">
            <a:extLst>
              <a:ext uri="{FF2B5EF4-FFF2-40B4-BE49-F238E27FC236}">
                <a16:creationId xmlns:a16="http://schemas.microsoft.com/office/drawing/2014/main" id="{45D85C91-2B9F-3737-5B58-4AB26821B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6602" y="4621171"/>
            <a:ext cx="2632925" cy="202488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Revenue Streams </a:t>
            </a:r>
          </a:p>
        </p:txBody>
      </p:sp>
      <p:sp>
        <p:nvSpPr>
          <p:cNvPr id="3" name="Shape 289">
            <a:extLst>
              <a:ext uri="{FF2B5EF4-FFF2-40B4-BE49-F238E27FC236}">
                <a16:creationId xmlns:a16="http://schemas.microsoft.com/office/drawing/2014/main" id="{56A7D0E2-9BFB-132E-9D59-5933F9113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2183" y="2538898"/>
            <a:ext cx="1612225" cy="202488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Existing Alternatives</a:t>
            </a:r>
          </a:p>
        </p:txBody>
      </p:sp>
      <p:sp>
        <p:nvSpPr>
          <p:cNvPr id="8" name="Shape 295">
            <a:extLst>
              <a:ext uri="{FF2B5EF4-FFF2-40B4-BE49-F238E27FC236}">
                <a16:creationId xmlns:a16="http://schemas.microsoft.com/office/drawing/2014/main" id="{F77AB907-7FAD-F57B-9592-085EB5E55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4883" y="2368665"/>
            <a:ext cx="1905237" cy="202488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Early Adopters</a:t>
            </a:r>
          </a:p>
        </p:txBody>
      </p:sp>
      <p:sp>
        <p:nvSpPr>
          <p:cNvPr id="201" name="ProblemBody"/>
          <p:cNvSpPr txBox="1"/>
          <p:nvPr/>
        </p:nvSpPr>
        <p:spPr>
          <a:xfrm>
            <a:off x="1106930" y="900000"/>
            <a:ext cx="185693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85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Furniture is “stranded” — sellers move out in May, buyers don’t arrive until August.</a:t>
            </a:r>
          </a:p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85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No easy way to store items while waiting for a buyer.</a:t>
            </a:r>
          </a:p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85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Incoming students can’t shop for furniture until they’re already on campus.</a:t>
            </a:r>
          </a:p>
        </p:txBody>
      </p:sp>
      <p:sp>
        <p:nvSpPr>
          <p:cNvPr id="202" name="ExistingAltBody"/>
          <p:cNvSpPr txBox="1"/>
          <p:nvPr/>
        </p:nvSpPr>
        <p:spPr>
          <a:xfrm>
            <a:off x="1106930" y="2790000"/>
            <a:ext cx="1856930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85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List on Facebook Marketplace/Craigslist and hope for a pickup before move-out</a:t>
            </a:r>
          </a:p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85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Rent a personal storage unit for the summer</a:t>
            </a:r>
          </a:p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85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Donate to Goodwill or campus donation drives</a:t>
            </a:r>
          </a:p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85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4. Leave it on the curb during move-out chaos</a:t>
            </a:r>
          </a:p>
        </p:txBody>
      </p:sp>
      <p:sp>
        <p:nvSpPr>
          <p:cNvPr id="203" name="SolutionBody"/>
          <p:cNvSpPr txBox="1"/>
          <p:nvPr/>
        </p:nvSpPr>
        <p:spPr>
          <a:xfrm>
            <a:off x="3079823" y="950000"/>
            <a:ext cx="185693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85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Reservation-based storage &amp; handoff platform: graduating students drop off furniture at a partner storage site before leaving; incoming students browse, reserve, and pick up (or get delivery) during move-in week.</a:t>
            </a:r>
          </a:p>
        </p:txBody>
      </p:sp>
      <p:sp>
        <p:nvSpPr>
          <p:cNvPr id="204" name="KeyMetricsBody"/>
          <p:cNvSpPr txBox="1"/>
          <p:nvPr/>
        </p:nvSpPr>
        <p:spPr>
          <a:xfrm>
            <a:off x="3079823" y="2850000"/>
            <a:ext cx="185693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85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• # of items reserved before move-in</a:t>
            </a:r>
          </a:p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85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• % of listed items successfully picked up</a:t>
            </a:r>
          </a:p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85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• Storage utilization over the summer bridge</a:t>
            </a:r>
          </a:p>
        </p:txBody>
      </p:sp>
      <p:sp>
        <p:nvSpPr>
          <p:cNvPr id="205" name="UVPBody"/>
          <p:cNvSpPr txBox="1"/>
          <p:nvPr/>
        </p:nvSpPr>
        <p:spPr>
          <a:xfrm>
            <a:off x="5056753" y="1150000"/>
            <a:ext cx="1857926" cy="3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90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Turn move-out chaos into a guaranteed sale, and move-in day into an already-furnished room.</a:t>
            </a:r>
          </a:p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90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bridge the 3-month gap between “sell it” and “buy it” with campus-specific storage + reservations, built around the academic calendar.</a:t>
            </a:r>
          </a:p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900" b="0" i="1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“I’m moving out in May, but nobody wants to buy a desk in May” — this is exactly the problem we solve.</a:t>
            </a:r>
          </a:p>
        </p:txBody>
      </p:sp>
      <p:sp>
        <p:nvSpPr>
          <p:cNvPr id="206" name="UnfairAdvBody"/>
          <p:cNvSpPr txBox="1"/>
          <p:nvPr/>
        </p:nvSpPr>
        <p:spPr>
          <a:xfrm>
            <a:off x="7034679" y="950000"/>
            <a:ext cx="185693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85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Partnership with campus housing/facilities for on-site storage access and move-in day logistics — student trust and campus presence that Marketplace or generic storage companies can’t match.</a:t>
            </a:r>
          </a:p>
        </p:txBody>
      </p:sp>
      <p:sp>
        <p:nvSpPr>
          <p:cNvPr id="207" name="ChannelsBody"/>
          <p:cNvSpPr txBox="1"/>
          <p:nvPr/>
        </p:nvSpPr>
        <p:spPr>
          <a:xfrm>
            <a:off x="7034679" y="2650000"/>
            <a:ext cx="1856930" cy="1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85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University housing office &amp; move-out/move-in emails</a:t>
            </a:r>
          </a:p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85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Campus Facebook/Instagram groups</a:t>
            </a:r>
          </a:p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85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Website &amp; app signup</a:t>
            </a:r>
          </a:p>
        </p:txBody>
      </p:sp>
      <p:sp>
        <p:nvSpPr>
          <p:cNvPr id="208" name="CustSegBody"/>
          <p:cNvSpPr txBox="1"/>
          <p:nvPr/>
        </p:nvSpPr>
        <p:spPr>
          <a:xfrm>
            <a:off x="9016739" y="950000"/>
            <a:ext cx="185693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85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Graduating students moving out (sellers) and incoming or returning students furnishing a room (buyers) — same university.</a:t>
            </a:r>
          </a:p>
        </p:txBody>
      </p:sp>
      <p:sp>
        <p:nvSpPr>
          <p:cNvPr id="209" name="EarlyAdoptBody"/>
          <p:cNvSpPr txBox="1"/>
          <p:nvPr/>
        </p:nvSpPr>
        <p:spPr>
          <a:xfrm>
            <a:off x="9016739" y="2600000"/>
            <a:ext cx="1856930" cy="1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85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Seniors already planning to sell/donate who want a guaranteed sale</a:t>
            </a:r>
          </a:p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85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Incoming, transfer, or international students who don’t want to ship furniture</a:t>
            </a:r>
          </a:p>
        </p:txBody>
      </p:sp>
      <p:sp>
        <p:nvSpPr>
          <p:cNvPr id="210" name="CostStructBody"/>
          <p:cNvSpPr txBox="1"/>
          <p:nvPr/>
        </p:nvSpPr>
        <p:spPr>
          <a:xfrm>
            <a:off x="1101991" y="4900000"/>
            <a:ext cx="4825924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100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Storage space rental for the summer bridge period</a:t>
            </a:r>
          </a:p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100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Platform (app/website) development &amp; hosting</a:t>
            </a:r>
          </a:p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100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Pickup, drop-off &amp; move-in week labor/logistics</a:t>
            </a:r>
          </a:p>
        </p:txBody>
      </p:sp>
      <p:sp>
        <p:nvSpPr>
          <p:cNvPr id="211" name="RevStreamBody"/>
          <p:cNvSpPr txBox="1"/>
          <p:nvPr/>
        </p:nvSpPr>
        <p:spPr>
          <a:xfrm>
            <a:off x="6046974" y="4900000"/>
            <a:ext cx="4825924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100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Storage/listing fee charged to sellers (or % commission on sale)</a:t>
            </a:r>
          </a:p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100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Reservation/booking fee charged to buyers</a:t>
            </a:r>
          </a:p>
          <a:p>
            <a:pPr defTabSz="1019400" fontAlgn="base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1000" b="0" i="0" dirty="0">
                <a:solidFill>
                  <a:srgbClr val="19191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Optional delivery fee during move-in week</a:t>
            </a:r>
          </a:p>
        </p:txBody>
      </p:sp>
      <p:pic>
        <p:nvPicPr>
          <p:cNvPr id="501" name="Company Logo" descr="Relay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1237140" y="403759"/>
            <a:ext cx="748859" cy="67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243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74</Words>
  <Application>Microsoft Macintosh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HelvNeue Light for IBM</vt:lpstr>
      <vt:lpstr>Open Sans</vt:lpstr>
      <vt:lpstr>Office Theme</vt:lpstr>
      <vt:lpstr>&lt;Company Name&gt;</vt:lpstr>
      <vt:lpstr>&lt;Company Name&gt;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&lt;Company Name&gt;</dc:title>
  <dc:creator>Richard Thomas, M.B.A.</dc:creator>
  <cp:lastModifiedBy>Richard Thomas, M.B.A.</cp:lastModifiedBy>
  <cp:revision>4</cp:revision>
  <dcterms:created xsi:type="dcterms:W3CDTF">2022-09-15T01:13:56Z</dcterms:created>
  <dcterms:modified xsi:type="dcterms:W3CDTF">2025-09-10T21:24:43Z</dcterms:modified>
</cp:coreProperties>
</file>