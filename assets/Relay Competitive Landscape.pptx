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12192000"/>
  <p:embeddedFontLst>
    <p:embeddedFont>
      <p:font typeface="Domine"/>
      <p:regular r:id="rId18"/>
      <p:bold r:id="rId19"/>
    </p:embeddedFont>
    <p:embeddedFont>
      <p:font typeface="DM Sans"/>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8E535C3-F34D-4442-A4BF-92779D6C07B9}">
  <a:tblStyle styleId="{58E535C3-F34D-4442-A4BF-92779D6C07B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A221050-2FFC-4BB8-9BD3-23F97D68F339}"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DMSans-regular.fntdata"/><Relationship Id="rId11" Type="http://schemas.openxmlformats.org/officeDocument/2006/relationships/slide" Target="slides/slide6.xml"/><Relationship Id="rId22" Type="http://schemas.openxmlformats.org/officeDocument/2006/relationships/font" Target="fonts/DMSans-italic.fntdata"/><Relationship Id="rId10" Type="http://schemas.openxmlformats.org/officeDocument/2006/relationships/slide" Target="slides/slide5.xml"/><Relationship Id="rId21" Type="http://schemas.openxmlformats.org/officeDocument/2006/relationships/font" Target="fonts/DMSans-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DMSa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Domine-bold.fntdata"/><Relationship Id="rId6" Type="http://schemas.openxmlformats.org/officeDocument/2006/relationships/slide" Target="slides/slide1.xml"/><Relationship Id="rId18" Type="http://schemas.openxmlformats.org/officeDocument/2006/relationships/font" Target="fonts/Domine-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COVER. Replace the bracketed pitch with one sentence that states who Relay serves and what it does (for example, student-to-student furniture handoff across the summer gap). Keep it to one line. Add your name, course and date. No workbook section feeds this slide.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SAM</a:t>
            </a:r>
            <a:endParaRPr b="1"/>
          </a:p>
          <a:p>
            <a:pPr indent="0" lvl="0" marL="0" rtl="0" algn="l">
              <a:spcBef>
                <a:spcPts val="0"/>
              </a:spcBef>
              <a:spcAft>
                <a:spcPts val="0"/>
              </a:spcAft>
              <a:buNone/>
            </a:pPr>
            <a:r>
              <a:rPr lang="en-US"/>
              <a:t>Frame the problem before any competitor appears. Use your 1A problem description and 1B jobs-to-be-done. Focus on the problem, not the solution. Avoid features, technology or competitor assumptions. Optional but useful: one line or quote from your Customer Discovery.</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Shenwei</a:t>
            </a:r>
            <a:endParaRPr b="1"/>
          </a:p>
          <a:p>
            <a:pPr indent="0" lvl="0" marL="0" rtl="0" algn="l">
              <a:spcBef>
                <a:spcPts val="0"/>
              </a:spcBef>
              <a:spcAft>
                <a:spcPts val="0"/>
              </a:spcAft>
              <a:buNone/>
            </a:pPr>
            <a:r>
              <a:t/>
            </a:r>
            <a:endParaRPr b="1"/>
          </a:p>
          <a:p>
            <a:pPr indent="0" lvl="0" marL="0" rtl="0" algn="l">
              <a:spcBef>
                <a:spcPts val="0"/>
              </a:spcBef>
              <a:spcAft>
                <a:spcPts val="0"/>
              </a:spcAft>
              <a:buNone/>
            </a:pPr>
            <a:r>
              <a:rPr lang="en-US"/>
              <a:t>SLIDE 1. Show your competitors and the AI's side by side. Starter rows come from your pre-work list plus Storage Scholars from the AI; swap in the rest of the AI's list (DormXchange, Smivo, OfferUp, Collegeboxes and others) and Ebay if you keep it. The graded moment is validation: show at least three AI descriptions you fact-checked, which ones were outdated or too general, and which competitors you added. Classify each as direct, indirect or substitute and rate how well it solves the core problem. Type labels in brackets are guesses for you to confirm.</a:t>
            </a:r>
            <a:endParaRPr/>
          </a:p>
        </p:txBody>
      </p:sp>
      <p:sp>
        <p:nvSpPr>
          <p:cNvPr id="45" name="Google Shape;4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SHENWEI</a:t>
            </a:r>
            <a:endParaRPr b="1"/>
          </a:p>
          <a:p>
            <a:pPr indent="0" lvl="0" marL="0" rtl="0" algn="l">
              <a:spcBef>
                <a:spcPts val="0"/>
              </a:spcBef>
              <a:spcAft>
                <a:spcPts val="0"/>
              </a:spcAft>
              <a:buNone/>
            </a:pPr>
            <a:r>
              <a:rPr lang="en-US"/>
              <a:t>SLIDE 2. Show your FINAL quadrant, not the AI's. State the axes and why they matter for the problem. Every competitor from both lists must appear. The commentary is the graded part: explain each placement you changed from the AI's version with evidence such as reviews, traction, funding, pricing or coverage. Dot positions and quadrant names here are only samples; place them from your own research. Do the 3A rough draft yourself before consulting the AI.</a:t>
            </a:r>
            <a:endParaRPr/>
          </a:p>
        </p:txBody>
      </p:sp>
      <p:sp>
        <p:nvSpPr>
          <p:cNvPr id="62" name="Google Shape;6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kush</a:t>
            </a:r>
            <a:endParaRPr/>
          </a:p>
          <a:p>
            <a:pPr indent="0" lvl="0" marL="0" rtl="0" algn="l">
              <a:spcBef>
                <a:spcPts val="0"/>
              </a:spcBef>
              <a:spcAft>
                <a:spcPts val="0"/>
              </a:spcAft>
              <a:buNone/>
            </a:pPr>
            <a:r>
              <a:rPr lang="en-US"/>
              <a:t>SLIDES 3 to 5 are fed by Part 4. This slide shows the AI's SWOT for its chosen leader (Storage Scholars) using the problem-solving lens: strengths and weaknesses are how well it solves the problem, opportunities are where the problem remains unsolved, and threats come from stronger problem-solvers. Do not paste the whole SWOT. Pick the sharpest points and visibly mark where you corrected the AI (for example, the AI claims Relay could partner with storage providers; is that realistic?). Evidence beats opinion.</a:t>
            </a:r>
            <a:endParaRPr/>
          </a:p>
        </p:txBody>
      </p:sp>
      <p:sp>
        <p:nvSpPr>
          <p:cNvPr id="84" name="Google Shape;8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Kush</a:t>
            </a:r>
            <a:endParaRPr/>
          </a:p>
          <a:p>
            <a:pPr indent="0" lvl="0" marL="0" rtl="0" algn="l">
              <a:spcBef>
                <a:spcPts val="0"/>
              </a:spcBef>
              <a:spcAft>
                <a:spcPts val="0"/>
              </a:spcAft>
              <a:buNone/>
            </a:pPr>
            <a:r>
              <a:rPr lang="en-US"/>
              <a:t>Your own SWOT, written without AI. Starter text is lifted from your 4B notes; tighten it and keep only the strongest points. Note that you argued Storage Scholars is a direct competitor for storage and delivery but not for resale, which is a real correction to the AI worth stating out loud. Add evidence (news, pricing pages, partnerships) wherever you can.</a:t>
            </a:r>
            <a:endParaRPr/>
          </a:p>
        </p:txBody>
      </p:sp>
      <p:sp>
        <p:nvSpPr>
          <p:cNvPr id="107" name="Google Shape;10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kush</a:t>
            </a:r>
            <a:endParaRPr/>
          </a:p>
          <a:p>
            <a:pPr indent="0" lvl="0" marL="0" rtl="0" algn="l">
              <a:spcBef>
                <a:spcPts val="0"/>
              </a:spcBef>
              <a:spcAft>
                <a:spcPts val="0"/>
              </a:spcAft>
              <a:buNone/>
            </a:pPr>
            <a:r>
              <a:rPr lang="en-US"/>
              <a:t>SLIDE 5. Turn the two SWOTs into direction. Because you have not locked a solution, be explicit about uncertainty: name two assumptions to test (for example, whether a state or local college has enough buyers and sellers, or whether damage and storage costs kill margin). Early adopters can be an unaddressed population, such as apartment complexes with post-remodel or abandoned furniture. Starter text comes from your pre-work notes.</a:t>
            </a:r>
            <a:endParaRPr/>
          </a:p>
        </p:txBody>
      </p:sp>
      <p:sp>
        <p:nvSpPr>
          <p:cNvPr id="131" name="Google Shape;13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h4b2142538078e9d0_26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h4b2142538078e9d0_26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MIHIR</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Final Harvey Ball matrix (workbook 5C). 18 criteria in 4 categories, 15 rows. Orange headers are criteria we added (low seller cost, easy for buyer); orange cells are scores we changed from the AI. Main point: Campus Swap covers logistics but pays sellers little and isn't at Duke; Storage Scholars is at Duke but doesn't sell. Nobody combines good seller payout with the summer hold. Relay row shows our goals, not facts. Small campus apps = DormXchange, DormShare, Smivo, GathrU.</a:t>
            </a:r>
            <a:endParaRPr/>
          </a:p>
        </p:txBody>
      </p:sp>
      <p:sp>
        <p:nvSpPr>
          <p:cNvPr id="148" name="Google Shape;148;h4b2142538078e9d0_26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h4b2142538078e9d0_26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h4b2142538078e9d0_26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MIHIR</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Harvey Ball summary (workbook 5D). Key point: the market splits into sellers-without-storage and storage-without-selling. Campus Swap is the closest model but is at UNC and pays sellers 20% to start. Biggest threats: Campus Swap, Storage Scholars, Facebook Marketplace, Duke donation bins.</a:t>
            </a:r>
            <a:endParaRPr/>
          </a:p>
        </p:txBody>
      </p:sp>
      <p:sp>
        <p:nvSpPr>
          <p:cNvPr id="173" name="Google Shape;173;h4b2142538078e9d0_26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Sam</a:t>
            </a:r>
            <a:endParaRPr b="1"/>
          </a:p>
          <a:p>
            <a:pPr indent="0" lvl="0" marL="0" rtl="0" algn="l">
              <a:spcBef>
                <a:spcPts val="0"/>
              </a:spcBef>
              <a:spcAft>
                <a:spcPts val="0"/>
              </a:spcAft>
              <a:buNone/>
            </a:pPr>
            <a:r>
              <a:rPr lang="en-US"/>
              <a:t>NARRATIVE (no AI). This is the core of your grade. Tell the story: what you discovered independently, where and why you corrected the AI, 2 to 3 strategic insights from combining your view with the AI's, what the AI missed, and the gaps and opportunities you found. You can add a line from your 6C reflection on where you agreed or disagreed with the AI and what assumptions became clearer.</a:t>
            </a:r>
            <a:endParaRPr/>
          </a:p>
        </p:txBody>
      </p:sp>
      <p:sp>
        <p:nvSpPr>
          <p:cNvPr id="194" name="Google Shape;19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h4b2142538078e9d0_6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6" name="Google Shape;216;h4b2142538078e9d0_6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h4b2142538078e9d0_6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SAM + MIHIR</a:t>
            </a:r>
            <a:endParaRPr b="1"/>
          </a:p>
          <a:p>
            <a:pPr indent="0" lvl="0" marL="0" rtl="0" algn="l">
              <a:spcBef>
                <a:spcPts val="0"/>
              </a:spcBef>
              <a:spcAft>
                <a:spcPts val="0"/>
              </a:spcAft>
              <a:buNone/>
            </a:pPr>
            <a:r>
              <a:rPr lang="en-US"/>
              <a:t>LEAN CANVAS (no AI). Paste or rebuild your existing Lean Canvas here and update it from what the competitive analysis taught you. The four orange-outlined boxes are the ones the assignment asks about: customer problems, unique value proposition, channels and differentiation, and competitive advantage. If you attach the canvas separately, replace this slide with a picture of it or a note pointing to the file.</a:t>
            </a:r>
            <a:endParaRPr/>
          </a:p>
        </p:txBody>
      </p:sp>
      <p:sp>
        <p:nvSpPr>
          <p:cNvPr id="224" name="Google Shape;22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15" name="Shape 15"/>
        <p:cNvGrpSpPr/>
        <p:nvPr/>
      </p:nvGrpSpPr>
      <p:grpSpPr>
        <a:xfrm>
          <a:off x="0" y="0"/>
          <a:ext cx="0" cy="0"/>
          <a:chOff x="0" y="0"/>
          <a:chExt cx="0" cy="0"/>
        </a:xfrm>
      </p:grpSpPr>
      <p:pic>
        <p:nvPicPr>
          <p:cNvPr descr="ellipse" id="16" name="Google Shape;16;p3"/>
          <p:cNvPicPr preferRelativeResize="0"/>
          <p:nvPr/>
        </p:nvPicPr>
        <p:blipFill rotWithShape="1">
          <a:blip r:embed="rId3">
            <a:alphaModFix/>
          </a:blip>
          <a:srcRect b="0" l="0" r="0" t="0"/>
          <a:stretch/>
        </p:blipFill>
        <p:spPr>
          <a:xfrm>
            <a:off x="7366000" y="1206500"/>
            <a:ext cx="3556000" cy="3556000"/>
          </a:xfrm>
          <a:prstGeom prst="rect">
            <a:avLst/>
          </a:prstGeom>
          <a:noFill/>
          <a:ln>
            <a:noFill/>
          </a:ln>
        </p:spPr>
      </p:pic>
      <p:pic>
        <p:nvPicPr>
          <p:cNvPr descr="ellipse" id="17" name="Google Shape;17;p3"/>
          <p:cNvPicPr preferRelativeResize="0"/>
          <p:nvPr/>
        </p:nvPicPr>
        <p:blipFill rotWithShape="1">
          <a:blip r:embed="rId4">
            <a:alphaModFix/>
          </a:blip>
          <a:srcRect b="0" l="0" r="0" t="0"/>
          <a:stretch/>
        </p:blipFill>
        <p:spPr>
          <a:xfrm>
            <a:off x="7823200" y="1663700"/>
            <a:ext cx="3556000" cy="3556000"/>
          </a:xfrm>
          <a:prstGeom prst="rect">
            <a:avLst/>
          </a:prstGeom>
          <a:noFill/>
          <a:ln>
            <a:noFill/>
          </a:ln>
        </p:spPr>
      </p:pic>
      <p:sp>
        <p:nvSpPr>
          <p:cNvPr id="18" name="Google Shape;18;p3"/>
          <p:cNvSpPr/>
          <p:nvPr/>
        </p:nvSpPr>
        <p:spPr>
          <a:xfrm>
            <a:off x="812800" y="967775"/>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0935A"/>
              </a:buClr>
              <a:buSzPts val="1200"/>
              <a:buFont typeface="DM Sans"/>
              <a:buNone/>
            </a:pPr>
            <a:r>
              <a:rPr b="1" i="0" lang="en-US" sz="1200" u="none" cap="none" strike="noStrike">
                <a:solidFill>
                  <a:srgbClr val="F0935A"/>
                </a:solidFill>
                <a:latin typeface="DM Sans"/>
                <a:ea typeface="DM Sans"/>
                <a:cs typeface="DM Sans"/>
                <a:sym typeface="DM Sans"/>
              </a:rPr>
              <a:t>COMPETITIVE LANDSCAPE ANALYSIS</a:t>
            </a:r>
            <a:endParaRPr b="0" i="0" sz="1200" u="none" cap="none" strike="noStrike">
              <a:solidFill>
                <a:schemeClr val="dk1"/>
              </a:solidFill>
              <a:latin typeface="Calibri"/>
              <a:ea typeface="Calibri"/>
              <a:cs typeface="Calibri"/>
              <a:sym typeface="Calibri"/>
            </a:endParaRPr>
          </a:p>
        </p:txBody>
      </p:sp>
      <p:sp>
        <p:nvSpPr>
          <p:cNvPr id="19" name="Google Shape;19;p3"/>
          <p:cNvSpPr/>
          <p:nvPr/>
        </p:nvSpPr>
        <p:spPr>
          <a:xfrm>
            <a:off x="812800" y="1254720"/>
            <a:ext cx="10883392" cy="129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7F2E8"/>
              </a:buClr>
              <a:buSzPts val="10000"/>
              <a:buFont typeface="Domine"/>
              <a:buNone/>
            </a:pPr>
            <a:r>
              <a:rPr b="1" i="0" lang="en-US" sz="10000" u="none" cap="none" strike="noStrike">
                <a:solidFill>
                  <a:srgbClr val="F7F2E8"/>
                </a:solidFill>
                <a:latin typeface="Domine"/>
                <a:ea typeface="Domine"/>
                <a:cs typeface="Domine"/>
                <a:sym typeface="Domine"/>
              </a:rPr>
              <a:t>Relay</a:t>
            </a:r>
            <a:endParaRPr b="0" i="0" sz="10000" u="none" cap="none" strike="noStrike">
              <a:solidFill>
                <a:schemeClr val="dk1"/>
              </a:solidFill>
              <a:latin typeface="Calibri"/>
              <a:ea typeface="Calibri"/>
              <a:cs typeface="Calibri"/>
              <a:sym typeface="Calibri"/>
            </a:endParaRPr>
          </a:p>
        </p:txBody>
      </p:sp>
      <p:sp>
        <p:nvSpPr>
          <p:cNvPr id="20" name="Google Shape;20;p3"/>
          <p:cNvSpPr/>
          <p:nvPr/>
        </p:nvSpPr>
        <p:spPr>
          <a:xfrm>
            <a:off x="812800" y="2753320"/>
            <a:ext cx="5886450" cy="6858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DEEA"/>
              </a:buClr>
              <a:buSzPts val="2000"/>
              <a:buFont typeface="DM Sans"/>
              <a:buNone/>
            </a:pPr>
            <a:r>
              <a:rPr i="1" lang="en-US" sz="2000">
                <a:solidFill>
                  <a:srgbClr val="D9DEEA"/>
                </a:solidFill>
                <a:latin typeface="DM Sans"/>
                <a:ea typeface="DM Sans"/>
                <a:cs typeface="DM Sans"/>
                <a:sym typeface="DM Sans"/>
              </a:rPr>
              <a:t>University Furniture </a:t>
            </a:r>
            <a:r>
              <a:rPr i="1" lang="en-US" sz="2000">
                <a:solidFill>
                  <a:srgbClr val="D9DEEA"/>
                </a:solidFill>
                <a:latin typeface="DM Sans"/>
                <a:ea typeface="DM Sans"/>
                <a:cs typeface="DM Sans"/>
                <a:sym typeface="DM Sans"/>
              </a:rPr>
              <a:t>Repurposing</a:t>
            </a:r>
            <a:endParaRPr b="0" i="1" sz="2000" u="none" cap="none" strike="noStrike">
              <a:solidFill>
                <a:schemeClr val="dk1"/>
              </a:solidFill>
              <a:latin typeface="Calibri"/>
              <a:ea typeface="Calibri"/>
              <a:cs typeface="Calibri"/>
              <a:sym typeface="Calibri"/>
            </a:endParaRPr>
          </a:p>
        </p:txBody>
      </p:sp>
      <p:sp>
        <p:nvSpPr>
          <p:cNvPr id="21" name="Google Shape;21;p3"/>
          <p:cNvSpPr/>
          <p:nvPr/>
        </p:nvSpPr>
        <p:spPr>
          <a:xfrm>
            <a:off x="812800" y="4851414"/>
            <a:ext cx="10883400" cy="573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FC7D9"/>
              </a:buClr>
              <a:buSzPts val="1400"/>
              <a:buFont typeface="DM Sans"/>
              <a:buNone/>
            </a:pPr>
            <a:r>
              <a:rPr lang="en-US">
                <a:solidFill>
                  <a:srgbClr val="BFC7D9"/>
                </a:solidFill>
                <a:latin typeface="DM Sans"/>
                <a:ea typeface="DM Sans"/>
                <a:cs typeface="DM Sans"/>
                <a:sym typeface="DM Sans"/>
              </a:rPr>
              <a:t>Samuel, Mihir, Kush, Shenwei</a:t>
            </a:r>
            <a:endParaRPr>
              <a:solidFill>
                <a:srgbClr val="BFC7D9"/>
              </a:solidFill>
              <a:latin typeface="DM Sans"/>
              <a:ea typeface="DM Sans"/>
              <a:cs typeface="DM Sans"/>
              <a:sym typeface="DM Sans"/>
            </a:endParaRPr>
          </a:p>
          <a:p>
            <a:pPr indent="0" lvl="0" marL="0" marR="0" rtl="0" algn="l">
              <a:lnSpc>
                <a:spcPct val="140000"/>
              </a:lnSpc>
              <a:spcBef>
                <a:spcPts val="0"/>
              </a:spcBef>
              <a:spcAft>
                <a:spcPts val="0"/>
              </a:spcAft>
              <a:buClr>
                <a:srgbClr val="BFC7D9"/>
              </a:buClr>
              <a:buSzPts val="1400"/>
              <a:buFont typeface="DM Sans"/>
              <a:buNone/>
            </a:pPr>
            <a:r>
              <a:rPr lang="en-US">
                <a:solidFill>
                  <a:srgbClr val="BFC7D9"/>
                </a:solidFill>
                <a:latin typeface="DM Sans"/>
                <a:ea typeface="DM Sans"/>
                <a:cs typeface="DM Sans"/>
                <a:sym typeface="DM Sans"/>
              </a:rPr>
              <a:t>Group 6 - MEng 570</a:t>
            </a:r>
            <a:endParaRPr>
              <a:solidFill>
                <a:srgbClr val="BFC7D9"/>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26" name="Shape 26"/>
        <p:cNvGrpSpPr/>
        <p:nvPr/>
      </p:nvGrpSpPr>
      <p:grpSpPr>
        <a:xfrm>
          <a:off x="0" y="0"/>
          <a:ext cx="0" cy="0"/>
          <a:chOff x="0" y="0"/>
          <a:chExt cx="0" cy="0"/>
        </a:xfrm>
      </p:grpSpPr>
      <p:sp>
        <p:nvSpPr>
          <p:cNvPr id="27" name="Google Shape;27;p4"/>
          <p:cNvSpPr/>
          <p:nvPr/>
        </p:nvSpPr>
        <p:spPr>
          <a:xfrm>
            <a:off x="812800" y="850900"/>
            <a:ext cx="165085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4A14"/>
              </a:buClr>
              <a:buSzPts val="1200"/>
              <a:buFont typeface="DM Sans"/>
              <a:buNone/>
            </a:pPr>
            <a:r>
              <a:rPr b="1" i="0" lang="en-US" sz="1200" u="none" cap="none" strike="noStrike">
                <a:solidFill>
                  <a:srgbClr val="B84A14"/>
                </a:solidFill>
                <a:latin typeface="DM Sans"/>
                <a:ea typeface="DM Sans"/>
                <a:cs typeface="DM Sans"/>
                <a:sym typeface="DM Sans"/>
              </a:rPr>
              <a:t>CONTEXT · PART 1</a:t>
            </a:r>
            <a:endParaRPr b="0" i="0" sz="1200" u="none" cap="none" strike="noStrike">
              <a:solidFill>
                <a:schemeClr val="dk1"/>
              </a:solidFill>
              <a:latin typeface="Calibri"/>
              <a:ea typeface="Calibri"/>
              <a:cs typeface="Calibri"/>
              <a:sym typeface="Calibri"/>
            </a:endParaRPr>
          </a:p>
        </p:txBody>
      </p:sp>
      <p:sp>
        <p:nvSpPr>
          <p:cNvPr id="28" name="Google Shape;28;p4"/>
          <p:cNvSpPr/>
          <p:nvPr/>
        </p:nvSpPr>
        <p:spPr>
          <a:xfrm>
            <a:off x="812800" y="1330920"/>
            <a:ext cx="10883392" cy="416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4213D"/>
              </a:buClr>
              <a:buSzPts val="2800"/>
              <a:buFont typeface="Domine"/>
              <a:buNone/>
            </a:pPr>
            <a:r>
              <a:rPr b="1" lang="en-US" sz="2600">
                <a:solidFill>
                  <a:srgbClr val="14213D"/>
                </a:solidFill>
                <a:latin typeface="Domine"/>
                <a:ea typeface="Domine"/>
                <a:cs typeface="Domine"/>
                <a:sym typeface="Domine"/>
              </a:rPr>
              <a:t>Selling Old Furniture is Hard </a:t>
            </a:r>
            <a:endParaRPr b="0" i="0" sz="2600" u="none" cap="none" strike="noStrike">
              <a:solidFill>
                <a:schemeClr val="dk1"/>
              </a:solidFill>
              <a:latin typeface="Calibri"/>
              <a:ea typeface="Calibri"/>
              <a:cs typeface="Calibri"/>
              <a:sym typeface="Calibri"/>
            </a:endParaRPr>
          </a:p>
        </p:txBody>
      </p:sp>
      <p:sp>
        <p:nvSpPr>
          <p:cNvPr id="29" name="Google Shape;29;p4"/>
          <p:cNvSpPr/>
          <p:nvPr/>
        </p:nvSpPr>
        <p:spPr>
          <a:xfrm>
            <a:off x="819150" y="1956991"/>
            <a:ext cx="3373934" cy="2166541"/>
          </a:xfrm>
          <a:prstGeom prst="roundRect">
            <a:avLst>
              <a:gd fmla="val 5569" name="adj"/>
            </a:avLst>
          </a:prstGeom>
          <a:solidFill>
            <a:srgbClr val="FBF8F1"/>
          </a:solidFill>
          <a:ln cap="flat" cmpd="sng" w="12700">
            <a:solidFill>
              <a:srgbClr val="CFC5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966825" y="2040216"/>
            <a:ext cx="2991300" cy="2388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B84A14"/>
              </a:buClr>
              <a:buSzPts val="1200"/>
              <a:buFont typeface="DM Sans"/>
              <a:buNone/>
            </a:pPr>
            <a:r>
              <a:rPr b="1" i="0" lang="en-US" sz="1500" u="none" cap="none" strike="noStrike">
                <a:solidFill>
                  <a:srgbClr val="B84A14"/>
                </a:solidFill>
                <a:latin typeface="DM Sans"/>
                <a:ea typeface="DM Sans"/>
                <a:cs typeface="DM Sans"/>
                <a:sym typeface="DM Sans"/>
              </a:rPr>
              <a:t>THE PROBLEM</a:t>
            </a:r>
            <a:endParaRPr b="0" i="0" sz="1500" u="none" cap="none" strike="noStrike">
              <a:solidFill>
                <a:schemeClr val="dk1"/>
              </a:solidFill>
              <a:latin typeface="Calibri"/>
              <a:ea typeface="Calibri"/>
              <a:cs typeface="Calibri"/>
              <a:sym typeface="Calibri"/>
            </a:endParaRPr>
          </a:p>
        </p:txBody>
      </p:sp>
      <p:sp>
        <p:nvSpPr>
          <p:cNvPr id="31" name="Google Shape;31;p4"/>
          <p:cNvSpPr/>
          <p:nvPr/>
        </p:nvSpPr>
        <p:spPr>
          <a:xfrm>
            <a:off x="966825" y="2342073"/>
            <a:ext cx="2991300" cy="16143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4213D"/>
              </a:buClr>
              <a:buSzPts val="1500"/>
              <a:buFont typeface="DM Sans"/>
              <a:buNone/>
            </a:pPr>
            <a:r>
              <a:rPr b="0" i="0" lang="en-US" sz="1500" u="none" cap="none" strike="noStrike">
                <a:solidFill>
                  <a:srgbClr val="14213D"/>
                </a:solidFill>
                <a:latin typeface="DM Sans"/>
                <a:ea typeface="DM Sans"/>
                <a:cs typeface="DM Sans"/>
                <a:sym typeface="DM Sans"/>
              </a:rPr>
              <a:t>Students moving out sell or toss furniture that incoming students will need three months later. </a:t>
            </a:r>
            <a:endParaRPr b="0" i="0" sz="1500" u="none" cap="none" strike="noStrike">
              <a:solidFill>
                <a:srgbClr val="14213D"/>
              </a:solidFill>
              <a:latin typeface="DM Sans"/>
              <a:ea typeface="DM Sans"/>
              <a:cs typeface="DM Sans"/>
              <a:sym typeface="DM Sans"/>
            </a:endParaRPr>
          </a:p>
          <a:p>
            <a:pPr indent="0" lvl="0" marL="0" marR="0" rtl="0" algn="ctr">
              <a:lnSpc>
                <a:spcPct val="140000"/>
              </a:lnSpc>
              <a:spcBef>
                <a:spcPts val="0"/>
              </a:spcBef>
              <a:spcAft>
                <a:spcPts val="0"/>
              </a:spcAft>
              <a:buClr>
                <a:srgbClr val="14213D"/>
              </a:buClr>
              <a:buSzPts val="1500"/>
              <a:buFont typeface="DM Sans"/>
              <a:buNone/>
            </a:pPr>
            <a:r>
              <a:rPr b="1" i="0" lang="en-US" sz="1500" u="none" cap="none" strike="noStrike">
                <a:solidFill>
                  <a:srgbClr val="14213D"/>
                </a:solidFill>
                <a:latin typeface="DM Sans"/>
                <a:ea typeface="DM Sans"/>
                <a:cs typeface="DM Sans"/>
                <a:sym typeface="DM Sans"/>
              </a:rPr>
              <a:t>The result is waste and lost income.</a:t>
            </a:r>
            <a:endParaRPr b="1" i="0" sz="1500" u="none" cap="none" strike="noStrike">
              <a:solidFill>
                <a:schemeClr val="dk1"/>
              </a:solidFill>
              <a:latin typeface="Calibri"/>
              <a:ea typeface="Calibri"/>
              <a:cs typeface="Calibri"/>
              <a:sym typeface="Calibri"/>
            </a:endParaRPr>
          </a:p>
        </p:txBody>
      </p:sp>
      <p:sp>
        <p:nvSpPr>
          <p:cNvPr id="32" name="Google Shape;32;p4"/>
          <p:cNvSpPr/>
          <p:nvPr/>
        </p:nvSpPr>
        <p:spPr>
          <a:xfrm>
            <a:off x="4408984" y="1956991"/>
            <a:ext cx="3373983" cy="2166541"/>
          </a:xfrm>
          <a:prstGeom prst="roundRect">
            <a:avLst>
              <a:gd fmla="val 5569" name="adj"/>
            </a:avLst>
          </a:prstGeom>
          <a:solidFill>
            <a:srgbClr val="FBF8F1"/>
          </a:solidFill>
          <a:ln cap="flat" cmpd="sng" w="12700">
            <a:solidFill>
              <a:srgbClr val="CFC5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4600372" y="2007791"/>
            <a:ext cx="2991300" cy="2388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B84A14"/>
              </a:buClr>
              <a:buSzPts val="1200"/>
              <a:buFont typeface="DM Sans"/>
              <a:buNone/>
            </a:pPr>
            <a:r>
              <a:rPr b="1" i="0" lang="en-US" sz="1500" u="none" cap="none" strike="noStrike">
                <a:solidFill>
                  <a:srgbClr val="B84A14"/>
                </a:solidFill>
                <a:latin typeface="DM Sans"/>
                <a:ea typeface="DM Sans"/>
                <a:cs typeface="DM Sans"/>
                <a:sym typeface="DM Sans"/>
              </a:rPr>
              <a:t>HOW IT IS SOLVED TODAY</a:t>
            </a:r>
            <a:endParaRPr b="0" i="0" sz="1500" u="none" cap="none" strike="noStrike">
              <a:solidFill>
                <a:schemeClr val="dk1"/>
              </a:solidFill>
              <a:latin typeface="Calibri"/>
              <a:ea typeface="Calibri"/>
              <a:cs typeface="Calibri"/>
              <a:sym typeface="Calibri"/>
            </a:endParaRPr>
          </a:p>
        </p:txBody>
      </p:sp>
      <p:sp>
        <p:nvSpPr>
          <p:cNvPr id="34" name="Google Shape;34;p4"/>
          <p:cNvSpPr/>
          <p:nvPr/>
        </p:nvSpPr>
        <p:spPr>
          <a:xfrm>
            <a:off x="4643925" y="2506848"/>
            <a:ext cx="2991300" cy="13146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4213D"/>
              </a:buClr>
              <a:buSzPts val="1500"/>
              <a:buFont typeface="DM Sans"/>
              <a:buNone/>
            </a:pPr>
            <a:r>
              <a:rPr b="0" i="0" lang="en-US" sz="1500" u="none" cap="none" strike="noStrike">
                <a:solidFill>
                  <a:srgbClr val="14213D"/>
                </a:solidFill>
                <a:latin typeface="DM Sans"/>
                <a:ea typeface="DM Sans"/>
                <a:cs typeface="DM Sans"/>
                <a:sym typeface="DM Sans"/>
              </a:rPr>
              <a:t>Curb, Facebook Marketplace, or friends and neighbors. </a:t>
            </a:r>
            <a:endParaRPr sz="1500">
              <a:solidFill>
                <a:srgbClr val="14213D"/>
              </a:solidFill>
              <a:latin typeface="DM Sans"/>
              <a:ea typeface="DM Sans"/>
              <a:cs typeface="DM Sans"/>
              <a:sym typeface="DM Sans"/>
            </a:endParaRPr>
          </a:p>
          <a:p>
            <a:pPr indent="0" lvl="0" marL="0" marR="0" rtl="0" algn="ctr">
              <a:lnSpc>
                <a:spcPct val="140000"/>
              </a:lnSpc>
              <a:spcBef>
                <a:spcPts val="0"/>
              </a:spcBef>
              <a:spcAft>
                <a:spcPts val="0"/>
              </a:spcAft>
              <a:buClr>
                <a:srgbClr val="14213D"/>
              </a:buClr>
              <a:buSzPts val="1500"/>
              <a:buFont typeface="DM Sans"/>
              <a:buNone/>
            </a:pPr>
            <a:r>
              <a:rPr b="1" i="0" lang="en-US" sz="1500" u="none" cap="none" strike="noStrike">
                <a:solidFill>
                  <a:srgbClr val="14213D"/>
                </a:solidFill>
                <a:latin typeface="DM Sans"/>
                <a:ea typeface="DM Sans"/>
                <a:cs typeface="DM Sans"/>
                <a:sym typeface="DM Sans"/>
              </a:rPr>
              <a:t>Slow, unreliable, and quality is uncertain.</a:t>
            </a:r>
            <a:endParaRPr b="1" i="0" sz="1500" u="none" cap="none" strike="noStrike">
              <a:solidFill>
                <a:schemeClr val="dk1"/>
              </a:solidFill>
              <a:latin typeface="Calibri"/>
              <a:ea typeface="Calibri"/>
              <a:cs typeface="Calibri"/>
              <a:sym typeface="Calibri"/>
            </a:endParaRPr>
          </a:p>
        </p:txBody>
      </p:sp>
      <p:sp>
        <p:nvSpPr>
          <p:cNvPr id="35" name="Google Shape;35;p4"/>
          <p:cNvSpPr/>
          <p:nvPr/>
        </p:nvSpPr>
        <p:spPr>
          <a:xfrm>
            <a:off x="7998867" y="1956991"/>
            <a:ext cx="3373983" cy="2166541"/>
          </a:xfrm>
          <a:prstGeom prst="roundRect">
            <a:avLst>
              <a:gd fmla="val 5569" name="adj"/>
            </a:avLst>
          </a:prstGeom>
          <a:solidFill>
            <a:srgbClr val="FBF8F1"/>
          </a:solidFill>
          <a:ln cap="flat" cmpd="sng" w="12700">
            <a:solidFill>
              <a:srgbClr val="CFC5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8233817" y="2007791"/>
            <a:ext cx="2991300" cy="2388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B84A14"/>
              </a:buClr>
              <a:buSzPts val="1200"/>
              <a:buFont typeface="DM Sans"/>
              <a:buNone/>
            </a:pPr>
            <a:r>
              <a:rPr b="1" i="0" lang="en-US" sz="1500" u="none" cap="none" strike="noStrike">
                <a:solidFill>
                  <a:srgbClr val="B84A14"/>
                </a:solidFill>
                <a:latin typeface="DM Sans"/>
                <a:ea typeface="DM Sans"/>
                <a:cs typeface="DM Sans"/>
                <a:sym typeface="DM Sans"/>
              </a:rPr>
              <a:t>JOB TO BE DONE</a:t>
            </a:r>
            <a:endParaRPr b="0" i="0" sz="1500" u="none" cap="none" strike="noStrike">
              <a:solidFill>
                <a:schemeClr val="dk1"/>
              </a:solidFill>
              <a:latin typeface="Calibri"/>
              <a:ea typeface="Calibri"/>
              <a:cs typeface="Calibri"/>
              <a:sym typeface="Calibri"/>
            </a:endParaRPr>
          </a:p>
        </p:txBody>
      </p:sp>
      <p:sp>
        <p:nvSpPr>
          <p:cNvPr id="37" name="Google Shape;37;p4"/>
          <p:cNvSpPr/>
          <p:nvPr/>
        </p:nvSpPr>
        <p:spPr>
          <a:xfrm>
            <a:off x="8233825" y="2279023"/>
            <a:ext cx="2991300" cy="12642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4213D"/>
              </a:buClr>
              <a:buSzPts val="1500"/>
              <a:buFont typeface="DM Sans"/>
              <a:buNone/>
            </a:pPr>
            <a:r>
              <a:rPr lang="en-US" sz="1500">
                <a:solidFill>
                  <a:srgbClr val="14213D"/>
                </a:solidFill>
                <a:latin typeface="DM Sans"/>
                <a:ea typeface="DM Sans"/>
                <a:cs typeface="DM Sans"/>
                <a:sym typeface="DM Sans"/>
              </a:rPr>
              <a:t>Build an online marketplace where students can immediately sell furniture and other apartment goods. And Other students can choose from a large inventory of goods to buy from in the fall</a:t>
            </a:r>
            <a:endParaRPr b="1" i="0" sz="1500" u="none" cap="none" strike="noStrike">
              <a:solidFill>
                <a:schemeClr val="dk1"/>
              </a:solidFill>
              <a:latin typeface="Calibri"/>
              <a:ea typeface="Calibri"/>
              <a:cs typeface="Calibri"/>
              <a:sym typeface="Calibri"/>
            </a:endParaRPr>
          </a:p>
        </p:txBody>
      </p:sp>
      <p:sp>
        <p:nvSpPr>
          <p:cNvPr id="38" name="Google Shape;38;p4"/>
          <p:cNvSpPr/>
          <p:nvPr/>
        </p:nvSpPr>
        <p:spPr>
          <a:xfrm>
            <a:off x="812800" y="4926677"/>
            <a:ext cx="10566300" cy="727800"/>
          </a:xfrm>
          <a:prstGeom prst="roundRect">
            <a:avLst>
              <a:gd fmla="val 14620" name="adj"/>
            </a:avLst>
          </a:prstGeom>
          <a:solidFill>
            <a:srgbClr val="1421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915900" y="5044945"/>
            <a:ext cx="10360200" cy="4878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0935A"/>
              </a:buClr>
              <a:buSzPts val="1300"/>
              <a:buFont typeface="DM Sans"/>
              <a:buNone/>
            </a:pPr>
            <a:r>
              <a:rPr lang="en-US">
                <a:solidFill>
                  <a:srgbClr val="F7F2E8"/>
                </a:solidFill>
                <a:latin typeface="DM Sans"/>
                <a:ea typeface="DM Sans"/>
                <a:cs typeface="DM Sans"/>
                <a:sym typeface="DM Sans"/>
              </a:rPr>
              <a:t>When moving out, students want to sell furniture to minimize financial loss. </a:t>
            </a:r>
            <a:r>
              <a:rPr b="1" lang="en-US">
                <a:solidFill>
                  <a:srgbClr val="F7F2E8"/>
                </a:solidFill>
                <a:latin typeface="DM Sans"/>
                <a:ea typeface="DM Sans"/>
                <a:cs typeface="DM Sans"/>
                <a:sym typeface="DM Sans"/>
              </a:rPr>
              <a:t>Relay</a:t>
            </a:r>
            <a:r>
              <a:rPr lang="en-US">
                <a:solidFill>
                  <a:srgbClr val="F7F2E8"/>
                </a:solidFill>
                <a:latin typeface="DM Sans"/>
                <a:ea typeface="DM Sans"/>
                <a:cs typeface="DM Sans"/>
                <a:sym typeface="DM Sans"/>
              </a:rPr>
              <a:t> will allow students to do this without spending too much time sorting through offers and wondering if they are interacting with a reliaable buyer/seller.</a:t>
            </a:r>
            <a:endParaRPr b="0" i="0" u="none" cap="none" strike="noStrike">
              <a:solidFill>
                <a:schemeClr val="dk1"/>
              </a:solidFill>
              <a:latin typeface="Calibri"/>
              <a:ea typeface="Calibri"/>
              <a:cs typeface="Calibri"/>
              <a:sym typeface="Calibri"/>
            </a:endParaRPr>
          </a:p>
        </p:txBody>
      </p:sp>
      <p:sp>
        <p:nvSpPr>
          <p:cNvPr id="40" name="Google Shape;40;p4"/>
          <p:cNvSpPr/>
          <p:nvPr/>
        </p:nvSpPr>
        <p:spPr>
          <a:xfrm>
            <a:off x="812800" y="6238280"/>
            <a:ext cx="71945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472"/>
              </a:buClr>
              <a:buSzPts val="1200"/>
              <a:buFont typeface="DM Sans"/>
              <a:buNone/>
            </a:pPr>
            <a:r>
              <a:rPr b="0" i="0" lang="en-US" sz="1200" u="none" cap="none" strike="noStrike">
                <a:solidFill>
                  <a:srgbClr val="5B6472"/>
                </a:solidFill>
                <a:latin typeface="DM Sans"/>
                <a:ea typeface="DM Sans"/>
                <a:cs typeface="DM Sans"/>
                <a:sym typeface="DM Sans"/>
              </a:rPr>
              <a:t>Source: Workbook Part 1 (1A + 1B)</a:t>
            </a:r>
            <a:endParaRPr b="0" i="0" sz="1200" u="none" cap="none" strike="noStrike">
              <a:solidFill>
                <a:schemeClr val="dk1"/>
              </a:solidFill>
              <a:latin typeface="Calibri"/>
              <a:ea typeface="Calibri"/>
              <a:cs typeface="Calibri"/>
              <a:sym typeface="Calibri"/>
            </a:endParaRPr>
          </a:p>
        </p:txBody>
      </p:sp>
      <p:sp>
        <p:nvSpPr>
          <p:cNvPr id="41" name="Google Shape;41;p4"/>
          <p:cNvSpPr/>
          <p:nvPr/>
        </p:nvSpPr>
        <p:spPr>
          <a:xfrm>
            <a:off x="8108950" y="6238280"/>
            <a:ext cx="327025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B6472"/>
              </a:buClr>
              <a:buSzPts val="1200"/>
              <a:buFont typeface="DM Sans"/>
              <a:buNone/>
            </a:pPr>
            <a:r>
              <a:rPr b="0" i="0" lang="en-US" sz="1200" u="none" cap="none" strike="noStrike">
                <a:solidFill>
                  <a:srgbClr val="5B6472"/>
                </a:solidFill>
                <a:latin typeface="DM Sans"/>
                <a:ea typeface="DM Sans"/>
                <a:cs typeface="DM Sans"/>
                <a:sym typeface="DM Sans"/>
              </a:rPr>
              <a:t>Relay · 02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46" name="Shape 46"/>
        <p:cNvGrpSpPr/>
        <p:nvPr/>
      </p:nvGrpSpPr>
      <p:grpSpPr>
        <a:xfrm>
          <a:off x="0" y="0"/>
          <a:ext cx="0" cy="0"/>
          <a:chOff x="0" y="0"/>
          <a:chExt cx="0" cy="0"/>
        </a:xfrm>
      </p:grpSpPr>
      <p:sp>
        <p:nvSpPr>
          <p:cNvPr id="47" name="Google Shape;47;p5"/>
          <p:cNvSpPr/>
          <p:nvPr/>
        </p:nvSpPr>
        <p:spPr>
          <a:xfrm>
            <a:off x="812800" y="850900"/>
            <a:ext cx="2156883"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4A14"/>
              </a:buClr>
              <a:buSzPts val="1200"/>
              <a:buFont typeface="DM Sans"/>
              <a:buNone/>
            </a:pPr>
            <a:r>
              <a:rPr b="1" i="0" lang="en-US" sz="1200" u="none" cap="none" strike="noStrike">
                <a:solidFill>
                  <a:srgbClr val="B84A14"/>
                </a:solidFill>
                <a:latin typeface="DM Sans"/>
                <a:ea typeface="DM Sans"/>
                <a:cs typeface="DM Sans"/>
                <a:sym typeface="DM Sans"/>
              </a:rPr>
              <a:t>SLIDE 1 · COMPETITORS</a:t>
            </a:r>
            <a:endParaRPr b="0" i="0" sz="1200" u="none" cap="none" strike="noStrike">
              <a:solidFill>
                <a:schemeClr val="dk1"/>
              </a:solidFill>
              <a:latin typeface="Calibri"/>
              <a:ea typeface="Calibri"/>
              <a:cs typeface="Calibri"/>
              <a:sym typeface="Calibri"/>
            </a:endParaRPr>
          </a:p>
        </p:txBody>
      </p:sp>
      <p:sp>
        <p:nvSpPr>
          <p:cNvPr id="48" name="Google Shape;48;p5"/>
          <p:cNvSpPr/>
          <p:nvPr/>
        </p:nvSpPr>
        <p:spPr>
          <a:xfrm>
            <a:off x="10688340" y="850900"/>
            <a:ext cx="60196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7F2E8"/>
              </a:buClr>
              <a:buSzPts val="1200"/>
              <a:buFont typeface="DM Sans"/>
              <a:buNone/>
            </a:pPr>
            <a:r>
              <a:rPr b="1" i="0" lang="en-US" sz="1200" u="none" cap="none" strike="noStrike">
                <a:solidFill>
                  <a:srgbClr val="F7F2E8"/>
                </a:solidFill>
                <a:latin typeface="DM Sans"/>
                <a:ea typeface="DM Sans"/>
                <a:cs typeface="DM Sans"/>
                <a:sym typeface="DM Sans"/>
              </a:rPr>
              <a:t>DRAT</a:t>
            </a:r>
            <a:endParaRPr b="0" i="0" sz="1200" u="none" cap="none" strike="noStrike">
              <a:solidFill>
                <a:schemeClr val="dk1"/>
              </a:solidFill>
              <a:latin typeface="Calibri"/>
              <a:ea typeface="Calibri"/>
              <a:cs typeface="Calibri"/>
              <a:sym typeface="Calibri"/>
            </a:endParaRPr>
          </a:p>
        </p:txBody>
      </p:sp>
      <p:sp>
        <p:nvSpPr>
          <p:cNvPr id="49" name="Google Shape;49;p5"/>
          <p:cNvSpPr/>
          <p:nvPr/>
        </p:nvSpPr>
        <p:spPr>
          <a:xfrm>
            <a:off x="812800" y="1330920"/>
            <a:ext cx="10883392" cy="416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4213D"/>
              </a:buClr>
              <a:buSzPts val="2800"/>
              <a:buFont typeface="Domine"/>
              <a:buNone/>
            </a:pPr>
            <a:r>
              <a:rPr b="1" lang="en-US" sz="2800">
                <a:solidFill>
                  <a:srgbClr val="14213D"/>
                </a:solidFill>
                <a:latin typeface="Domine"/>
                <a:ea typeface="Domine"/>
                <a:cs typeface="Domine"/>
                <a:sym typeface="Domine"/>
              </a:rPr>
              <a:t>H</a:t>
            </a:r>
            <a:r>
              <a:rPr b="1" i="0" lang="en-US" sz="2800" u="none" cap="none" strike="noStrike">
                <a:solidFill>
                  <a:srgbClr val="14213D"/>
                </a:solidFill>
                <a:latin typeface="Domine"/>
                <a:ea typeface="Domine"/>
                <a:cs typeface="Domine"/>
                <a:sym typeface="Domine"/>
              </a:rPr>
              <a:t>ow well each rival solves it</a:t>
            </a:r>
            <a:endParaRPr b="0" i="0" sz="2800" u="none" cap="none" strike="noStrike">
              <a:solidFill>
                <a:schemeClr val="dk1"/>
              </a:solidFill>
              <a:latin typeface="Calibri"/>
              <a:ea typeface="Calibri"/>
              <a:cs typeface="Calibri"/>
              <a:sym typeface="Calibri"/>
            </a:endParaRPr>
          </a:p>
        </p:txBody>
      </p:sp>
      <p:sp>
        <p:nvSpPr>
          <p:cNvPr id="50" name="Google Shape;50;p5"/>
          <p:cNvSpPr/>
          <p:nvPr/>
        </p:nvSpPr>
        <p:spPr>
          <a:xfrm>
            <a:off x="819150" y="1956991"/>
            <a:ext cx="6438900" cy="3878659"/>
          </a:xfrm>
          <a:prstGeom prst="roundRect">
            <a:avLst>
              <a:gd fmla="val 3111" name="adj"/>
            </a:avLst>
          </a:prstGeom>
          <a:solidFill>
            <a:srgbClr val="FBF8F1"/>
          </a:solidFill>
          <a:ln cap="flat" cmpd="sng" w="12700">
            <a:solidFill>
              <a:srgbClr val="CFC5AE"/>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1028700" y="2166541"/>
            <a:ext cx="620039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472"/>
              </a:buClr>
              <a:buSzPts val="1200"/>
              <a:buFont typeface="DM Sans"/>
              <a:buNone/>
            </a:pPr>
            <a:r>
              <a:rPr b="1" lang="en-US" sz="1200">
                <a:solidFill>
                  <a:srgbClr val="5B6472"/>
                </a:solidFill>
                <a:latin typeface="DM Sans"/>
                <a:ea typeface="DM Sans"/>
                <a:cs typeface="DM Sans"/>
                <a:sym typeface="DM Sans"/>
              </a:rPr>
              <a:t>C</a:t>
            </a:r>
            <a:r>
              <a:rPr b="1" i="0" lang="en-US" sz="1200" u="none" cap="none" strike="noStrike">
                <a:solidFill>
                  <a:srgbClr val="5B6472"/>
                </a:solidFill>
                <a:latin typeface="DM Sans"/>
                <a:ea typeface="DM Sans"/>
                <a:cs typeface="DM Sans"/>
                <a:sym typeface="DM Sans"/>
              </a:rPr>
              <a:t>OMPETITOR TABLE</a:t>
            </a:r>
            <a:endParaRPr b="0" i="0" sz="1200" u="none" cap="none" strike="noStrike">
              <a:solidFill>
                <a:schemeClr val="dk1"/>
              </a:solidFill>
              <a:latin typeface="Calibri"/>
              <a:ea typeface="Calibri"/>
              <a:cs typeface="Calibri"/>
              <a:sym typeface="Calibri"/>
            </a:endParaRPr>
          </a:p>
        </p:txBody>
      </p:sp>
      <p:graphicFrame>
        <p:nvGraphicFramePr>
          <p:cNvPr id="52" name="Google Shape;52;p5"/>
          <p:cNvGraphicFramePr/>
          <p:nvPr/>
        </p:nvGraphicFramePr>
        <p:xfrm>
          <a:off x="1028700" y="2495562"/>
          <a:ext cx="3000000" cy="3000000"/>
        </p:xfrm>
        <a:graphic>
          <a:graphicData uri="http://schemas.openxmlformats.org/drawingml/2006/table">
            <a:tbl>
              <a:tblPr>
                <a:noFill/>
                <a:tableStyleId>{58E535C3-F34D-4442-A4BF-92779D6C07B9}</a:tableStyleId>
              </a:tblPr>
              <a:tblGrid>
                <a:gridCol w="2167125"/>
                <a:gridCol w="722375"/>
                <a:gridCol w="1324350"/>
                <a:gridCol w="1805950"/>
              </a:tblGrid>
              <a:tr h="590450">
                <a:tc>
                  <a:txBody>
                    <a:bodyPr/>
                    <a:lstStyle/>
                    <a:p>
                      <a:pPr indent="0" lvl="0" marL="0" marR="0" rtl="0" algn="l">
                        <a:lnSpc>
                          <a:spcPct val="140000"/>
                        </a:lnSpc>
                        <a:spcBef>
                          <a:spcPts val="0"/>
                        </a:spcBef>
                        <a:spcAft>
                          <a:spcPts val="0"/>
                        </a:spcAft>
                        <a:buClr>
                          <a:srgbClr val="F7F2E8"/>
                        </a:buClr>
                        <a:buSzPts val="1300"/>
                        <a:buFont typeface="DM Sans"/>
                        <a:buNone/>
                      </a:pPr>
                      <a:r>
                        <a:rPr b="1" lang="en-US" sz="1300" u="none" cap="none" strike="noStrike">
                          <a:solidFill>
                            <a:srgbClr val="F7F2E8"/>
                          </a:solidFill>
                          <a:latin typeface="DM Sans"/>
                          <a:ea typeface="DM Sans"/>
                          <a:cs typeface="DM Sans"/>
                          <a:sym typeface="DM Sans"/>
                        </a:rPr>
                        <a:t>Competitor</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solidFill>
                      <a:srgbClr val="14213D"/>
                    </a:solidFill>
                  </a:tcPr>
                </a:tc>
                <a:tc>
                  <a:txBody>
                    <a:bodyPr/>
                    <a:lstStyle/>
                    <a:p>
                      <a:pPr indent="0" lvl="0" marL="0" marR="0" rtl="0" algn="l">
                        <a:lnSpc>
                          <a:spcPct val="140000"/>
                        </a:lnSpc>
                        <a:spcBef>
                          <a:spcPts val="0"/>
                        </a:spcBef>
                        <a:spcAft>
                          <a:spcPts val="0"/>
                        </a:spcAft>
                        <a:buClr>
                          <a:srgbClr val="F7F2E8"/>
                        </a:buClr>
                        <a:buSzPts val="1300"/>
                        <a:buFont typeface="DM Sans"/>
                        <a:buNone/>
                      </a:pPr>
                      <a:r>
                        <a:rPr b="1" lang="en-US" sz="1300" u="none" cap="none" strike="noStrike">
                          <a:solidFill>
                            <a:srgbClr val="F7F2E8"/>
                          </a:solidFill>
                          <a:latin typeface="DM Sans"/>
                          <a:ea typeface="DM Sans"/>
                          <a:cs typeface="DM Sans"/>
                          <a:sym typeface="DM Sans"/>
                        </a:rPr>
                        <a:t>Source</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solidFill>
                      <a:srgbClr val="14213D"/>
                    </a:solidFill>
                  </a:tcPr>
                </a:tc>
                <a:tc>
                  <a:txBody>
                    <a:bodyPr/>
                    <a:lstStyle/>
                    <a:p>
                      <a:pPr indent="0" lvl="0" marL="0" marR="0" rtl="0" algn="l">
                        <a:lnSpc>
                          <a:spcPct val="140000"/>
                        </a:lnSpc>
                        <a:spcBef>
                          <a:spcPts val="0"/>
                        </a:spcBef>
                        <a:spcAft>
                          <a:spcPts val="0"/>
                        </a:spcAft>
                        <a:buClr>
                          <a:srgbClr val="F7F2E8"/>
                        </a:buClr>
                        <a:buSzPts val="1300"/>
                        <a:buFont typeface="DM Sans"/>
                        <a:buNone/>
                      </a:pPr>
                      <a:r>
                        <a:rPr b="1" lang="en-US" sz="1300" u="none" cap="none" strike="noStrike">
                          <a:solidFill>
                            <a:srgbClr val="F7F2E8"/>
                          </a:solidFill>
                          <a:latin typeface="DM Sans"/>
                          <a:ea typeface="DM Sans"/>
                          <a:cs typeface="DM Sans"/>
                          <a:sym typeface="DM Sans"/>
                        </a:rPr>
                        <a:t>Type</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solidFill>
                      <a:srgbClr val="14213D"/>
                    </a:solidFill>
                  </a:tcPr>
                </a:tc>
                <a:tc>
                  <a:txBody>
                    <a:bodyPr/>
                    <a:lstStyle/>
                    <a:p>
                      <a:pPr indent="0" lvl="0" marL="0" marR="0" rtl="0" algn="l">
                        <a:lnSpc>
                          <a:spcPct val="140000"/>
                        </a:lnSpc>
                        <a:spcBef>
                          <a:spcPts val="0"/>
                        </a:spcBef>
                        <a:spcAft>
                          <a:spcPts val="0"/>
                        </a:spcAft>
                        <a:buClr>
                          <a:srgbClr val="F7F2E8"/>
                        </a:buClr>
                        <a:buSzPts val="1300"/>
                        <a:buFont typeface="DM Sans"/>
                        <a:buNone/>
                      </a:pPr>
                      <a:r>
                        <a:rPr b="1" lang="en-US" sz="1300" u="none" cap="none" strike="noStrike">
                          <a:solidFill>
                            <a:srgbClr val="F7F2E8"/>
                          </a:solidFill>
                          <a:latin typeface="DM Sans"/>
                          <a:ea typeface="DM Sans"/>
                          <a:cs typeface="DM Sans"/>
                          <a:sym typeface="DM Sans"/>
                        </a:rPr>
                        <a:t>Solves it?</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solidFill>
                      <a:srgbClr val="14213D"/>
                    </a:solidFill>
                  </a:tcPr>
                </a:tc>
              </a:tr>
              <a:tr h="359325">
                <a:tc>
                  <a:txBody>
                    <a:bodyPr/>
                    <a:lstStyle/>
                    <a:p>
                      <a:pPr indent="0" lvl="0" marL="0" marR="0" rtl="0" algn="l">
                        <a:lnSpc>
                          <a:spcPct val="140000"/>
                        </a:lnSpc>
                        <a:spcBef>
                          <a:spcPts val="0"/>
                        </a:spcBef>
                        <a:spcAft>
                          <a:spcPts val="0"/>
                        </a:spcAft>
                        <a:buClr>
                          <a:srgbClr val="14213D"/>
                        </a:buClr>
                        <a:buSzPts val="1300"/>
                        <a:buFont typeface="DM Sans"/>
                        <a:buNone/>
                      </a:pPr>
                      <a:r>
                        <a:rPr lang="en-US" sz="1300">
                          <a:solidFill>
                            <a:srgbClr val="14213D"/>
                          </a:solidFill>
                          <a:latin typeface="DM Sans"/>
                          <a:ea typeface="DM Sans"/>
                          <a:cs typeface="DM Sans"/>
                          <a:sym typeface="DM Sans"/>
                        </a:rPr>
                        <a:t>Facebook Marketplace, OfferUp, eBay</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DM Sans"/>
                        <a:buNone/>
                      </a:pPr>
                      <a:r>
                        <a:rPr lang="en-US" sz="1300" u="none" cap="none" strike="noStrike">
                          <a:solidFill>
                            <a:srgbClr val="14213D"/>
                          </a:solidFill>
                          <a:latin typeface="DM Sans"/>
                          <a:ea typeface="DM Sans"/>
                          <a:cs typeface="DM Sans"/>
                          <a:sym typeface="DM Sans"/>
                        </a:rPr>
                        <a:t>Me</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DM Sans"/>
                        <a:buNone/>
                      </a:pPr>
                      <a:r>
                        <a:rPr lang="en-US" sz="1300" u="none" cap="none" strike="noStrike">
                          <a:solidFill>
                            <a:srgbClr val="14213D"/>
                          </a:solidFill>
                          <a:latin typeface="DM Sans"/>
                          <a:ea typeface="DM Sans"/>
                          <a:cs typeface="DM Sans"/>
                          <a:sym typeface="DM Sans"/>
                        </a:rPr>
                        <a:t>[</a:t>
                      </a:r>
                      <a:r>
                        <a:rPr lang="en-US" sz="1300">
                          <a:solidFill>
                            <a:srgbClr val="14213D"/>
                          </a:solidFill>
                          <a:latin typeface="DM Sans"/>
                          <a:ea typeface="DM Sans"/>
                          <a:cs typeface="DM Sans"/>
                          <a:sym typeface="DM Sans"/>
                        </a:rPr>
                        <a:t>Direct</a:t>
                      </a:r>
                      <a:r>
                        <a:rPr lang="en-US" sz="1300" u="none" cap="none" strike="noStrike">
                          <a:solidFill>
                            <a:srgbClr val="14213D"/>
                          </a:solidFill>
                          <a:latin typeface="DM Sans"/>
                          <a:ea typeface="DM Sans"/>
                          <a:cs typeface="DM Sans"/>
                          <a:sym typeface="DM Sans"/>
                        </a:rPr>
                        <a:t>]</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DM Sans"/>
                        <a:buNone/>
                      </a:pPr>
                      <a:r>
                        <a:rPr lang="en-US" sz="1300" u="none" cap="none" strike="noStrike">
                          <a:solidFill>
                            <a:srgbClr val="14213D"/>
                          </a:solidFill>
                          <a:latin typeface="DM Sans"/>
                          <a:ea typeface="DM Sans"/>
                          <a:cs typeface="DM Sans"/>
                          <a:sym typeface="DM Sans"/>
                        </a:rPr>
                        <a:t>◐</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4213D"/>
                        </a:buClr>
                        <a:buSzPts val="1300"/>
                        <a:buFont typeface="DM Sans"/>
                        <a:buNone/>
                      </a:pPr>
                      <a:r>
                        <a:rPr lang="en-US" sz="1300" u="none" cap="none" strike="noStrike">
                          <a:solidFill>
                            <a:srgbClr val="14213D"/>
                          </a:solidFill>
                          <a:latin typeface="DM Sans"/>
                          <a:ea typeface="DM Sans"/>
                          <a:cs typeface="DM Sans"/>
                          <a:sym typeface="DM Sans"/>
                        </a:rPr>
                        <a:t>Dukelist</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DM Sans"/>
                        <a:buNone/>
                      </a:pPr>
                      <a:r>
                        <a:rPr lang="en-US" sz="1300" u="none" cap="none" strike="noStrike">
                          <a:solidFill>
                            <a:srgbClr val="14213D"/>
                          </a:solidFill>
                          <a:latin typeface="DM Sans"/>
                          <a:ea typeface="DM Sans"/>
                          <a:cs typeface="DM Sans"/>
                          <a:sym typeface="DM Sans"/>
                        </a:rPr>
                        <a:t>Me</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DM Sans"/>
                        <a:buNone/>
                      </a:pPr>
                      <a:r>
                        <a:rPr lang="en-US" sz="1300" u="none" cap="none" strike="noStrike">
                          <a:solidFill>
                            <a:srgbClr val="14213D"/>
                          </a:solidFill>
                          <a:latin typeface="DM Sans"/>
                          <a:ea typeface="DM Sans"/>
                          <a:cs typeface="DM Sans"/>
                          <a:sym typeface="DM Sans"/>
                        </a:rPr>
                        <a:t>[Direct]</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DM Sans"/>
                        <a:buNone/>
                      </a:pPr>
                      <a:r>
                        <a:rPr lang="en-US" sz="1300" u="none" cap="none" strike="noStrike">
                          <a:solidFill>
                            <a:srgbClr val="14213D"/>
                          </a:solidFill>
                          <a:latin typeface="DM Sans"/>
                          <a:ea typeface="DM Sans"/>
                          <a:cs typeface="DM Sans"/>
                          <a:sym typeface="DM Sans"/>
                        </a:rPr>
                        <a:t>◔ </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4213D"/>
                        </a:buClr>
                        <a:buSzPts val="1300"/>
                        <a:buFont typeface="DM Sans"/>
                        <a:buNone/>
                      </a:pPr>
                      <a:r>
                        <a:rPr lang="en-US" sz="1300" u="none" cap="none" strike="noStrike">
                          <a:solidFill>
                            <a:srgbClr val="14213D"/>
                          </a:solidFill>
                          <a:latin typeface="DM Sans"/>
                          <a:ea typeface="DM Sans"/>
                          <a:cs typeface="DM Sans"/>
                          <a:sym typeface="DM Sans"/>
                        </a:rPr>
                        <a:t>Campus Swamp</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DM Sans"/>
                        <a:buNone/>
                      </a:pPr>
                      <a:r>
                        <a:rPr lang="en-US" sz="1300" u="none" cap="none" strike="noStrike">
                          <a:solidFill>
                            <a:srgbClr val="14213D"/>
                          </a:solidFill>
                          <a:latin typeface="DM Sans"/>
                          <a:ea typeface="DM Sans"/>
                          <a:cs typeface="DM Sans"/>
                          <a:sym typeface="DM Sans"/>
                        </a:rPr>
                        <a:t>Me</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DM Sans"/>
                        <a:buNone/>
                      </a:pPr>
                      <a:r>
                        <a:rPr lang="en-US" sz="1300" u="none" cap="none" strike="noStrike">
                          <a:solidFill>
                            <a:srgbClr val="14213D"/>
                          </a:solidFill>
                          <a:latin typeface="DM Sans"/>
                          <a:ea typeface="DM Sans"/>
                          <a:cs typeface="DM Sans"/>
                          <a:sym typeface="DM Sans"/>
                        </a:rPr>
                        <a:t>[Direct]</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DM Sans"/>
                        <a:buNone/>
                      </a:pPr>
                      <a:r>
                        <a:rPr lang="en-US" sz="1300" u="none" cap="none" strike="noStrike">
                          <a:solidFill>
                            <a:srgbClr val="14213D"/>
                          </a:solidFill>
                          <a:latin typeface="DM Sans"/>
                          <a:ea typeface="DM Sans"/>
                          <a:cs typeface="DM Sans"/>
                          <a:sym typeface="DM Sans"/>
                        </a:rPr>
                        <a:t>◕ </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4213D"/>
                        </a:buClr>
                        <a:buSzPts val="1300"/>
                        <a:buFont typeface="DM Sans"/>
                        <a:buNone/>
                      </a:pPr>
                      <a:r>
                        <a:rPr lang="en-US" sz="1300" u="none" cap="none" strike="noStrike">
                          <a:solidFill>
                            <a:srgbClr val="14213D"/>
                          </a:solidFill>
                          <a:latin typeface="DM Sans"/>
                          <a:ea typeface="DM Sans"/>
                          <a:cs typeface="DM Sans"/>
                          <a:sym typeface="DM Sans"/>
                        </a:rPr>
                        <a:t>Campus Reclaimed</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DM Sans"/>
                        <a:buNone/>
                      </a:pPr>
                      <a:r>
                        <a:rPr lang="en-US" sz="1300" u="none" cap="none" strike="noStrike">
                          <a:solidFill>
                            <a:srgbClr val="14213D"/>
                          </a:solidFill>
                          <a:latin typeface="DM Sans"/>
                          <a:ea typeface="DM Sans"/>
                          <a:cs typeface="DM Sans"/>
                          <a:sym typeface="DM Sans"/>
                        </a:rPr>
                        <a:t>Me</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DM Sans"/>
                        <a:buNone/>
                      </a:pPr>
                      <a:r>
                        <a:rPr lang="en-US" sz="1300" u="none" cap="none" strike="noStrike">
                          <a:solidFill>
                            <a:srgbClr val="14213D"/>
                          </a:solidFill>
                          <a:latin typeface="DM Sans"/>
                          <a:ea typeface="DM Sans"/>
                          <a:cs typeface="DM Sans"/>
                          <a:sym typeface="DM Sans"/>
                        </a:rPr>
                        <a:t>[Direct]</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DM Sans"/>
                        <a:buNone/>
                      </a:pPr>
                      <a:r>
                        <a:rPr lang="en-US" sz="1300" u="none" cap="none" strike="noStrike">
                          <a:solidFill>
                            <a:srgbClr val="14213D"/>
                          </a:solidFill>
                          <a:latin typeface="DM Sans"/>
                          <a:ea typeface="DM Sans"/>
                          <a:cs typeface="DM Sans"/>
                          <a:sym typeface="DM Sans"/>
                        </a:rPr>
                        <a:t>◕ </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4213D"/>
                        </a:buClr>
                        <a:buSzPts val="1300"/>
                        <a:buFont typeface="DM Sans"/>
                        <a:buNone/>
                      </a:pPr>
                      <a:r>
                        <a:rPr lang="en-US" sz="1300" u="none" cap="none" strike="noStrike">
                          <a:solidFill>
                            <a:srgbClr val="14213D"/>
                          </a:solidFill>
                          <a:latin typeface="DM Sans"/>
                          <a:ea typeface="DM Sans"/>
                          <a:cs typeface="DM Sans"/>
                          <a:sym typeface="DM Sans"/>
                        </a:rPr>
                        <a:t>Storage Scholars, Collegeboxes</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DM Sans"/>
                        <a:buNone/>
                      </a:pPr>
                      <a:r>
                        <a:rPr lang="en-US" sz="1300" u="none" cap="none" strike="noStrike">
                          <a:solidFill>
                            <a:srgbClr val="14213D"/>
                          </a:solidFill>
                          <a:latin typeface="DM Sans"/>
                          <a:ea typeface="DM Sans"/>
                          <a:cs typeface="DM Sans"/>
                          <a:sym typeface="DM Sans"/>
                        </a:rPr>
                        <a:t>AI</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DM Sans"/>
                        <a:buNone/>
                      </a:pPr>
                      <a:r>
                        <a:rPr lang="en-US" sz="1300" u="none" cap="none" strike="noStrike">
                          <a:solidFill>
                            <a:srgbClr val="14213D"/>
                          </a:solidFill>
                          <a:latin typeface="DM Sans"/>
                          <a:ea typeface="DM Sans"/>
                          <a:cs typeface="DM Sans"/>
                          <a:sym typeface="DM Sans"/>
                        </a:rPr>
                        <a:t>[Indirect]</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DM Sans"/>
                        <a:buNone/>
                      </a:pPr>
                      <a:r>
                        <a:rPr lang="en-US" sz="1300" u="none" cap="none" strike="noStrike">
                          <a:solidFill>
                            <a:srgbClr val="14213D"/>
                          </a:solidFill>
                          <a:latin typeface="DM Sans"/>
                          <a:ea typeface="DM Sans"/>
                          <a:cs typeface="DM Sans"/>
                          <a:sym typeface="DM Sans"/>
                        </a:rPr>
                        <a:t>◐</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4213D"/>
                        </a:buClr>
                        <a:buSzPts val="1300"/>
                        <a:buFont typeface="DM Sans"/>
                        <a:buNone/>
                      </a:pPr>
                      <a:r>
                        <a:rPr lang="en-US" sz="1300">
                          <a:solidFill>
                            <a:srgbClr val="14213D"/>
                          </a:solidFill>
                          <a:latin typeface="DM Sans"/>
                          <a:ea typeface="DM Sans"/>
                          <a:cs typeface="DM Sans"/>
                          <a:sym typeface="DM Sans"/>
                        </a:rPr>
                        <a:t>DrameXchange, DormShare, Smivo, GathrU</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DM Sans"/>
                        <a:buNone/>
                      </a:pPr>
                      <a:r>
                        <a:rPr lang="en-US" sz="1300">
                          <a:solidFill>
                            <a:srgbClr val="14213D"/>
                          </a:solidFill>
                          <a:latin typeface="DM Sans"/>
                          <a:ea typeface="DM Sans"/>
                          <a:cs typeface="DM Sans"/>
                          <a:sym typeface="DM Sans"/>
                        </a:rPr>
                        <a:t>AI</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DM Sans"/>
                        <a:buNone/>
                      </a:pPr>
                      <a:r>
                        <a:rPr lang="en-US" sz="1300">
                          <a:solidFill>
                            <a:srgbClr val="14213D"/>
                          </a:solidFill>
                          <a:latin typeface="DM Sans"/>
                          <a:ea typeface="DM Sans"/>
                          <a:cs typeface="DM Sans"/>
                          <a:sym typeface="DM Sans"/>
                        </a:rPr>
                        <a:t>[Direct]</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DM Sans"/>
                        <a:buNone/>
                      </a:pPr>
                      <a:r>
                        <a:rPr lang="en-US" sz="1300">
                          <a:solidFill>
                            <a:srgbClr val="14213D"/>
                          </a:solidFill>
                          <a:latin typeface="DM Sans"/>
                          <a:ea typeface="DM Sans"/>
                          <a:cs typeface="DM Sans"/>
                          <a:sym typeface="DM Sans"/>
                        </a:rPr>
                        <a:t>◔</a:t>
                      </a:r>
                      <a:endParaRPr sz="1300" u="none" cap="none" strike="noStrike">
                        <a:latin typeface="DM Sans"/>
                        <a:ea typeface="DM Sans"/>
                        <a:cs typeface="DM Sans"/>
                        <a:sym typeface="DM Sans"/>
                      </a:endParaRPr>
                    </a:p>
                  </a:txBody>
                  <a:tcPr marT="57775" marB="57775" marR="57775" marL="57775">
                    <a:lnL cap="flat" cmpd="sng" w="12700">
                      <a:solidFill>
                        <a:srgbClr val="C5C4C2"/>
                      </a:solidFill>
                      <a:prstDash val="solid"/>
                      <a:round/>
                      <a:headEnd len="sm" w="sm" type="none"/>
                      <a:tailEnd len="sm" w="sm" type="none"/>
                    </a:lnL>
                    <a:lnR cap="flat" cmpd="sng" w="12700">
                      <a:solidFill>
                        <a:srgbClr val="C5C4C2"/>
                      </a:solidFill>
                      <a:prstDash val="solid"/>
                      <a:round/>
                      <a:headEnd len="sm" w="sm" type="none"/>
                      <a:tailEnd len="sm" w="sm" type="none"/>
                    </a:lnR>
                    <a:lnT cap="flat" cmpd="sng" w="12700">
                      <a:solidFill>
                        <a:srgbClr val="C5C4C2"/>
                      </a:solidFill>
                      <a:prstDash val="solid"/>
                      <a:round/>
                      <a:headEnd len="sm" w="sm" type="none"/>
                      <a:tailEnd len="sm" w="sm" type="none"/>
                    </a:lnT>
                    <a:lnB cap="flat" cmpd="sng" w="12700">
                      <a:solidFill>
                        <a:srgbClr val="C5C4C2"/>
                      </a:solidFill>
                      <a:prstDash val="solid"/>
                      <a:round/>
                      <a:headEnd len="sm" w="sm" type="none"/>
                      <a:tailEnd len="sm" w="sm" type="none"/>
                    </a:lnB>
                  </a:tcPr>
                </a:tc>
              </a:tr>
            </a:tbl>
          </a:graphicData>
        </a:graphic>
      </p:graphicFrame>
      <p:sp>
        <p:nvSpPr>
          <p:cNvPr id="53" name="Google Shape;53;p5"/>
          <p:cNvSpPr/>
          <p:nvPr/>
        </p:nvSpPr>
        <p:spPr>
          <a:xfrm>
            <a:off x="7569200" y="1950641"/>
            <a:ext cx="3810000" cy="3891300"/>
          </a:xfrm>
          <a:prstGeom prst="roundRect">
            <a:avLst>
              <a:gd fmla="val 3333" name="adj"/>
            </a:avLst>
          </a:prstGeom>
          <a:solidFill>
            <a:srgbClr val="1421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7823200" y="2204641"/>
            <a:ext cx="34011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0935A"/>
              </a:buClr>
              <a:buSzPts val="1200"/>
              <a:buFont typeface="DM Sans"/>
              <a:buNone/>
            </a:pPr>
            <a:r>
              <a:rPr b="1" lang="en-US" sz="1200">
                <a:solidFill>
                  <a:srgbClr val="F0935A"/>
                </a:solidFill>
                <a:latin typeface="DM Sans"/>
                <a:ea typeface="DM Sans"/>
                <a:cs typeface="DM Sans"/>
                <a:sym typeface="DM Sans"/>
              </a:rPr>
              <a:t>Key Findings</a:t>
            </a:r>
            <a:endParaRPr b="0" i="0" sz="1200" u="none" cap="none" strike="noStrike">
              <a:solidFill>
                <a:schemeClr val="dk1"/>
              </a:solidFill>
              <a:latin typeface="Calibri"/>
              <a:ea typeface="Calibri"/>
              <a:cs typeface="Calibri"/>
              <a:sym typeface="Calibri"/>
            </a:endParaRPr>
          </a:p>
        </p:txBody>
      </p:sp>
      <p:sp>
        <p:nvSpPr>
          <p:cNvPr id="55" name="Google Shape;55;p5"/>
          <p:cNvSpPr/>
          <p:nvPr/>
        </p:nvSpPr>
        <p:spPr>
          <a:xfrm>
            <a:off x="7823200" y="2570347"/>
            <a:ext cx="3401100" cy="2479200"/>
          </a:xfrm>
          <a:prstGeom prst="rect">
            <a:avLst/>
          </a:prstGeom>
          <a:noFill/>
          <a:ln>
            <a:noFill/>
          </a:ln>
        </p:spPr>
        <p:txBody>
          <a:bodyPr anchorCtr="0" anchor="t" bIns="0" lIns="0" spcFirstLastPara="1" rIns="0" wrap="square" tIns="0">
            <a:noAutofit/>
          </a:bodyPr>
          <a:lstStyle/>
          <a:p>
            <a:pPr indent="-311150" lvl="0" marL="457200" rtl="0" algn="l">
              <a:lnSpc>
                <a:spcPct val="145000"/>
              </a:lnSpc>
              <a:spcBef>
                <a:spcPts val="0"/>
              </a:spcBef>
              <a:spcAft>
                <a:spcPts val="0"/>
              </a:spcAft>
              <a:buClr>
                <a:srgbClr val="F7F2E8"/>
              </a:buClr>
              <a:buSzPts val="1300"/>
              <a:buFont typeface="DM Sans"/>
              <a:buChar char="•"/>
            </a:pPr>
            <a:r>
              <a:rPr lang="en-US" sz="1300">
                <a:solidFill>
                  <a:srgbClr val="F7F2E8"/>
                </a:solidFill>
                <a:latin typeface="DM Sans"/>
                <a:ea typeface="DM Sans"/>
                <a:cs typeface="DM Sans"/>
                <a:sym typeface="DM Sans"/>
              </a:rPr>
              <a:t>14 competitors: 5 found by us, 10 by AI (Facebook in both).</a:t>
            </a:r>
            <a:endParaRPr sz="1300">
              <a:solidFill>
                <a:srgbClr val="F7F2E8"/>
              </a:solidFill>
              <a:latin typeface="DM Sans"/>
              <a:ea typeface="DM Sans"/>
              <a:cs typeface="DM Sans"/>
              <a:sym typeface="DM Sans"/>
            </a:endParaRPr>
          </a:p>
          <a:p>
            <a:pPr indent="-311150" lvl="0" marL="457200" rtl="0" algn="l">
              <a:lnSpc>
                <a:spcPct val="145000"/>
              </a:lnSpc>
              <a:spcBef>
                <a:spcPts val="0"/>
              </a:spcBef>
              <a:spcAft>
                <a:spcPts val="0"/>
              </a:spcAft>
              <a:buClr>
                <a:srgbClr val="F7F2E8"/>
              </a:buClr>
              <a:buSzPts val="1300"/>
              <a:buFont typeface="DM Sans"/>
              <a:buChar char="•"/>
            </a:pPr>
            <a:r>
              <a:rPr lang="en-US" sz="1300">
                <a:solidFill>
                  <a:srgbClr val="F7F2E8"/>
                </a:solidFill>
                <a:latin typeface="DM Sans"/>
                <a:ea typeface="DM Sans"/>
                <a:cs typeface="DM Sans"/>
                <a:sym typeface="DM Sans"/>
              </a:rPr>
              <a:t>AI missed our closest rivals: Campus Swap and Campus Reclaimed buy, pick up, and resell student furniture.</a:t>
            </a:r>
            <a:endParaRPr sz="1300">
              <a:solidFill>
                <a:srgbClr val="F7F2E8"/>
              </a:solidFill>
              <a:latin typeface="DM Sans"/>
              <a:ea typeface="DM Sans"/>
              <a:cs typeface="DM Sans"/>
              <a:sym typeface="DM Sans"/>
            </a:endParaRPr>
          </a:p>
          <a:p>
            <a:pPr indent="-311150" lvl="0" marL="457200" rtl="0" algn="l">
              <a:lnSpc>
                <a:spcPct val="145000"/>
              </a:lnSpc>
              <a:spcBef>
                <a:spcPts val="0"/>
              </a:spcBef>
              <a:spcAft>
                <a:spcPts val="0"/>
              </a:spcAft>
              <a:buClr>
                <a:srgbClr val="F7F2E8"/>
              </a:buClr>
              <a:buSzPts val="1300"/>
              <a:buFont typeface="DM Sans"/>
              <a:buChar char="•"/>
            </a:pPr>
            <a:r>
              <a:rPr lang="en-US" sz="1300">
                <a:solidFill>
                  <a:srgbClr val="F7F2E8"/>
                </a:solidFill>
                <a:latin typeface="DM Sans"/>
                <a:ea typeface="DM Sans"/>
                <a:cs typeface="DM Sans"/>
                <a:sym typeface="DM Sans"/>
              </a:rPr>
              <a:t>AI overrated Storage Scholars: it only stores students' things and doesn't resell them.</a:t>
            </a:r>
            <a:endParaRPr sz="1300">
              <a:solidFill>
                <a:srgbClr val="F7F2E8"/>
              </a:solidFill>
              <a:latin typeface="DM Sans"/>
              <a:ea typeface="DM Sans"/>
              <a:cs typeface="DM Sans"/>
              <a:sym typeface="DM Sans"/>
            </a:endParaRPr>
          </a:p>
          <a:p>
            <a:pPr indent="0" lvl="0" marL="0" marR="0" rtl="0" algn="l">
              <a:lnSpc>
                <a:spcPct val="145000"/>
              </a:lnSpc>
              <a:spcBef>
                <a:spcPts val="0"/>
              </a:spcBef>
              <a:spcAft>
                <a:spcPts val="0"/>
              </a:spcAft>
              <a:buNone/>
            </a:pPr>
            <a:r>
              <a:t/>
            </a:r>
            <a:endParaRPr sz="1300">
              <a:solidFill>
                <a:srgbClr val="F7F2E8"/>
              </a:solidFill>
              <a:latin typeface="DM Sans"/>
              <a:ea typeface="DM Sans"/>
              <a:cs typeface="DM Sans"/>
              <a:sym typeface="DM Sans"/>
            </a:endParaRPr>
          </a:p>
        </p:txBody>
      </p:sp>
      <p:sp>
        <p:nvSpPr>
          <p:cNvPr id="56" name="Google Shape;56;p5"/>
          <p:cNvSpPr/>
          <p:nvPr/>
        </p:nvSpPr>
        <p:spPr>
          <a:xfrm>
            <a:off x="7823200" y="5374680"/>
            <a:ext cx="340106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FC7D9"/>
              </a:buClr>
              <a:buSzPts val="1200"/>
              <a:buFont typeface="DM Sans"/>
              <a:buNone/>
            </a:pPr>
            <a:r>
              <a:rPr b="0" i="0" lang="en-US" sz="1200" u="none" cap="none" strike="noStrike">
                <a:solidFill>
                  <a:srgbClr val="BFC7D9"/>
                </a:solidFill>
                <a:latin typeface="DM Sans"/>
                <a:ea typeface="DM Sans"/>
                <a:cs typeface="DM Sans"/>
                <a:sym typeface="DM Sans"/>
              </a:rPr>
              <a:t>Pull from: Workbook 2A + 2B</a:t>
            </a:r>
            <a:endParaRPr b="0" i="0" sz="1200" u="none" cap="none" strike="noStrike">
              <a:solidFill>
                <a:schemeClr val="dk1"/>
              </a:solidFill>
              <a:latin typeface="Calibri"/>
              <a:ea typeface="Calibri"/>
              <a:cs typeface="Calibri"/>
              <a:sym typeface="Calibri"/>
            </a:endParaRPr>
          </a:p>
        </p:txBody>
      </p:sp>
      <p:sp>
        <p:nvSpPr>
          <p:cNvPr id="57" name="Google Shape;57;p5"/>
          <p:cNvSpPr/>
          <p:nvPr/>
        </p:nvSpPr>
        <p:spPr>
          <a:xfrm>
            <a:off x="812800" y="6238280"/>
            <a:ext cx="71945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472"/>
              </a:buClr>
              <a:buSzPts val="1200"/>
              <a:buFont typeface="DM Sans"/>
              <a:buNone/>
            </a:pPr>
            <a:r>
              <a:rPr b="0" i="0" lang="en-US" sz="1200" u="none" cap="none" strike="noStrike">
                <a:solidFill>
                  <a:srgbClr val="5B6472"/>
                </a:solidFill>
                <a:latin typeface="DM Sans"/>
                <a:ea typeface="DM Sans"/>
                <a:cs typeface="DM Sans"/>
                <a:sym typeface="DM Sans"/>
              </a:rPr>
              <a:t>Source: Workbook Part 2 (2A + 2B)</a:t>
            </a:r>
            <a:endParaRPr b="0" i="0" sz="1200" u="none" cap="none" strike="noStrike">
              <a:solidFill>
                <a:schemeClr val="dk1"/>
              </a:solidFill>
              <a:latin typeface="Calibri"/>
              <a:ea typeface="Calibri"/>
              <a:cs typeface="Calibri"/>
              <a:sym typeface="Calibri"/>
            </a:endParaRPr>
          </a:p>
        </p:txBody>
      </p:sp>
      <p:sp>
        <p:nvSpPr>
          <p:cNvPr id="58" name="Google Shape;58;p5"/>
          <p:cNvSpPr/>
          <p:nvPr/>
        </p:nvSpPr>
        <p:spPr>
          <a:xfrm>
            <a:off x="8108950" y="6238280"/>
            <a:ext cx="327025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B6472"/>
              </a:buClr>
              <a:buSzPts val="1200"/>
              <a:buFont typeface="DM Sans"/>
              <a:buNone/>
            </a:pPr>
            <a:r>
              <a:rPr b="0" i="0" lang="en-US" sz="1200" u="none" cap="none" strike="noStrike">
                <a:solidFill>
                  <a:srgbClr val="5B6472"/>
                </a:solidFill>
                <a:latin typeface="DM Sans"/>
                <a:ea typeface="DM Sans"/>
                <a:cs typeface="DM Sans"/>
                <a:sym typeface="DM Sans"/>
              </a:rPr>
              <a:t>Relay · 03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5D3"/>
        </a:solidFill>
      </p:bgPr>
    </p:bg>
    <p:spTree>
      <p:nvGrpSpPr>
        <p:cNvPr id="63" name="Shape 63"/>
        <p:cNvGrpSpPr/>
        <p:nvPr/>
      </p:nvGrpSpPr>
      <p:grpSpPr>
        <a:xfrm>
          <a:off x="0" y="0"/>
          <a:ext cx="0" cy="0"/>
          <a:chOff x="0" y="0"/>
          <a:chExt cx="0" cy="0"/>
        </a:xfrm>
      </p:grpSpPr>
      <p:sp>
        <p:nvSpPr>
          <p:cNvPr id="64" name="Google Shape;64;p6"/>
          <p:cNvSpPr/>
          <p:nvPr/>
        </p:nvSpPr>
        <p:spPr>
          <a:xfrm>
            <a:off x="188225" y="945825"/>
            <a:ext cx="2769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4A14"/>
              </a:buClr>
              <a:buSzPts val="1200"/>
              <a:buFont typeface="DM Sans"/>
              <a:buNone/>
            </a:pPr>
            <a:r>
              <a:rPr b="1" i="0" lang="en-US" sz="1200" u="none" cap="none" strike="noStrike">
                <a:solidFill>
                  <a:srgbClr val="B84A14"/>
                </a:solidFill>
                <a:latin typeface="DM Sans"/>
                <a:ea typeface="DM Sans"/>
                <a:cs typeface="DM Sans"/>
                <a:sym typeface="DM Sans"/>
              </a:rPr>
              <a:t>SLIDE 2 · LEADERS QUADRANT</a:t>
            </a:r>
            <a:endParaRPr b="0" i="0" sz="1200" u="none" cap="none" strike="noStrike">
              <a:solidFill>
                <a:schemeClr val="dk1"/>
              </a:solidFill>
              <a:latin typeface="Calibri"/>
              <a:ea typeface="Calibri"/>
              <a:cs typeface="Calibri"/>
              <a:sym typeface="Calibri"/>
            </a:endParaRPr>
          </a:p>
        </p:txBody>
      </p:sp>
      <p:sp>
        <p:nvSpPr>
          <p:cNvPr id="65" name="Google Shape;65;p6"/>
          <p:cNvSpPr/>
          <p:nvPr/>
        </p:nvSpPr>
        <p:spPr>
          <a:xfrm>
            <a:off x="188225" y="1324570"/>
            <a:ext cx="10883400" cy="4164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4213D"/>
              </a:buClr>
              <a:buSzPts val="2800"/>
              <a:buFont typeface="Domine"/>
              <a:buNone/>
            </a:pPr>
            <a:r>
              <a:rPr b="1" lang="en-US" sz="2800">
                <a:solidFill>
                  <a:srgbClr val="14213D"/>
                </a:solidFill>
                <a:latin typeface="Domine"/>
                <a:ea typeface="Domine"/>
                <a:cs typeface="Domine"/>
                <a:sym typeface="Domine"/>
              </a:rPr>
              <a:t>No one bridges May to August for both sides</a:t>
            </a:r>
            <a:endParaRPr b="0" i="0" sz="2800" u="none" cap="none" strike="noStrike">
              <a:solidFill>
                <a:schemeClr val="dk1"/>
              </a:solidFill>
              <a:latin typeface="Calibri"/>
              <a:ea typeface="Calibri"/>
              <a:cs typeface="Calibri"/>
              <a:sym typeface="Calibri"/>
            </a:endParaRPr>
          </a:p>
        </p:txBody>
      </p:sp>
      <p:sp>
        <p:nvSpPr>
          <p:cNvPr id="66" name="Google Shape;66;p6"/>
          <p:cNvSpPr/>
          <p:nvPr/>
        </p:nvSpPr>
        <p:spPr>
          <a:xfrm>
            <a:off x="819150" y="1956991"/>
            <a:ext cx="6438900" cy="3878659"/>
          </a:xfrm>
          <a:prstGeom prst="roundRect">
            <a:avLst>
              <a:gd fmla="val 3111" name="adj"/>
            </a:avLst>
          </a:prstGeom>
          <a:solidFill>
            <a:srgbClr val="FBF8F1"/>
          </a:solidFill>
          <a:ln cap="flat" cmpd="sng" w="12700">
            <a:solidFill>
              <a:srgbClr val="CFC5AE"/>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1028700" y="2166541"/>
            <a:ext cx="620039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472"/>
              </a:buClr>
              <a:buSzPts val="1200"/>
              <a:buFont typeface="DM Sans"/>
              <a:buNone/>
            </a:pPr>
            <a:r>
              <a:rPr b="1" i="0" lang="en-US" sz="1200" u="none" cap="none" strike="noStrike">
                <a:solidFill>
                  <a:srgbClr val="5B6472"/>
                </a:solidFill>
                <a:latin typeface="DM Sans"/>
                <a:ea typeface="DM Sans"/>
                <a:cs typeface="DM Sans"/>
                <a:sym typeface="DM Sans"/>
              </a:rPr>
              <a:t>PLACEHOLDER · QUADRANT (SAMPLE DOTS, MOVE THEM)</a:t>
            </a:r>
            <a:endParaRPr b="0" i="0" sz="1200" u="none" cap="none" strike="noStrike">
              <a:solidFill>
                <a:schemeClr val="dk1"/>
              </a:solidFill>
              <a:latin typeface="Calibri"/>
              <a:ea typeface="Calibri"/>
              <a:cs typeface="Calibri"/>
              <a:sym typeface="Calibri"/>
            </a:endParaRPr>
          </a:p>
        </p:txBody>
      </p:sp>
      <p:sp>
        <p:nvSpPr>
          <p:cNvPr id="68" name="Google Shape;68;p6"/>
          <p:cNvSpPr/>
          <p:nvPr/>
        </p:nvSpPr>
        <p:spPr>
          <a:xfrm>
            <a:off x="1028700" y="2506861"/>
            <a:ext cx="620039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4213D"/>
              </a:buClr>
              <a:buSzPts val="1300"/>
              <a:buFont typeface="DM Sans"/>
              <a:buNone/>
            </a:pPr>
            <a:r>
              <a:rPr b="1" i="0" lang="en-US" sz="1300" u="none" cap="none" strike="noStrike">
                <a:solidFill>
                  <a:srgbClr val="14213D"/>
                </a:solidFill>
                <a:latin typeface="DM Sans"/>
                <a:ea typeface="DM Sans"/>
                <a:cs typeface="DM Sans"/>
                <a:sym typeface="DM Sans"/>
              </a:rPr>
              <a:t>Y-axis ↑</a:t>
            </a:r>
            <a:r>
              <a:rPr b="0" i="0" lang="en-US" sz="1300" u="none" cap="none" strike="noStrike">
                <a:solidFill>
                  <a:srgbClr val="14213D"/>
                </a:solidFill>
                <a:latin typeface="DM Sans"/>
                <a:ea typeface="DM Sans"/>
                <a:cs typeface="DM Sans"/>
                <a:sym typeface="DM Sans"/>
              </a:rPr>
              <a:t> [label: e.g., low effort for seller]</a:t>
            </a:r>
            <a:endParaRPr b="0" i="0" sz="1300" u="none" cap="none" strike="noStrike">
              <a:solidFill>
                <a:schemeClr val="dk1"/>
              </a:solidFill>
              <a:latin typeface="Calibri"/>
              <a:ea typeface="Calibri"/>
              <a:cs typeface="Calibri"/>
              <a:sym typeface="Calibri"/>
            </a:endParaRPr>
          </a:p>
        </p:txBody>
      </p:sp>
      <p:sp>
        <p:nvSpPr>
          <p:cNvPr id="69" name="Google Shape;69;p6"/>
          <p:cNvSpPr/>
          <p:nvPr/>
        </p:nvSpPr>
        <p:spPr>
          <a:xfrm>
            <a:off x="1028700" y="2864991"/>
            <a:ext cx="3112889" cy="2197100"/>
          </a:xfrm>
          <a:prstGeom prst="rect">
            <a:avLst/>
          </a:prstGeom>
          <a:solidFill>
            <a:srgbClr val="CFC5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6"/>
          <p:cNvSpPr/>
          <p:nvPr/>
        </p:nvSpPr>
        <p:spPr>
          <a:xfrm>
            <a:off x="1028700" y="2864991"/>
            <a:ext cx="1537395" cy="1079500"/>
          </a:xfrm>
          <a:prstGeom prst="rect">
            <a:avLst/>
          </a:prstGeom>
          <a:solidFill>
            <a:srgbClr val="EFE7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p:nvPr/>
        </p:nvSpPr>
        <p:spPr>
          <a:xfrm>
            <a:off x="2604195" y="2864991"/>
            <a:ext cx="1537395" cy="1079500"/>
          </a:xfrm>
          <a:prstGeom prst="rect">
            <a:avLst/>
          </a:prstGeom>
          <a:solidFill>
            <a:srgbClr val="F6DC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a:off x="1028700" y="3982591"/>
            <a:ext cx="1537395" cy="1079500"/>
          </a:xfrm>
          <a:prstGeom prst="rect">
            <a:avLst/>
          </a:prstGeom>
          <a:solidFill>
            <a:srgbClr val="E8DE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p:nvPr/>
        </p:nvSpPr>
        <p:spPr>
          <a:xfrm>
            <a:off x="2604195" y="3982591"/>
            <a:ext cx="1537395" cy="1079500"/>
          </a:xfrm>
          <a:prstGeom prst="rect">
            <a:avLst/>
          </a:prstGeom>
          <a:solidFill>
            <a:srgbClr val="EFE7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p:nvPr/>
        </p:nvSpPr>
        <p:spPr>
          <a:xfrm>
            <a:off x="1028700" y="5189091"/>
            <a:ext cx="620039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4213D"/>
              </a:buClr>
              <a:buSzPts val="1300"/>
              <a:buFont typeface="DM Sans"/>
              <a:buNone/>
            </a:pPr>
            <a:r>
              <a:rPr b="1" i="0" lang="en-US" sz="1300" u="none" cap="none" strike="noStrike">
                <a:solidFill>
                  <a:srgbClr val="14213D"/>
                </a:solidFill>
                <a:latin typeface="DM Sans"/>
                <a:ea typeface="DM Sans"/>
                <a:cs typeface="DM Sans"/>
                <a:sym typeface="DM Sans"/>
              </a:rPr>
              <a:t>X-axis →</a:t>
            </a:r>
            <a:r>
              <a:rPr b="0" i="0" lang="en-US" sz="1300" u="none" cap="none" strike="noStrike">
                <a:solidFill>
                  <a:srgbClr val="14213D"/>
                </a:solidFill>
                <a:latin typeface="DM Sans"/>
                <a:ea typeface="DM Sans"/>
                <a:cs typeface="DM Sans"/>
                <a:sym typeface="DM Sans"/>
              </a:rPr>
              <a:t> [label: e.g., campus fit and timing]</a:t>
            </a:r>
            <a:endParaRPr b="0" i="0" sz="1300" u="none" cap="none" strike="noStrike">
              <a:solidFill>
                <a:schemeClr val="dk1"/>
              </a:solidFill>
              <a:latin typeface="Calibri"/>
              <a:ea typeface="Calibri"/>
              <a:cs typeface="Calibri"/>
              <a:sym typeface="Calibri"/>
            </a:endParaRPr>
          </a:p>
        </p:txBody>
      </p:sp>
      <p:sp>
        <p:nvSpPr>
          <p:cNvPr id="75" name="Google Shape;75;p6"/>
          <p:cNvSpPr/>
          <p:nvPr/>
        </p:nvSpPr>
        <p:spPr>
          <a:xfrm>
            <a:off x="8913750" y="2237725"/>
            <a:ext cx="3287400" cy="3510300"/>
          </a:xfrm>
          <a:prstGeom prst="roundRect">
            <a:avLst>
              <a:gd fmla="val 3333" name="adj"/>
            </a:avLst>
          </a:prstGeom>
          <a:solidFill>
            <a:srgbClr val="1421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a:off x="8913750" y="2411502"/>
            <a:ext cx="3401100" cy="3299100"/>
          </a:xfrm>
          <a:prstGeom prst="rect">
            <a:avLst/>
          </a:prstGeom>
          <a:noFill/>
          <a:ln>
            <a:noFill/>
          </a:ln>
        </p:spPr>
        <p:txBody>
          <a:bodyPr anchorCtr="0" anchor="t" bIns="0" lIns="0" spcFirstLastPara="1" rIns="0" wrap="square" tIns="0">
            <a:noAutofit/>
          </a:bodyPr>
          <a:lstStyle/>
          <a:p>
            <a:pPr indent="-175006" lvl="0" marL="198120" marR="0" rtl="0" algn="l">
              <a:lnSpc>
                <a:spcPct val="145000"/>
              </a:lnSpc>
              <a:spcBef>
                <a:spcPts val="0"/>
              </a:spcBef>
              <a:spcAft>
                <a:spcPts val="0"/>
              </a:spcAft>
              <a:buClr>
                <a:srgbClr val="F7F2E8"/>
              </a:buClr>
              <a:buSzPts val="1500"/>
              <a:buFont typeface="DM Sans"/>
              <a:buChar char="•"/>
            </a:pPr>
            <a:r>
              <a:rPr lang="en-US" sz="1500">
                <a:solidFill>
                  <a:srgbClr val="F7F2E8"/>
                </a:solidFill>
                <a:latin typeface="DM Sans"/>
                <a:ea typeface="DM Sans"/>
                <a:cs typeface="DM Sans"/>
                <a:sym typeface="DM Sans"/>
              </a:rPr>
              <a:t>Relay serves both sellers and buyers, so we mapped the market from each side.</a:t>
            </a:r>
            <a:endParaRPr sz="1500">
              <a:solidFill>
                <a:srgbClr val="F7F2E8"/>
              </a:solidFill>
              <a:latin typeface="DM Sans"/>
              <a:ea typeface="DM Sans"/>
              <a:cs typeface="DM Sans"/>
              <a:sym typeface="DM Sans"/>
            </a:endParaRPr>
          </a:p>
          <a:p>
            <a:pPr indent="-323850" lvl="0" marL="457200" marR="0" rtl="0" algn="l">
              <a:lnSpc>
                <a:spcPct val="145000"/>
              </a:lnSpc>
              <a:spcBef>
                <a:spcPts val="0"/>
              </a:spcBef>
              <a:spcAft>
                <a:spcPts val="0"/>
              </a:spcAft>
              <a:buClr>
                <a:srgbClr val="F7F2E8"/>
              </a:buClr>
              <a:buSzPts val="1500"/>
              <a:buFont typeface="DM Sans"/>
              <a:buChar char="•"/>
            </a:pPr>
            <a:r>
              <a:rPr lang="en-US" sz="1500">
                <a:solidFill>
                  <a:srgbClr val="F7F2E8"/>
                </a:solidFill>
                <a:latin typeface="DM Sans"/>
                <a:ea typeface="DM Sans"/>
                <a:cs typeface="DM Sans"/>
                <a:sym typeface="DM Sans"/>
              </a:rPr>
              <a:t>The Seller Graph:</a:t>
            </a:r>
            <a:endParaRPr sz="1500">
              <a:solidFill>
                <a:srgbClr val="F7F2E8"/>
              </a:solidFill>
              <a:latin typeface="DM Sans"/>
              <a:ea typeface="DM Sans"/>
              <a:cs typeface="DM Sans"/>
              <a:sym typeface="DM Sans"/>
            </a:endParaRPr>
          </a:p>
          <a:p>
            <a:pPr indent="-323850" lvl="1" marL="914400" marR="0" rtl="0" algn="l">
              <a:lnSpc>
                <a:spcPct val="145000"/>
              </a:lnSpc>
              <a:spcBef>
                <a:spcPts val="0"/>
              </a:spcBef>
              <a:spcAft>
                <a:spcPts val="0"/>
              </a:spcAft>
              <a:buClr>
                <a:srgbClr val="F7F2E8"/>
              </a:buClr>
              <a:buSzPts val="1500"/>
              <a:buFont typeface="DM Sans"/>
              <a:buChar char="○"/>
            </a:pPr>
            <a:r>
              <a:rPr lang="en-US" sz="1500">
                <a:solidFill>
                  <a:srgbClr val="F7F2E8"/>
                </a:solidFill>
                <a:latin typeface="DM Sans"/>
                <a:ea typeface="DM Sans"/>
                <a:cs typeface="DM Sans"/>
                <a:sym typeface="DM Sans"/>
              </a:rPr>
              <a:t>X -&gt; “Money Back To Seller”</a:t>
            </a:r>
            <a:endParaRPr sz="1500">
              <a:solidFill>
                <a:srgbClr val="F7F2E8"/>
              </a:solidFill>
              <a:latin typeface="DM Sans"/>
              <a:ea typeface="DM Sans"/>
              <a:cs typeface="DM Sans"/>
              <a:sym typeface="DM Sans"/>
            </a:endParaRPr>
          </a:p>
          <a:p>
            <a:pPr indent="-323850" lvl="1" marL="914400" marR="0" rtl="0" algn="l">
              <a:lnSpc>
                <a:spcPct val="145000"/>
              </a:lnSpc>
              <a:spcBef>
                <a:spcPts val="0"/>
              </a:spcBef>
              <a:spcAft>
                <a:spcPts val="0"/>
              </a:spcAft>
              <a:buClr>
                <a:srgbClr val="F7F2E8"/>
              </a:buClr>
              <a:buSzPts val="1500"/>
              <a:buFont typeface="DM Sans"/>
              <a:buChar char="○"/>
            </a:pPr>
            <a:r>
              <a:rPr lang="en-US" sz="1500">
                <a:solidFill>
                  <a:srgbClr val="F7F2E8"/>
                </a:solidFill>
                <a:latin typeface="DM Sans"/>
                <a:ea typeface="DM Sans"/>
                <a:cs typeface="DM Sans"/>
                <a:sym typeface="DM Sans"/>
              </a:rPr>
              <a:t>Y-&gt; “Easy For Seller”</a:t>
            </a:r>
            <a:endParaRPr sz="1500">
              <a:solidFill>
                <a:srgbClr val="F7F2E8"/>
              </a:solidFill>
              <a:latin typeface="DM Sans"/>
              <a:ea typeface="DM Sans"/>
              <a:cs typeface="DM Sans"/>
              <a:sym typeface="DM Sans"/>
            </a:endParaRPr>
          </a:p>
          <a:p>
            <a:pPr indent="-323850" lvl="0" marL="457200" marR="0" rtl="0" algn="l">
              <a:lnSpc>
                <a:spcPct val="145000"/>
              </a:lnSpc>
              <a:spcBef>
                <a:spcPts val="0"/>
              </a:spcBef>
              <a:spcAft>
                <a:spcPts val="0"/>
              </a:spcAft>
              <a:buClr>
                <a:srgbClr val="F7F2E8"/>
              </a:buClr>
              <a:buSzPts val="1500"/>
              <a:buFont typeface="DM Sans"/>
              <a:buChar char="•"/>
            </a:pPr>
            <a:r>
              <a:rPr lang="en-US" sz="1500">
                <a:solidFill>
                  <a:srgbClr val="F7F2E8"/>
                </a:solidFill>
                <a:latin typeface="DM Sans"/>
                <a:ea typeface="DM Sans"/>
                <a:cs typeface="DM Sans"/>
                <a:sym typeface="DM Sans"/>
              </a:rPr>
              <a:t>The Buyer Graph:</a:t>
            </a:r>
            <a:endParaRPr sz="1500">
              <a:solidFill>
                <a:srgbClr val="F7F2E8"/>
              </a:solidFill>
              <a:latin typeface="DM Sans"/>
              <a:ea typeface="DM Sans"/>
              <a:cs typeface="DM Sans"/>
              <a:sym typeface="DM Sans"/>
            </a:endParaRPr>
          </a:p>
          <a:p>
            <a:pPr indent="-323850" lvl="1" marL="914400" marR="0" rtl="0" algn="l">
              <a:lnSpc>
                <a:spcPct val="145000"/>
              </a:lnSpc>
              <a:spcBef>
                <a:spcPts val="0"/>
              </a:spcBef>
              <a:spcAft>
                <a:spcPts val="0"/>
              </a:spcAft>
              <a:buClr>
                <a:srgbClr val="F7F2E8"/>
              </a:buClr>
              <a:buSzPts val="1500"/>
              <a:buFont typeface="DM Sans"/>
              <a:buChar char="○"/>
            </a:pPr>
            <a:r>
              <a:rPr lang="en-US" sz="1500">
                <a:solidFill>
                  <a:srgbClr val="F7F2E8"/>
                </a:solidFill>
                <a:latin typeface="DM Sans"/>
                <a:ea typeface="DM Sans"/>
                <a:cs typeface="DM Sans"/>
                <a:sym typeface="DM Sans"/>
              </a:rPr>
              <a:t>X -&gt; “Quality Buyer Can Get” </a:t>
            </a:r>
            <a:endParaRPr sz="1500">
              <a:solidFill>
                <a:srgbClr val="F7F2E8"/>
              </a:solidFill>
              <a:latin typeface="DM Sans"/>
              <a:ea typeface="DM Sans"/>
              <a:cs typeface="DM Sans"/>
              <a:sym typeface="DM Sans"/>
            </a:endParaRPr>
          </a:p>
          <a:p>
            <a:pPr indent="-323850" lvl="1" marL="914400" marR="0" rtl="0" algn="l">
              <a:lnSpc>
                <a:spcPct val="145000"/>
              </a:lnSpc>
              <a:spcBef>
                <a:spcPts val="0"/>
              </a:spcBef>
              <a:spcAft>
                <a:spcPts val="0"/>
              </a:spcAft>
              <a:buClr>
                <a:srgbClr val="F7F2E8"/>
              </a:buClr>
              <a:buSzPts val="1500"/>
              <a:buFont typeface="DM Sans"/>
              <a:buChar char="○"/>
            </a:pPr>
            <a:r>
              <a:rPr lang="en-US" sz="1500">
                <a:solidFill>
                  <a:srgbClr val="F7F2E8"/>
                </a:solidFill>
                <a:latin typeface="DM Sans"/>
                <a:ea typeface="DM Sans"/>
                <a:cs typeface="DM Sans"/>
                <a:sym typeface="DM Sans"/>
              </a:rPr>
              <a:t>Y -&gt; “Easy For Buyer”</a:t>
            </a:r>
            <a:endParaRPr sz="1500">
              <a:solidFill>
                <a:srgbClr val="F7F2E8"/>
              </a:solidFill>
              <a:latin typeface="DM Sans"/>
              <a:ea typeface="DM Sans"/>
              <a:cs typeface="DM Sans"/>
              <a:sym typeface="DM Sans"/>
            </a:endParaRPr>
          </a:p>
        </p:txBody>
      </p:sp>
      <p:sp>
        <p:nvSpPr>
          <p:cNvPr id="77" name="Google Shape;77;p6"/>
          <p:cNvSpPr/>
          <p:nvPr/>
        </p:nvSpPr>
        <p:spPr>
          <a:xfrm>
            <a:off x="188225" y="6244780"/>
            <a:ext cx="7194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472"/>
              </a:buClr>
              <a:buSzPts val="1200"/>
              <a:buFont typeface="DM Sans"/>
              <a:buNone/>
            </a:pPr>
            <a:r>
              <a:rPr b="0" i="0" lang="en-US" sz="1200" u="none" cap="none" strike="noStrike">
                <a:solidFill>
                  <a:srgbClr val="5B6472"/>
                </a:solidFill>
                <a:latin typeface="DM Sans"/>
                <a:ea typeface="DM Sans"/>
                <a:cs typeface="DM Sans"/>
                <a:sym typeface="DM Sans"/>
              </a:rPr>
              <a:t>Source: Workbook Part 3 (3C)</a:t>
            </a:r>
            <a:endParaRPr b="0" i="0" sz="1200" u="none" cap="none" strike="noStrike">
              <a:solidFill>
                <a:schemeClr val="dk1"/>
              </a:solidFill>
              <a:latin typeface="Calibri"/>
              <a:ea typeface="Calibri"/>
              <a:cs typeface="Calibri"/>
              <a:sym typeface="Calibri"/>
            </a:endParaRPr>
          </a:p>
        </p:txBody>
      </p:sp>
      <p:sp>
        <p:nvSpPr>
          <p:cNvPr id="78" name="Google Shape;78;p6"/>
          <p:cNvSpPr/>
          <p:nvPr/>
        </p:nvSpPr>
        <p:spPr>
          <a:xfrm>
            <a:off x="58200" y="6536850"/>
            <a:ext cx="970500" cy="2388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5B6472"/>
              </a:buClr>
              <a:buSzPts val="1200"/>
              <a:buFont typeface="DM Sans"/>
              <a:buNone/>
            </a:pPr>
            <a:r>
              <a:rPr b="0" i="0" lang="en-US" sz="1200" u="none" cap="none" strike="noStrike">
                <a:solidFill>
                  <a:srgbClr val="5B6472"/>
                </a:solidFill>
                <a:latin typeface="DM Sans"/>
                <a:ea typeface="DM Sans"/>
                <a:cs typeface="DM Sans"/>
                <a:sym typeface="DM Sans"/>
              </a:rPr>
              <a:t>Relay · 04</a:t>
            </a:r>
            <a:endParaRPr b="0" i="0" sz="1200" u="none" cap="none" strike="noStrike">
              <a:solidFill>
                <a:schemeClr val="dk1"/>
              </a:solidFill>
              <a:latin typeface="Calibri"/>
              <a:ea typeface="Calibri"/>
              <a:cs typeface="Calibri"/>
              <a:sym typeface="Calibri"/>
            </a:endParaRPr>
          </a:p>
        </p:txBody>
      </p:sp>
      <p:pic>
        <p:nvPicPr>
          <p:cNvPr id="79" name="Google Shape;79;p6" title="截屏2026-09-23 20.02.13.png"/>
          <p:cNvPicPr preferRelativeResize="0"/>
          <p:nvPr/>
        </p:nvPicPr>
        <p:blipFill>
          <a:blip r:embed="rId3">
            <a:alphaModFix/>
          </a:blip>
          <a:stretch>
            <a:fillRect/>
          </a:stretch>
        </p:blipFill>
        <p:spPr>
          <a:xfrm>
            <a:off x="188213" y="1880988"/>
            <a:ext cx="4314827" cy="4223751"/>
          </a:xfrm>
          <a:prstGeom prst="rect">
            <a:avLst/>
          </a:prstGeom>
          <a:noFill/>
          <a:ln>
            <a:noFill/>
          </a:ln>
        </p:spPr>
      </p:pic>
      <p:pic>
        <p:nvPicPr>
          <p:cNvPr id="80" name="Google Shape;80;p6" title="截屏2026-09-23 20.02.58.png"/>
          <p:cNvPicPr preferRelativeResize="0"/>
          <p:nvPr/>
        </p:nvPicPr>
        <p:blipFill>
          <a:blip r:embed="rId4">
            <a:alphaModFix/>
          </a:blip>
          <a:stretch>
            <a:fillRect/>
          </a:stretch>
        </p:blipFill>
        <p:spPr>
          <a:xfrm>
            <a:off x="4482237" y="1881137"/>
            <a:ext cx="4314823" cy="4223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85" name="Shape 85"/>
        <p:cNvGrpSpPr/>
        <p:nvPr/>
      </p:nvGrpSpPr>
      <p:grpSpPr>
        <a:xfrm>
          <a:off x="0" y="0"/>
          <a:ext cx="0" cy="0"/>
          <a:chOff x="0" y="0"/>
          <a:chExt cx="0" cy="0"/>
        </a:xfrm>
      </p:grpSpPr>
      <p:sp>
        <p:nvSpPr>
          <p:cNvPr id="86" name="Google Shape;86;p7"/>
          <p:cNvSpPr/>
          <p:nvPr/>
        </p:nvSpPr>
        <p:spPr>
          <a:xfrm>
            <a:off x="2876550" y="1511550"/>
            <a:ext cx="6438900" cy="3695100"/>
          </a:xfrm>
          <a:prstGeom prst="roundRect">
            <a:avLst>
              <a:gd fmla="val 3111" name="adj"/>
            </a:avLst>
          </a:prstGeom>
          <a:solidFill>
            <a:srgbClr val="FBF8F1"/>
          </a:solidFill>
          <a:ln cap="flat" cmpd="sng" w="12700">
            <a:solidFill>
              <a:srgbClr val="CFC5AE"/>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7"/>
          <p:cNvSpPr/>
          <p:nvPr/>
        </p:nvSpPr>
        <p:spPr>
          <a:xfrm>
            <a:off x="10688340" y="850900"/>
            <a:ext cx="60196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7F2E8"/>
              </a:buClr>
              <a:buSzPts val="1200"/>
              <a:buFont typeface="DM Sans"/>
              <a:buNone/>
            </a:pPr>
            <a:r>
              <a:rPr b="1" i="0" lang="en-US" sz="1200" u="none" cap="none" strike="noStrike">
                <a:solidFill>
                  <a:srgbClr val="F7F2E8"/>
                </a:solidFill>
                <a:latin typeface="DM Sans"/>
                <a:ea typeface="DM Sans"/>
                <a:cs typeface="DM Sans"/>
                <a:sym typeface="DM Sans"/>
              </a:rPr>
              <a:t>DAFT</a:t>
            </a:r>
            <a:endParaRPr b="0" i="0" sz="1200" u="none" cap="none" strike="noStrike">
              <a:solidFill>
                <a:schemeClr val="dk1"/>
              </a:solidFill>
              <a:latin typeface="Calibri"/>
              <a:ea typeface="Calibri"/>
              <a:cs typeface="Calibri"/>
              <a:sym typeface="Calibri"/>
            </a:endParaRPr>
          </a:p>
        </p:txBody>
      </p:sp>
      <p:sp>
        <p:nvSpPr>
          <p:cNvPr id="88" name="Google Shape;88;p7"/>
          <p:cNvSpPr/>
          <p:nvPr/>
        </p:nvSpPr>
        <p:spPr>
          <a:xfrm>
            <a:off x="654300" y="850895"/>
            <a:ext cx="10883400" cy="4164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14213D"/>
              </a:buClr>
              <a:buSzPts val="2800"/>
              <a:buFont typeface="Domine"/>
              <a:buNone/>
            </a:pPr>
            <a:r>
              <a:rPr b="1" i="0" lang="en-US" sz="2800" u="none" cap="none" strike="noStrike">
                <a:solidFill>
                  <a:srgbClr val="14213D"/>
                </a:solidFill>
                <a:latin typeface="Domine"/>
                <a:ea typeface="Domine"/>
                <a:cs typeface="Domine"/>
                <a:sym typeface="Domine"/>
              </a:rPr>
              <a:t>AI's read on the leader</a:t>
            </a:r>
            <a:endParaRPr b="0" i="0" sz="2800" u="none" cap="none" strike="noStrike">
              <a:solidFill>
                <a:schemeClr val="dk1"/>
              </a:solidFill>
              <a:latin typeface="Calibri"/>
              <a:ea typeface="Calibri"/>
              <a:cs typeface="Calibri"/>
              <a:sym typeface="Calibri"/>
            </a:endParaRPr>
          </a:p>
        </p:txBody>
      </p:sp>
      <p:sp>
        <p:nvSpPr>
          <p:cNvPr id="89" name="Google Shape;89;p7"/>
          <p:cNvSpPr/>
          <p:nvPr/>
        </p:nvSpPr>
        <p:spPr>
          <a:xfrm>
            <a:off x="3092450" y="1619767"/>
            <a:ext cx="6200400" cy="270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472"/>
              </a:buClr>
              <a:buSzPts val="1200"/>
              <a:buFont typeface="DM Sans"/>
              <a:buNone/>
            </a:pPr>
            <a:r>
              <a:rPr b="1" i="0" lang="en-US" sz="1800" u="none" cap="none" strike="noStrike">
                <a:solidFill>
                  <a:srgbClr val="5B6472"/>
                </a:solidFill>
                <a:latin typeface="DM Sans"/>
                <a:ea typeface="DM Sans"/>
                <a:cs typeface="DM Sans"/>
                <a:sym typeface="DM Sans"/>
              </a:rPr>
              <a:t>AI'S SWOT WITH CORRECTIONS</a:t>
            </a:r>
            <a:endParaRPr b="0" i="0" sz="1800" u="none" cap="none" strike="noStrike">
              <a:solidFill>
                <a:schemeClr val="dk1"/>
              </a:solidFill>
              <a:latin typeface="Calibri"/>
              <a:ea typeface="Calibri"/>
              <a:cs typeface="Calibri"/>
              <a:sym typeface="Calibri"/>
            </a:endParaRPr>
          </a:p>
        </p:txBody>
      </p:sp>
      <p:sp>
        <p:nvSpPr>
          <p:cNvPr id="90" name="Google Shape;90;p7"/>
          <p:cNvSpPr/>
          <p:nvPr/>
        </p:nvSpPr>
        <p:spPr>
          <a:xfrm>
            <a:off x="3092475" y="2159663"/>
            <a:ext cx="2946300" cy="1365900"/>
          </a:xfrm>
          <a:prstGeom prst="roundRect">
            <a:avLst>
              <a:gd fmla="val 9421" name="adj"/>
            </a:avLst>
          </a:prstGeom>
          <a:solidFill>
            <a:srgbClr val="FBF8F1"/>
          </a:solidFill>
          <a:ln cap="flat" cmpd="sng" w="12700">
            <a:solidFill>
              <a:srgbClr val="CFC5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3251225" y="2314763"/>
            <a:ext cx="2707800" cy="287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4A14"/>
              </a:buClr>
              <a:buSzPts val="1500"/>
              <a:buFont typeface="DM Sans"/>
              <a:buNone/>
            </a:pPr>
            <a:r>
              <a:rPr b="1" i="0" lang="en-US" sz="1500" u="none" cap="none" strike="noStrike">
                <a:solidFill>
                  <a:srgbClr val="B84A14"/>
                </a:solidFill>
                <a:latin typeface="DM Sans"/>
                <a:ea typeface="DM Sans"/>
                <a:cs typeface="DM Sans"/>
                <a:sym typeface="DM Sans"/>
              </a:rPr>
              <a:t>Strengths</a:t>
            </a:r>
            <a:endParaRPr b="0" i="0" sz="1500" u="none" cap="none" strike="noStrike">
              <a:solidFill>
                <a:schemeClr val="dk1"/>
              </a:solidFill>
              <a:latin typeface="Calibri"/>
              <a:ea typeface="Calibri"/>
              <a:cs typeface="Calibri"/>
              <a:sym typeface="Calibri"/>
            </a:endParaRPr>
          </a:p>
        </p:txBody>
      </p:sp>
      <p:sp>
        <p:nvSpPr>
          <p:cNvPr id="92" name="Google Shape;92;p7"/>
          <p:cNvSpPr/>
          <p:nvPr/>
        </p:nvSpPr>
        <p:spPr>
          <a:xfrm>
            <a:off x="3251225" y="2610502"/>
            <a:ext cx="2707800" cy="2808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4213D"/>
              </a:buClr>
              <a:buSzPts val="1300"/>
              <a:buFont typeface="DM Sans"/>
              <a:buNone/>
            </a:pPr>
            <a:r>
              <a:rPr lang="en-US">
                <a:solidFill>
                  <a:schemeClr val="dk1"/>
                </a:solidFill>
              </a:rPr>
              <a:t>Solves the timing problem between move-out and the next school year</a:t>
            </a:r>
            <a:endParaRPr>
              <a:solidFill>
                <a:schemeClr val="dk1"/>
              </a:solidFill>
            </a:endParaRPr>
          </a:p>
          <a:p>
            <a:pPr indent="0" lvl="0" marL="0" marR="0" rtl="0" algn="l">
              <a:lnSpc>
                <a:spcPct val="135000"/>
              </a:lnSpc>
              <a:spcBef>
                <a:spcPts val="0"/>
              </a:spcBef>
              <a:spcAft>
                <a:spcPts val="0"/>
              </a:spcAft>
              <a:buClr>
                <a:srgbClr val="14213D"/>
              </a:buClr>
              <a:buSzPts val="1300"/>
              <a:buFont typeface="DM Sans"/>
              <a:buNone/>
            </a:pPr>
            <a:r>
              <a:t/>
            </a:r>
            <a:endParaRPr>
              <a:solidFill>
                <a:schemeClr val="dk1"/>
              </a:solidFill>
            </a:endParaRPr>
          </a:p>
        </p:txBody>
      </p:sp>
      <p:sp>
        <p:nvSpPr>
          <p:cNvPr id="93" name="Google Shape;93;p7"/>
          <p:cNvSpPr/>
          <p:nvPr/>
        </p:nvSpPr>
        <p:spPr>
          <a:xfrm>
            <a:off x="6153225" y="2159664"/>
            <a:ext cx="2946300" cy="1365900"/>
          </a:xfrm>
          <a:prstGeom prst="roundRect">
            <a:avLst>
              <a:gd fmla="val 9421" name="adj"/>
            </a:avLst>
          </a:prstGeom>
          <a:solidFill>
            <a:srgbClr val="FBF8F1"/>
          </a:solidFill>
          <a:ln cap="flat" cmpd="sng" w="12700">
            <a:solidFill>
              <a:srgbClr val="CFC5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7"/>
          <p:cNvSpPr/>
          <p:nvPr/>
        </p:nvSpPr>
        <p:spPr>
          <a:xfrm>
            <a:off x="6272413" y="2314763"/>
            <a:ext cx="2707800" cy="287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4A14"/>
              </a:buClr>
              <a:buSzPts val="1500"/>
              <a:buFont typeface="DM Sans"/>
              <a:buNone/>
            </a:pPr>
            <a:r>
              <a:rPr b="1" i="0" lang="en-US" sz="1500" u="none" cap="none" strike="noStrike">
                <a:solidFill>
                  <a:srgbClr val="B84A14"/>
                </a:solidFill>
                <a:latin typeface="DM Sans"/>
                <a:ea typeface="DM Sans"/>
                <a:cs typeface="DM Sans"/>
                <a:sym typeface="DM Sans"/>
              </a:rPr>
              <a:t>Weaknesses</a:t>
            </a:r>
            <a:endParaRPr b="0" i="0" sz="1500" u="none" cap="none" strike="noStrike">
              <a:solidFill>
                <a:schemeClr val="dk1"/>
              </a:solidFill>
              <a:latin typeface="Calibri"/>
              <a:ea typeface="Calibri"/>
              <a:cs typeface="Calibri"/>
              <a:sym typeface="Calibri"/>
            </a:endParaRPr>
          </a:p>
        </p:txBody>
      </p:sp>
      <p:sp>
        <p:nvSpPr>
          <p:cNvPr id="95" name="Google Shape;95;p7"/>
          <p:cNvSpPr/>
          <p:nvPr/>
        </p:nvSpPr>
        <p:spPr>
          <a:xfrm>
            <a:off x="6252200" y="2575566"/>
            <a:ext cx="2827200" cy="6255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4213D"/>
              </a:buClr>
              <a:buSzPts val="1300"/>
              <a:buFont typeface="DM Sans"/>
              <a:buNone/>
            </a:pPr>
            <a:r>
              <a:rPr lang="en-US">
                <a:solidFill>
                  <a:schemeClr val="dk1"/>
                </a:solidFill>
              </a:rPr>
              <a:t>Students must pay storage fees even if they ultimately want to get rid of their furniture</a:t>
            </a:r>
            <a:endParaRPr b="0" i="0" u="none" cap="none" strike="noStrike">
              <a:solidFill>
                <a:schemeClr val="dk1"/>
              </a:solidFill>
              <a:latin typeface="Calibri"/>
              <a:ea typeface="Calibri"/>
              <a:cs typeface="Calibri"/>
              <a:sym typeface="Calibri"/>
            </a:endParaRPr>
          </a:p>
        </p:txBody>
      </p:sp>
      <p:sp>
        <p:nvSpPr>
          <p:cNvPr id="96" name="Google Shape;96;p7"/>
          <p:cNvSpPr/>
          <p:nvPr/>
        </p:nvSpPr>
        <p:spPr>
          <a:xfrm>
            <a:off x="3092475" y="3751736"/>
            <a:ext cx="2946300" cy="1294800"/>
          </a:xfrm>
          <a:prstGeom prst="roundRect">
            <a:avLst>
              <a:gd fmla="val 9421" name="adj"/>
            </a:avLst>
          </a:prstGeom>
          <a:solidFill>
            <a:srgbClr val="FBF8F1"/>
          </a:solidFill>
          <a:ln cap="flat" cmpd="sng" w="12700">
            <a:solidFill>
              <a:srgbClr val="CFC5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7"/>
          <p:cNvSpPr/>
          <p:nvPr/>
        </p:nvSpPr>
        <p:spPr>
          <a:xfrm>
            <a:off x="3251238" y="3841253"/>
            <a:ext cx="2707800" cy="287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4A14"/>
              </a:buClr>
              <a:buSzPts val="1500"/>
              <a:buFont typeface="DM Sans"/>
              <a:buNone/>
            </a:pPr>
            <a:r>
              <a:rPr b="1" i="0" lang="en-US" sz="1500" u="none" cap="none" strike="noStrike">
                <a:solidFill>
                  <a:srgbClr val="B84A14"/>
                </a:solidFill>
                <a:latin typeface="DM Sans"/>
                <a:ea typeface="DM Sans"/>
                <a:cs typeface="DM Sans"/>
                <a:sym typeface="DM Sans"/>
              </a:rPr>
              <a:t>Opportunities</a:t>
            </a:r>
            <a:endParaRPr b="0" i="0" sz="1500" u="none" cap="none" strike="noStrike">
              <a:solidFill>
                <a:schemeClr val="dk1"/>
              </a:solidFill>
              <a:latin typeface="Calibri"/>
              <a:ea typeface="Calibri"/>
              <a:cs typeface="Calibri"/>
              <a:sym typeface="Calibri"/>
            </a:endParaRPr>
          </a:p>
        </p:txBody>
      </p:sp>
      <p:sp>
        <p:nvSpPr>
          <p:cNvPr id="98" name="Google Shape;98;p7"/>
          <p:cNvSpPr/>
          <p:nvPr/>
        </p:nvSpPr>
        <p:spPr>
          <a:xfrm>
            <a:off x="3251213" y="4194189"/>
            <a:ext cx="2707800" cy="2808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4213D"/>
              </a:buClr>
              <a:buSzPts val="1300"/>
              <a:buFont typeface="DM Sans"/>
              <a:buNone/>
            </a:pPr>
            <a:r>
              <a:rPr lang="en-US">
                <a:solidFill>
                  <a:schemeClr val="dk1"/>
                </a:solidFill>
              </a:rPr>
              <a:t>Relay can partner with Storage Scholars’ storage facilities</a:t>
            </a:r>
            <a:endParaRPr b="0" i="0" u="none" cap="none" strike="noStrike">
              <a:solidFill>
                <a:schemeClr val="dk1"/>
              </a:solidFill>
              <a:latin typeface="Calibri"/>
              <a:ea typeface="Calibri"/>
              <a:cs typeface="Calibri"/>
              <a:sym typeface="Calibri"/>
            </a:endParaRPr>
          </a:p>
        </p:txBody>
      </p:sp>
      <p:sp>
        <p:nvSpPr>
          <p:cNvPr id="99" name="Google Shape;99;p7"/>
          <p:cNvSpPr/>
          <p:nvPr/>
        </p:nvSpPr>
        <p:spPr>
          <a:xfrm>
            <a:off x="6153175" y="3680351"/>
            <a:ext cx="2946300" cy="1365900"/>
          </a:xfrm>
          <a:prstGeom prst="roundRect">
            <a:avLst>
              <a:gd fmla="val 9421" name="adj"/>
            </a:avLst>
          </a:prstGeom>
          <a:solidFill>
            <a:srgbClr val="FBF8F1"/>
          </a:solidFill>
          <a:ln cap="flat" cmpd="sng" w="12700">
            <a:solidFill>
              <a:srgbClr val="CFC5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7"/>
          <p:cNvSpPr/>
          <p:nvPr/>
        </p:nvSpPr>
        <p:spPr>
          <a:xfrm>
            <a:off x="6311925" y="3841310"/>
            <a:ext cx="2707800" cy="287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4A14"/>
              </a:buClr>
              <a:buSzPts val="1500"/>
              <a:buFont typeface="DM Sans"/>
              <a:buNone/>
            </a:pPr>
            <a:r>
              <a:rPr b="1" i="0" lang="en-US" sz="1500" u="none" cap="none" strike="noStrike">
                <a:solidFill>
                  <a:srgbClr val="B84A14"/>
                </a:solidFill>
                <a:latin typeface="DM Sans"/>
                <a:ea typeface="DM Sans"/>
                <a:cs typeface="DM Sans"/>
                <a:sym typeface="DM Sans"/>
              </a:rPr>
              <a:t>Threats</a:t>
            </a:r>
            <a:endParaRPr b="0" i="0" sz="1500" u="none" cap="none" strike="noStrike">
              <a:solidFill>
                <a:schemeClr val="dk1"/>
              </a:solidFill>
              <a:latin typeface="Calibri"/>
              <a:ea typeface="Calibri"/>
              <a:cs typeface="Calibri"/>
              <a:sym typeface="Calibri"/>
            </a:endParaRPr>
          </a:p>
        </p:txBody>
      </p:sp>
      <p:sp>
        <p:nvSpPr>
          <p:cNvPr id="101" name="Google Shape;101;p7"/>
          <p:cNvSpPr/>
          <p:nvPr/>
        </p:nvSpPr>
        <p:spPr>
          <a:xfrm>
            <a:off x="6311913" y="4194175"/>
            <a:ext cx="2707800" cy="280800"/>
          </a:xfrm>
          <a:prstGeom prst="rect">
            <a:avLst/>
          </a:prstGeom>
          <a:noFill/>
          <a:ln>
            <a:noFill/>
          </a:ln>
        </p:spPr>
        <p:txBody>
          <a:bodyPr anchorCtr="0" anchor="t" bIns="0" lIns="0" spcFirstLastPara="1" rIns="0" wrap="square" tIns="0">
            <a:noAutofit/>
          </a:bodyPr>
          <a:lstStyle/>
          <a:p>
            <a:pPr indent="0" lvl="0" marL="0" rtl="0" algn="l">
              <a:spcBef>
                <a:spcPts val="1200"/>
              </a:spcBef>
              <a:spcAft>
                <a:spcPts val="1200"/>
              </a:spcAft>
              <a:buClr>
                <a:schemeClr val="dk1"/>
              </a:buClr>
              <a:buSzPts val="1100"/>
              <a:buFont typeface="Arial"/>
              <a:buNone/>
            </a:pPr>
            <a:r>
              <a:rPr lang="en-US">
                <a:solidFill>
                  <a:schemeClr val="dk1"/>
                </a:solidFill>
              </a:rPr>
              <a:t>Relay needs enough sellers and buyers at the same university </a:t>
            </a:r>
            <a:endParaRPr b="0" i="0" u="none" cap="none" strike="noStrike">
              <a:solidFill>
                <a:schemeClr val="dk1"/>
              </a:solidFill>
              <a:latin typeface="Calibri"/>
              <a:ea typeface="Calibri"/>
              <a:cs typeface="Calibri"/>
              <a:sym typeface="Calibri"/>
            </a:endParaRPr>
          </a:p>
        </p:txBody>
      </p:sp>
      <p:sp>
        <p:nvSpPr>
          <p:cNvPr id="102" name="Google Shape;102;p7"/>
          <p:cNvSpPr/>
          <p:nvPr/>
        </p:nvSpPr>
        <p:spPr>
          <a:xfrm>
            <a:off x="812800" y="6206948"/>
            <a:ext cx="2174700" cy="287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472"/>
              </a:buClr>
              <a:buSzPts val="1200"/>
              <a:buFont typeface="DM Sans"/>
              <a:buNone/>
            </a:pPr>
            <a:r>
              <a:rPr b="0" i="0" lang="en-US" sz="1200" u="none" cap="none" strike="noStrike">
                <a:solidFill>
                  <a:srgbClr val="5B6472"/>
                </a:solidFill>
                <a:latin typeface="DM Sans"/>
                <a:ea typeface="DM Sans"/>
                <a:cs typeface="DM Sans"/>
                <a:sym typeface="DM Sans"/>
              </a:rPr>
              <a:t>Source: Workbook Part 4 (4A)</a:t>
            </a:r>
            <a:endParaRPr b="0" i="0" sz="1200" u="none" cap="none" strike="noStrike">
              <a:solidFill>
                <a:schemeClr val="dk1"/>
              </a:solidFill>
              <a:latin typeface="Calibri"/>
              <a:ea typeface="Calibri"/>
              <a:cs typeface="Calibri"/>
              <a:sym typeface="Calibri"/>
            </a:endParaRPr>
          </a:p>
        </p:txBody>
      </p:sp>
      <p:sp>
        <p:nvSpPr>
          <p:cNvPr id="103" name="Google Shape;103;p7"/>
          <p:cNvSpPr/>
          <p:nvPr/>
        </p:nvSpPr>
        <p:spPr>
          <a:xfrm>
            <a:off x="10329000" y="6206948"/>
            <a:ext cx="1134300" cy="2874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B6472"/>
              </a:buClr>
              <a:buSzPts val="1200"/>
              <a:buFont typeface="DM Sans"/>
              <a:buNone/>
            </a:pPr>
            <a:r>
              <a:rPr b="0" i="0" lang="en-US" sz="1200" u="none" cap="none" strike="noStrike">
                <a:solidFill>
                  <a:srgbClr val="5B6472"/>
                </a:solidFill>
                <a:latin typeface="DM Sans"/>
                <a:ea typeface="DM Sans"/>
                <a:cs typeface="DM Sans"/>
                <a:sym typeface="DM Sans"/>
              </a:rPr>
              <a:t>Relay · 05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5D3"/>
        </a:solidFill>
      </p:bgPr>
    </p:bg>
    <p:spTree>
      <p:nvGrpSpPr>
        <p:cNvPr id="108" name="Shape 108"/>
        <p:cNvGrpSpPr/>
        <p:nvPr/>
      </p:nvGrpSpPr>
      <p:grpSpPr>
        <a:xfrm>
          <a:off x="0" y="0"/>
          <a:ext cx="0" cy="0"/>
          <a:chOff x="0" y="0"/>
          <a:chExt cx="0" cy="0"/>
        </a:xfrm>
      </p:grpSpPr>
      <p:sp>
        <p:nvSpPr>
          <p:cNvPr id="109" name="Google Shape;109;p8"/>
          <p:cNvSpPr/>
          <p:nvPr/>
        </p:nvSpPr>
        <p:spPr>
          <a:xfrm>
            <a:off x="10688340" y="850900"/>
            <a:ext cx="60196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7F2E8"/>
              </a:buClr>
              <a:buSzPts val="1200"/>
              <a:buFont typeface="DM Sans"/>
              <a:buNone/>
            </a:pPr>
            <a:r>
              <a:rPr b="1" i="0" lang="en-US" sz="1200" u="none" cap="none" strike="noStrike">
                <a:solidFill>
                  <a:srgbClr val="F7F2E8"/>
                </a:solidFill>
                <a:latin typeface="DM Sans"/>
                <a:ea typeface="DM Sans"/>
                <a:cs typeface="DM Sans"/>
                <a:sym typeface="DM Sans"/>
              </a:rPr>
              <a:t>DRAFT</a:t>
            </a:r>
            <a:endParaRPr b="0" i="0" sz="1200" u="none" cap="none" strike="noStrike">
              <a:solidFill>
                <a:schemeClr val="dk1"/>
              </a:solidFill>
              <a:latin typeface="Calibri"/>
              <a:ea typeface="Calibri"/>
              <a:cs typeface="Calibri"/>
              <a:sym typeface="Calibri"/>
            </a:endParaRPr>
          </a:p>
        </p:txBody>
      </p:sp>
      <p:sp>
        <p:nvSpPr>
          <p:cNvPr id="110" name="Google Shape;110;p8"/>
          <p:cNvSpPr/>
          <p:nvPr/>
        </p:nvSpPr>
        <p:spPr>
          <a:xfrm>
            <a:off x="327050" y="262520"/>
            <a:ext cx="10883400" cy="4164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14213D"/>
              </a:buClr>
              <a:buSzPts val="2800"/>
              <a:buFont typeface="Domine"/>
              <a:buNone/>
            </a:pPr>
            <a:r>
              <a:rPr b="1" lang="en-US" sz="2800">
                <a:solidFill>
                  <a:srgbClr val="14213D"/>
                </a:solidFill>
                <a:latin typeface="Domine"/>
                <a:ea typeface="Domine"/>
                <a:cs typeface="Domine"/>
                <a:sym typeface="Domine"/>
              </a:rPr>
              <a:t>Human Made</a:t>
            </a:r>
            <a:r>
              <a:rPr b="1" i="0" lang="en-US" sz="2800" u="none" cap="none" strike="noStrike">
                <a:solidFill>
                  <a:srgbClr val="14213D"/>
                </a:solidFill>
                <a:latin typeface="Domine"/>
                <a:ea typeface="Domine"/>
                <a:cs typeface="Domine"/>
                <a:sym typeface="Domine"/>
              </a:rPr>
              <a:t> </a:t>
            </a:r>
            <a:r>
              <a:rPr b="1" lang="en-US" sz="2800">
                <a:solidFill>
                  <a:srgbClr val="14213D"/>
                </a:solidFill>
                <a:latin typeface="Domine"/>
                <a:ea typeface="Domine"/>
                <a:cs typeface="Domine"/>
                <a:sym typeface="Domine"/>
              </a:rPr>
              <a:t>SWOT</a:t>
            </a:r>
            <a:endParaRPr b="0" i="0" sz="2800" u="none" cap="none" strike="noStrike">
              <a:solidFill>
                <a:schemeClr val="dk1"/>
              </a:solidFill>
              <a:latin typeface="Calibri"/>
              <a:ea typeface="Calibri"/>
              <a:cs typeface="Calibri"/>
              <a:sym typeface="Calibri"/>
            </a:endParaRPr>
          </a:p>
        </p:txBody>
      </p:sp>
      <p:sp>
        <p:nvSpPr>
          <p:cNvPr id="111" name="Google Shape;111;p8"/>
          <p:cNvSpPr/>
          <p:nvPr/>
        </p:nvSpPr>
        <p:spPr>
          <a:xfrm>
            <a:off x="1812056" y="1302725"/>
            <a:ext cx="7913400" cy="4767000"/>
          </a:xfrm>
          <a:prstGeom prst="roundRect">
            <a:avLst>
              <a:gd fmla="val 3111" name="adj"/>
            </a:avLst>
          </a:prstGeom>
          <a:solidFill>
            <a:srgbClr val="FBF8F1"/>
          </a:solidFill>
          <a:ln cap="flat" cmpd="sng" w="15600">
            <a:solidFill>
              <a:srgbClr val="CFC5AE"/>
            </a:solidFill>
            <a:prstDash val="dash"/>
            <a:round/>
            <a:headEnd len="sm" w="sm" type="none"/>
            <a:tailEnd len="sm" w="sm" type="none"/>
          </a:ln>
        </p:spPr>
        <p:txBody>
          <a:bodyPr anchorCtr="0" anchor="ctr" bIns="112350" lIns="112350" spcFirstLastPara="1" rIns="112350" wrap="square" tIns="112350">
            <a:noAutofit/>
          </a:bodyPr>
          <a:lstStyle/>
          <a:p>
            <a:pPr indent="0" lvl="0" marL="0" rtl="0" algn="l">
              <a:spcBef>
                <a:spcPts val="0"/>
              </a:spcBef>
              <a:spcAft>
                <a:spcPts val="0"/>
              </a:spcAft>
              <a:buNone/>
            </a:pPr>
            <a:r>
              <a:t/>
            </a:r>
            <a:endParaRPr sz="1721"/>
          </a:p>
        </p:txBody>
      </p:sp>
      <p:sp>
        <p:nvSpPr>
          <p:cNvPr id="112" name="Google Shape;112;p8"/>
          <p:cNvSpPr/>
          <p:nvPr/>
        </p:nvSpPr>
        <p:spPr>
          <a:xfrm>
            <a:off x="2069591" y="1492460"/>
            <a:ext cx="7620300" cy="293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472"/>
              </a:buClr>
              <a:buSzPts val="1475"/>
              <a:buFont typeface="DM Sans"/>
              <a:buNone/>
            </a:pPr>
            <a:r>
              <a:rPr b="1" i="0" lang="en-US" sz="1975" u="none" cap="none" strike="noStrike">
                <a:solidFill>
                  <a:srgbClr val="5B6472"/>
                </a:solidFill>
                <a:latin typeface="DM Sans"/>
                <a:ea typeface="DM Sans"/>
                <a:cs typeface="DM Sans"/>
                <a:sym typeface="DM Sans"/>
              </a:rPr>
              <a:t> </a:t>
            </a:r>
            <a:r>
              <a:rPr b="1" lang="en-US" sz="1975">
                <a:solidFill>
                  <a:srgbClr val="5B6472"/>
                </a:solidFill>
                <a:latin typeface="DM Sans"/>
                <a:ea typeface="DM Sans"/>
                <a:cs typeface="DM Sans"/>
                <a:sym typeface="DM Sans"/>
              </a:rPr>
              <a:t>Storage Scholars</a:t>
            </a:r>
            <a:r>
              <a:rPr b="1" i="0" lang="en-US" sz="1975" u="none" cap="none" strike="noStrike">
                <a:solidFill>
                  <a:srgbClr val="5B6472"/>
                </a:solidFill>
                <a:latin typeface="DM Sans"/>
                <a:ea typeface="DM Sans"/>
                <a:cs typeface="DM Sans"/>
                <a:sym typeface="DM Sans"/>
              </a:rPr>
              <a:t> VS. RELAY</a:t>
            </a:r>
            <a:endParaRPr b="0" i="0" sz="1975" u="none" cap="none" strike="noStrike">
              <a:solidFill>
                <a:schemeClr val="dk1"/>
              </a:solidFill>
              <a:latin typeface="Calibri"/>
              <a:ea typeface="Calibri"/>
              <a:cs typeface="Calibri"/>
              <a:sym typeface="Calibri"/>
            </a:endParaRPr>
          </a:p>
        </p:txBody>
      </p:sp>
      <p:sp>
        <p:nvSpPr>
          <p:cNvPr id="113" name="Google Shape;113;p8"/>
          <p:cNvSpPr/>
          <p:nvPr/>
        </p:nvSpPr>
        <p:spPr>
          <a:xfrm>
            <a:off x="2069591" y="1894534"/>
            <a:ext cx="7620300" cy="293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472"/>
              </a:buClr>
              <a:buSzPts val="1475"/>
              <a:buFont typeface="DM Sans"/>
              <a:buNone/>
            </a:pPr>
            <a:r>
              <a:rPr b="0" i="1" lang="en-US" sz="1475" u="none" cap="none" strike="noStrike">
                <a:solidFill>
                  <a:srgbClr val="5B6472"/>
                </a:solidFill>
                <a:latin typeface="DM Sans"/>
                <a:ea typeface="DM Sans"/>
                <a:cs typeface="DM Sans"/>
                <a:sym typeface="DM Sans"/>
              </a:rPr>
              <a:t>Compar</a:t>
            </a:r>
            <a:r>
              <a:rPr i="1" lang="en-US" sz="1475">
                <a:solidFill>
                  <a:srgbClr val="5B6472"/>
                </a:solidFill>
                <a:latin typeface="DM Sans"/>
                <a:ea typeface="DM Sans"/>
                <a:cs typeface="DM Sans"/>
                <a:sym typeface="DM Sans"/>
              </a:rPr>
              <a:t>ing</a:t>
            </a:r>
            <a:r>
              <a:rPr b="0" i="1" lang="en-US" sz="1475" u="none" cap="none" strike="noStrike">
                <a:solidFill>
                  <a:srgbClr val="5B6472"/>
                </a:solidFill>
                <a:latin typeface="DM Sans"/>
                <a:ea typeface="DM Sans"/>
                <a:cs typeface="DM Sans"/>
                <a:sym typeface="DM Sans"/>
              </a:rPr>
              <a:t> Storage Scholars against Relay wi</a:t>
            </a:r>
            <a:r>
              <a:rPr i="1" lang="en-US" sz="1475">
                <a:solidFill>
                  <a:srgbClr val="5B6472"/>
                </a:solidFill>
                <a:latin typeface="DM Sans"/>
                <a:ea typeface="DM Sans"/>
                <a:cs typeface="DM Sans"/>
                <a:sym typeface="DM Sans"/>
              </a:rPr>
              <a:t>thout AI</a:t>
            </a:r>
            <a:endParaRPr b="0" i="1" sz="1475" u="none" cap="none" strike="noStrike">
              <a:solidFill>
                <a:schemeClr val="dk1"/>
              </a:solidFill>
              <a:latin typeface="Calibri"/>
              <a:ea typeface="Calibri"/>
              <a:cs typeface="Calibri"/>
              <a:sym typeface="Calibri"/>
            </a:endParaRPr>
          </a:p>
        </p:txBody>
      </p:sp>
      <p:sp>
        <p:nvSpPr>
          <p:cNvPr id="114" name="Google Shape;114;p8"/>
          <p:cNvSpPr/>
          <p:nvPr/>
        </p:nvSpPr>
        <p:spPr>
          <a:xfrm>
            <a:off x="2077395" y="2404563"/>
            <a:ext cx="3621000" cy="1373700"/>
          </a:xfrm>
          <a:prstGeom prst="roundRect">
            <a:avLst>
              <a:gd fmla="val 8522" name="adj"/>
            </a:avLst>
          </a:prstGeom>
          <a:solidFill>
            <a:srgbClr val="FBF8F1"/>
          </a:solidFill>
          <a:ln cap="flat" cmpd="sng" w="15600">
            <a:solidFill>
              <a:srgbClr val="CFC5AE"/>
            </a:solidFill>
            <a:prstDash val="solid"/>
            <a:round/>
            <a:headEnd len="sm" w="sm" type="none"/>
            <a:tailEnd len="sm" w="sm" type="none"/>
          </a:ln>
        </p:spPr>
        <p:txBody>
          <a:bodyPr anchorCtr="0" anchor="ctr" bIns="112350" lIns="112350" spcFirstLastPara="1" rIns="112350" wrap="square" tIns="112350">
            <a:noAutofit/>
          </a:bodyPr>
          <a:lstStyle/>
          <a:p>
            <a:pPr indent="0" lvl="0" marL="0" rtl="0" algn="l">
              <a:spcBef>
                <a:spcPts val="0"/>
              </a:spcBef>
              <a:spcAft>
                <a:spcPts val="0"/>
              </a:spcAft>
              <a:buNone/>
            </a:pPr>
            <a:r>
              <a:t/>
            </a:r>
            <a:endParaRPr/>
          </a:p>
        </p:txBody>
      </p:sp>
      <p:sp>
        <p:nvSpPr>
          <p:cNvPr id="115" name="Google Shape;115;p8"/>
          <p:cNvSpPr/>
          <p:nvPr/>
        </p:nvSpPr>
        <p:spPr>
          <a:xfrm>
            <a:off x="2272515" y="2400250"/>
            <a:ext cx="3327900" cy="369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4A14"/>
              </a:buClr>
              <a:buSzPts val="1843"/>
              <a:buFont typeface="DM Sans"/>
              <a:buNone/>
            </a:pPr>
            <a:r>
              <a:rPr b="1" i="0" lang="en-US" sz="1843" u="none" cap="none" strike="noStrike">
                <a:solidFill>
                  <a:srgbClr val="B84A14"/>
                </a:solidFill>
                <a:latin typeface="DM Sans"/>
                <a:ea typeface="DM Sans"/>
                <a:cs typeface="DM Sans"/>
                <a:sym typeface="DM Sans"/>
              </a:rPr>
              <a:t>Strengths</a:t>
            </a:r>
            <a:endParaRPr b="0" i="0" sz="1843" u="none" cap="none" strike="noStrike">
              <a:solidFill>
                <a:schemeClr val="dk1"/>
              </a:solidFill>
              <a:latin typeface="Calibri"/>
              <a:ea typeface="Calibri"/>
              <a:cs typeface="Calibri"/>
              <a:sym typeface="Calibri"/>
            </a:endParaRPr>
          </a:p>
        </p:txBody>
      </p:sp>
      <p:sp>
        <p:nvSpPr>
          <p:cNvPr id="116" name="Google Shape;116;p8"/>
          <p:cNvSpPr/>
          <p:nvPr/>
        </p:nvSpPr>
        <p:spPr>
          <a:xfrm>
            <a:off x="2223950" y="2847907"/>
            <a:ext cx="3327900" cy="992700"/>
          </a:xfrm>
          <a:prstGeom prst="rect">
            <a:avLst/>
          </a:prstGeom>
          <a:noFill/>
          <a:ln>
            <a:noFill/>
          </a:ln>
        </p:spPr>
        <p:txBody>
          <a:bodyPr anchorCtr="0" anchor="t" bIns="0" lIns="0" spcFirstLastPara="1" rIns="0" wrap="square" tIns="0">
            <a:noAutofit/>
          </a:bodyPr>
          <a:lstStyle/>
          <a:p>
            <a:pPr indent="0" lvl="0" marL="0" marR="0" rtl="0" algn="ctr">
              <a:lnSpc>
                <a:spcPct val="135000"/>
              </a:lnSpc>
              <a:spcBef>
                <a:spcPts val="0"/>
              </a:spcBef>
              <a:spcAft>
                <a:spcPts val="0"/>
              </a:spcAft>
              <a:buClr>
                <a:srgbClr val="14213D"/>
              </a:buClr>
              <a:buSzPts val="1598"/>
              <a:buFont typeface="DM Sans"/>
              <a:buNone/>
            </a:pPr>
            <a:r>
              <a:rPr lang="en-US" sz="1398">
                <a:solidFill>
                  <a:srgbClr val="14213D"/>
                </a:solidFill>
                <a:latin typeface="DM Sans"/>
                <a:ea typeface="DM Sans"/>
                <a:cs typeface="DM Sans"/>
                <a:sym typeface="DM Sans"/>
              </a:rPr>
              <a:t>Furniture can be reused instead of wasted - buyer and seller both benefit</a:t>
            </a:r>
            <a:endParaRPr b="0" i="0" sz="1398" u="none" cap="none" strike="noStrike">
              <a:solidFill>
                <a:schemeClr val="dk1"/>
              </a:solidFill>
              <a:latin typeface="Calibri"/>
              <a:ea typeface="Calibri"/>
              <a:cs typeface="Calibri"/>
              <a:sym typeface="Calibri"/>
            </a:endParaRPr>
          </a:p>
        </p:txBody>
      </p:sp>
      <p:sp>
        <p:nvSpPr>
          <p:cNvPr id="117" name="Google Shape;117;p8"/>
          <p:cNvSpPr/>
          <p:nvPr/>
        </p:nvSpPr>
        <p:spPr>
          <a:xfrm>
            <a:off x="5838968" y="2404563"/>
            <a:ext cx="3621000" cy="1373700"/>
          </a:xfrm>
          <a:prstGeom prst="roundRect">
            <a:avLst>
              <a:gd fmla="val 8522" name="adj"/>
            </a:avLst>
          </a:prstGeom>
          <a:solidFill>
            <a:srgbClr val="FBF8F1"/>
          </a:solidFill>
          <a:ln cap="flat" cmpd="sng" w="15600">
            <a:solidFill>
              <a:srgbClr val="CFC5AE"/>
            </a:solidFill>
            <a:prstDash val="solid"/>
            <a:round/>
            <a:headEnd len="sm" w="sm" type="none"/>
            <a:tailEnd len="sm" w="sm" type="none"/>
          </a:ln>
        </p:spPr>
        <p:txBody>
          <a:bodyPr anchorCtr="0" anchor="ctr" bIns="112350" lIns="112350" spcFirstLastPara="1" rIns="112350" wrap="square" tIns="112350">
            <a:noAutofit/>
          </a:bodyPr>
          <a:lstStyle/>
          <a:p>
            <a:pPr indent="0" lvl="0" marL="0" rtl="0" algn="l">
              <a:spcBef>
                <a:spcPts val="0"/>
              </a:spcBef>
              <a:spcAft>
                <a:spcPts val="0"/>
              </a:spcAft>
              <a:buNone/>
            </a:pPr>
            <a:r>
              <a:t/>
            </a:r>
            <a:endParaRPr/>
          </a:p>
        </p:txBody>
      </p:sp>
      <p:sp>
        <p:nvSpPr>
          <p:cNvPr id="118" name="Google Shape;118;p8"/>
          <p:cNvSpPr/>
          <p:nvPr/>
        </p:nvSpPr>
        <p:spPr>
          <a:xfrm>
            <a:off x="6034071" y="2481015"/>
            <a:ext cx="3327900" cy="312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4A14"/>
              </a:buClr>
              <a:buSzPts val="1843"/>
              <a:buFont typeface="DM Sans"/>
              <a:buNone/>
            </a:pPr>
            <a:r>
              <a:rPr b="1" i="0" lang="en-US" sz="1843" u="none" cap="none" strike="noStrike">
                <a:solidFill>
                  <a:srgbClr val="B84A14"/>
                </a:solidFill>
                <a:latin typeface="DM Sans"/>
                <a:ea typeface="DM Sans"/>
                <a:cs typeface="DM Sans"/>
                <a:sym typeface="DM Sans"/>
              </a:rPr>
              <a:t>Weaknesses</a:t>
            </a:r>
            <a:endParaRPr b="0" i="0" sz="1843" u="none" cap="none" strike="noStrike">
              <a:solidFill>
                <a:schemeClr val="dk1"/>
              </a:solidFill>
              <a:latin typeface="Calibri"/>
              <a:ea typeface="Calibri"/>
              <a:cs typeface="Calibri"/>
              <a:sym typeface="Calibri"/>
            </a:endParaRPr>
          </a:p>
        </p:txBody>
      </p:sp>
      <p:sp>
        <p:nvSpPr>
          <p:cNvPr id="119" name="Google Shape;119;p8"/>
          <p:cNvSpPr/>
          <p:nvPr/>
        </p:nvSpPr>
        <p:spPr>
          <a:xfrm>
            <a:off x="6034071" y="2874490"/>
            <a:ext cx="3327900" cy="578700"/>
          </a:xfrm>
          <a:prstGeom prst="rect">
            <a:avLst/>
          </a:prstGeom>
          <a:noFill/>
          <a:ln>
            <a:noFill/>
          </a:ln>
        </p:spPr>
        <p:txBody>
          <a:bodyPr anchorCtr="0" anchor="t" bIns="0" lIns="0" spcFirstLastPara="1" rIns="0" wrap="square" tIns="0">
            <a:noAutofit/>
          </a:bodyPr>
          <a:lstStyle/>
          <a:p>
            <a:pPr indent="0" lvl="0" marL="0" marR="0" rtl="0" algn="ctr">
              <a:lnSpc>
                <a:spcPct val="135000"/>
              </a:lnSpc>
              <a:spcBef>
                <a:spcPts val="0"/>
              </a:spcBef>
              <a:spcAft>
                <a:spcPts val="0"/>
              </a:spcAft>
              <a:buClr>
                <a:srgbClr val="14213D"/>
              </a:buClr>
              <a:buSzPts val="1598"/>
              <a:buFont typeface="DM Sans"/>
              <a:buNone/>
            </a:pPr>
            <a:r>
              <a:rPr lang="en-US" sz="1398">
                <a:solidFill>
                  <a:srgbClr val="14213D"/>
                </a:solidFill>
                <a:latin typeface="DM Sans"/>
                <a:ea typeface="DM Sans"/>
                <a:cs typeface="DM Sans"/>
                <a:sym typeface="DM Sans"/>
              </a:rPr>
              <a:t>N</a:t>
            </a:r>
            <a:r>
              <a:rPr b="0" i="0" lang="en-US" sz="1398" u="none" cap="none" strike="noStrike">
                <a:solidFill>
                  <a:srgbClr val="14213D"/>
                </a:solidFill>
                <a:latin typeface="DM Sans"/>
                <a:ea typeface="DM Sans"/>
                <a:cs typeface="DM Sans"/>
                <a:sym typeface="DM Sans"/>
              </a:rPr>
              <a:t>eeds enough buyers and sellers per campus</a:t>
            </a:r>
            <a:r>
              <a:rPr lang="en-US" sz="1398">
                <a:solidFill>
                  <a:srgbClr val="14213D"/>
                </a:solidFill>
                <a:latin typeface="DM Sans"/>
                <a:ea typeface="DM Sans"/>
                <a:cs typeface="DM Sans"/>
                <a:sym typeface="DM Sans"/>
              </a:rPr>
              <a:t> to be profitable. Inventory is also limited when campus specific</a:t>
            </a:r>
            <a:endParaRPr b="0" i="0" sz="1398" u="none" cap="none" strike="noStrike">
              <a:solidFill>
                <a:schemeClr val="dk1"/>
              </a:solidFill>
              <a:latin typeface="Calibri"/>
              <a:ea typeface="Calibri"/>
              <a:cs typeface="Calibri"/>
              <a:sym typeface="Calibri"/>
            </a:endParaRPr>
          </a:p>
        </p:txBody>
      </p:sp>
      <p:sp>
        <p:nvSpPr>
          <p:cNvPr id="120" name="Google Shape;120;p8"/>
          <p:cNvSpPr/>
          <p:nvPr/>
        </p:nvSpPr>
        <p:spPr>
          <a:xfrm>
            <a:off x="2077395" y="3918676"/>
            <a:ext cx="3621000" cy="1373700"/>
          </a:xfrm>
          <a:prstGeom prst="roundRect">
            <a:avLst>
              <a:gd fmla="val 8522" name="adj"/>
            </a:avLst>
          </a:prstGeom>
          <a:solidFill>
            <a:srgbClr val="FBF8F1"/>
          </a:solidFill>
          <a:ln cap="flat" cmpd="sng" w="15600">
            <a:solidFill>
              <a:srgbClr val="CFC5AE"/>
            </a:solidFill>
            <a:prstDash val="solid"/>
            <a:round/>
            <a:headEnd len="sm" w="sm" type="none"/>
            <a:tailEnd len="sm" w="sm" type="none"/>
          </a:ln>
        </p:spPr>
        <p:txBody>
          <a:bodyPr anchorCtr="0" anchor="ctr" bIns="112350" lIns="112350" spcFirstLastPara="1" rIns="112350" wrap="square" tIns="112350">
            <a:noAutofit/>
          </a:bodyPr>
          <a:lstStyle/>
          <a:p>
            <a:pPr indent="0" lvl="0" marL="0" rtl="0" algn="l">
              <a:spcBef>
                <a:spcPts val="0"/>
              </a:spcBef>
              <a:spcAft>
                <a:spcPts val="0"/>
              </a:spcAft>
              <a:buNone/>
            </a:pPr>
            <a:r>
              <a:t/>
            </a:r>
            <a:endParaRPr/>
          </a:p>
        </p:txBody>
      </p:sp>
      <p:sp>
        <p:nvSpPr>
          <p:cNvPr id="121" name="Google Shape;121;p8"/>
          <p:cNvSpPr/>
          <p:nvPr/>
        </p:nvSpPr>
        <p:spPr>
          <a:xfrm>
            <a:off x="2272498" y="4044465"/>
            <a:ext cx="3327900" cy="261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4A14"/>
              </a:buClr>
              <a:buSzPts val="1561"/>
              <a:buFont typeface="DM Sans"/>
              <a:buNone/>
            </a:pPr>
            <a:r>
              <a:rPr b="1" i="0" lang="en-US" sz="1561" u="none" cap="none" strike="noStrike">
                <a:solidFill>
                  <a:srgbClr val="B84A14"/>
                </a:solidFill>
                <a:latin typeface="DM Sans"/>
                <a:ea typeface="DM Sans"/>
                <a:cs typeface="DM Sans"/>
                <a:sym typeface="DM Sans"/>
              </a:rPr>
              <a:t>Opportunities</a:t>
            </a:r>
            <a:endParaRPr b="0" i="0" sz="1561" u="none" cap="none" strike="noStrike">
              <a:solidFill>
                <a:schemeClr val="dk1"/>
              </a:solidFill>
              <a:latin typeface="Calibri"/>
              <a:ea typeface="Calibri"/>
              <a:cs typeface="Calibri"/>
              <a:sym typeface="Calibri"/>
            </a:endParaRPr>
          </a:p>
        </p:txBody>
      </p:sp>
      <p:sp>
        <p:nvSpPr>
          <p:cNvPr id="122" name="Google Shape;122;p8"/>
          <p:cNvSpPr/>
          <p:nvPr/>
        </p:nvSpPr>
        <p:spPr>
          <a:xfrm>
            <a:off x="2272498" y="4374139"/>
            <a:ext cx="3327900" cy="706200"/>
          </a:xfrm>
          <a:prstGeom prst="rect">
            <a:avLst/>
          </a:prstGeom>
          <a:noFill/>
          <a:ln>
            <a:noFill/>
          </a:ln>
        </p:spPr>
        <p:txBody>
          <a:bodyPr anchorCtr="0" anchor="t" bIns="0" lIns="0" spcFirstLastPara="1" rIns="0" wrap="square" tIns="0">
            <a:noAutofit/>
          </a:bodyPr>
          <a:lstStyle/>
          <a:p>
            <a:pPr indent="0" lvl="0" marL="0" marR="0" rtl="0" algn="ctr">
              <a:lnSpc>
                <a:spcPct val="135056"/>
              </a:lnSpc>
              <a:spcBef>
                <a:spcPts val="0"/>
              </a:spcBef>
              <a:spcAft>
                <a:spcPts val="0"/>
              </a:spcAft>
              <a:buClr>
                <a:srgbClr val="14213D"/>
              </a:buClr>
              <a:buSzPts val="1308"/>
              <a:buFont typeface="DM Sans"/>
              <a:buNone/>
            </a:pPr>
            <a:r>
              <a:rPr lang="en-US" sz="1398">
                <a:solidFill>
                  <a:schemeClr val="dk1"/>
                </a:solidFill>
              </a:rPr>
              <a:t>Offer furniture to be delivered before arrival, so it is already there for the customer</a:t>
            </a:r>
            <a:endParaRPr b="0" i="0" sz="1398" u="none" cap="none" strike="noStrike">
              <a:solidFill>
                <a:schemeClr val="dk1"/>
              </a:solidFill>
              <a:latin typeface="Calibri"/>
              <a:ea typeface="Calibri"/>
              <a:cs typeface="Calibri"/>
              <a:sym typeface="Calibri"/>
            </a:endParaRPr>
          </a:p>
        </p:txBody>
      </p:sp>
      <p:sp>
        <p:nvSpPr>
          <p:cNvPr id="123" name="Google Shape;123;p8"/>
          <p:cNvSpPr/>
          <p:nvPr/>
        </p:nvSpPr>
        <p:spPr>
          <a:xfrm>
            <a:off x="5838968" y="3918676"/>
            <a:ext cx="3621000" cy="1373700"/>
          </a:xfrm>
          <a:prstGeom prst="roundRect">
            <a:avLst>
              <a:gd fmla="val 8522" name="adj"/>
            </a:avLst>
          </a:prstGeom>
          <a:solidFill>
            <a:srgbClr val="FBF8F1"/>
          </a:solidFill>
          <a:ln cap="flat" cmpd="sng" w="15600">
            <a:solidFill>
              <a:srgbClr val="CFC5AE"/>
            </a:solidFill>
            <a:prstDash val="solid"/>
            <a:round/>
            <a:headEnd len="sm" w="sm" type="none"/>
            <a:tailEnd len="sm" w="sm" type="none"/>
          </a:ln>
        </p:spPr>
        <p:txBody>
          <a:bodyPr anchorCtr="0" anchor="ctr" bIns="112350" lIns="112350" spcFirstLastPara="1" rIns="112350" wrap="square" tIns="112350">
            <a:noAutofit/>
          </a:bodyPr>
          <a:lstStyle/>
          <a:p>
            <a:pPr indent="0" lvl="0" marL="0" rtl="0" algn="l">
              <a:spcBef>
                <a:spcPts val="0"/>
              </a:spcBef>
              <a:spcAft>
                <a:spcPts val="0"/>
              </a:spcAft>
              <a:buNone/>
            </a:pPr>
            <a:r>
              <a:t/>
            </a:r>
            <a:endParaRPr/>
          </a:p>
        </p:txBody>
      </p:sp>
      <p:sp>
        <p:nvSpPr>
          <p:cNvPr id="124" name="Google Shape;124;p8"/>
          <p:cNvSpPr/>
          <p:nvPr/>
        </p:nvSpPr>
        <p:spPr>
          <a:xfrm>
            <a:off x="6034071" y="3918665"/>
            <a:ext cx="3327900" cy="312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84A14"/>
              </a:buClr>
              <a:buSzPts val="1843"/>
              <a:buFont typeface="DM Sans"/>
              <a:buNone/>
            </a:pPr>
            <a:r>
              <a:rPr b="1" i="0" lang="en-US" sz="1843" u="none" cap="none" strike="noStrike">
                <a:solidFill>
                  <a:srgbClr val="B84A14"/>
                </a:solidFill>
                <a:latin typeface="DM Sans"/>
                <a:ea typeface="DM Sans"/>
                <a:cs typeface="DM Sans"/>
                <a:sym typeface="DM Sans"/>
              </a:rPr>
              <a:t>Threats</a:t>
            </a:r>
            <a:endParaRPr b="0" i="0" sz="1843" u="none" cap="none" strike="noStrike">
              <a:solidFill>
                <a:schemeClr val="dk1"/>
              </a:solidFill>
              <a:latin typeface="Calibri"/>
              <a:ea typeface="Calibri"/>
              <a:cs typeface="Calibri"/>
              <a:sym typeface="Calibri"/>
            </a:endParaRPr>
          </a:p>
        </p:txBody>
      </p:sp>
      <p:sp>
        <p:nvSpPr>
          <p:cNvPr id="125" name="Google Shape;125;p8"/>
          <p:cNvSpPr/>
          <p:nvPr/>
        </p:nvSpPr>
        <p:spPr>
          <a:xfrm>
            <a:off x="5907100" y="4139455"/>
            <a:ext cx="3514200" cy="1078800"/>
          </a:xfrm>
          <a:prstGeom prst="rect">
            <a:avLst/>
          </a:prstGeom>
          <a:noFill/>
          <a:ln>
            <a:noFill/>
          </a:ln>
        </p:spPr>
        <p:txBody>
          <a:bodyPr anchorCtr="0" anchor="t" bIns="0" lIns="0" spcFirstLastPara="1" rIns="0" wrap="square" tIns="0">
            <a:noAutofit/>
          </a:bodyPr>
          <a:lstStyle/>
          <a:p>
            <a:pPr indent="0" lvl="0" marL="0" marR="0" rtl="0" algn="ctr">
              <a:lnSpc>
                <a:spcPct val="135000"/>
              </a:lnSpc>
              <a:spcBef>
                <a:spcPts val="0"/>
              </a:spcBef>
              <a:spcAft>
                <a:spcPts val="0"/>
              </a:spcAft>
              <a:buClr>
                <a:srgbClr val="14213D"/>
              </a:buClr>
              <a:buSzPts val="1598"/>
              <a:buFont typeface="DM Sans"/>
              <a:buNone/>
            </a:pPr>
            <a:r>
              <a:rPr lang="en-US" sz="1398">
                <a:solidFill>
                  <a:srgbClr val="14213D"/>
                </a:solidFill>
                <a:latin typeface="DM Sans"/>
                <a:ea typeface="DM Sans"/>
                <a:cs typeface="DM Sans"/>
                <a:sym typeface="DM Sans"/>
              </a:rPr>
              <a:t>Large marketplaces like those on </a:t>
            </a:r>
            <a:r>
              <a:rPr b="0" i="0" lang="en-US" sz="1398" u="none" cap="none" strike="noStrike">
                <a:solidFill>
                  <a:srgbClr val="14213D"/>
                </a:solidFill>
                <a:latin typeface="DM Sans"/>
                <a:ea typeface="DM Sans"/>
                <a:cs typeface="DM Sans"/>
                <a:sym typeface="DM Sans"/>
              </a:rPr>
              <a:t>Facebook </a:t>
            </a:r>
            <a:r>
              <a:rPr lang="en-US" sz="1398">
                <a:solidFill>
                  <a:srgbClr val="14213D"/>
                </a:solidFill>
                <a:latin typeface="DM Sans"/>
                <a:ea typeface="DM Sans"/>
                <a:cs typeface="DM Sans"/>
                <a:sym typeface="DM Sans"/>
              </a:rPr>
              <a:t>are</a:t>
            </a:r>
            <a:r>
              <a:rPr b="0" i="0" lang="en-US" sz="1398" u="none" cap="none" strike="noStrike">
                <a:solidFill>
                  <a:srgbClr val="14213D"/>
                </a:solidFill>
                <a:latin typeface="DM Sans"/>
                <a:ea typeface="DM Sans"/>
                <a:cs typeface="DM Sans"/>
                <a:sym typeface="DM Sans"/>
              </a:rPr>
              <a:t> free</a:t>
            </a:r>
            <a:r>
              <a:rPr lang="en-US" sz="1398">
                <a:solidFill>
                  <a:srgbClr val="14213D"/>
                </a:solidFill>
                <a:latin typeface="DM Sans"/>
                <a:ea typeface="DM Sans"/>
                <a:cs typeface="DM Sans"/>
                <a:sym typeface="DM Sans"/>
              </a:rPr>
              <a:t>, </a:t>
            </a:r>
            <a:r>
              <a:rPr lang="en-US" sz="1398">
                <a:solidFill>
                  <a:srgbClr val="14213D"/>
                </a:solidFill>
                <a:latin typeface="DM Sans"/>
                <a:ea typeface="DM Sans"/>
                <a:cs typeface="DM Sans"/>
                <a:sym typeface="DM Sans"/>
              </a:rPr>
              <a:t>popular</a:t>
            </a:r>
            <a:r>
              <a:rPr lang="en-US" sz="1398">
                <a:solidFill>
                  <a:srgbClr val="14213D"/>
                </a:solidFill>
                <a:latin typeface="DM Sans"/>
                <a:ea typeface="DM Sans"/>
                <a:cs typeface="DM Sans"/>
                <a:sym typeface="DM Sans"/>
              </a:rPr>
              <a:t>, and tech-friendly. Also direct campus specific competitors narrow the </a:t>
            </a:r>
            <a:r>
              <a:rPr lang="en-US" sz="1398">
                <a:solidFill>
                  <a:srgbClr val="14213D"/>
                </a:solidFill>
                <a:latin typeface="DM Sans"/>
                <a:ea typeface="DM Sans"/>
                <a:cs typeface="DM Sans"/>
                <a:sym typeface="DM Sans"/>
              </a:rPr>
              <a:t>market</a:t>
            </a:r>
            <a:r>
              <a:rPr lang="en-US" sz="1398">
                <a:solidFill>
                  <a:srgbClr val="14213D"/>
                </a:solidFill>
                <a:latin typeface="DM Sans"/>
                <a:ea typeface="DM Sans"/>
                <a:cs typeface="DM Sans"/>
                <a:sym typeface="DM Sans"/>
              </a:rPr>
              <a:t> space</a:t>
            </a:r>
            <a:endParaRPr b="0" i="0" sz="1398" u="none" cap="none" strike="noStrike">
              <a:solidFill>
                <a:schemeClr val="dk1"/>
              </a:solidFill>
              <a:latin typeface="Calibri"/>
              <a:ea typeface="Calibri"/>
              <a:cs typeface="Calibri"/>
              <a:sym typeface="Calibri"/>
            </a:endParaRPr>
          </a:p>
        </p:txBody>
      </p:sp>
      <p:sp>
        <p:nvSpPr>
          <p:cNvPr id="126" name="Google Shape;126;p8"/>
          <p:cNvSpPr/>
          <p:nvPr/>
        </p:nvSpPr>
        <p:spPr>
          <a:xfrm>
            <a:off x="1804252" y="6564382"/>
            <a:ext cx="8842200" cy="293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472"/>
              </a:buClr>
              <a:buSzPts val="1475"/>
              <a:buFont typeface="DM Sans"/>
              <a:buNone/>
            </a:pPr>
            <a:r>
              <a:rPr b="0" i="0" lang="en-US" sz="1475" u="none" cap="none" strike="noStrike">
                <a:solidFill>
                  <a:srgbClr val="5B6472"/>
                </a:solidFill>
                <a:latin typeface="DM Sans"/>
                <a:ea typeface="DM Sans"/>
                <a:cs typeface="DM Sans"/>
                <a:sym typeface="DM Sans"/>
              </a:rPr>
              <a:t>Source: Workbook Part 4 (4B)</a:t>
            </a:r>
            <a:endParaRPr b="0" i="0" sz="1475" u="none" cap="none" strike="noStrike">
              <a:solidFill>
                <a:schemeClr val="dk1"/>
              </a:solidFill>
              <a:latin typeface="Calibri"/>
              <a:ea typeface="Calibri"/>
              <a:cs typeface="Calibri"/>
              <a:sym typeface="Calibri"/>
            </a:endParaRPr>
          </a:p>
        </p:txBody>
      </p:sp>
      <p:sp>
        <p:nvSpPr>
          <p:cNvPr id="127" name="Google Shape;127;p8"/>
          <p:cNvSpPr/>
          <p:nvPr/>
        </p:nvSpPr>
        <p:spPr>
          <a:xfrm>
            <a:off x="10771155" y="6564382"/>
            <a:ext cx="4019100" cy="2937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B6472"/>
              </a:buClr>
              <a:buSzPts val="1475"/>
              <a:buFont typeface="DM Sans"/>
              <a:buNone/>
            </a:pPr>
            <a:r>
              <a:rPr b="0" i="0" lang="en-US" sz="1475" u="none" cap="none" strike="noStrike">
                <a:solidFill>
                  <a:srgbClr val="5B6472"/>
                </a:solidFill>
                <a:latin typeface="DM Sans"/>
                <a:ea typeface="DM Sans"/>
                <a:cs typeface="DM Sans"/>
                <a:sym typeface="DM Sans"/>
              </a:rPr>
              <a:t>Relay · 06</a:t>
            </a:r>
            <a:endParaRPr b="0" i="0" sz="1475"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132" name="Shape 132"/>
        <p:cNvGrpSpPr/>
        <p:nvPr/>
      </p:nvGrpSpPr>
      <p:grpSpPr>
        <a:xfrm>
          <a:off x="0" y="0"/>
          <a:ext cx="0" cy="0"/>
          <a:chOff x="0" y="0"/>
          <a:chExt cx="0" cy="0"/>
        </a:xfrm>
      </p:grpSpPr>
      <p:sp>
        <p:nvSpPr>
          <p:cNvPr id="133" name="Google Shape;133;p9"/>
          <p:cNvSpPr/>
          <p:nvPr/>
        </p:nvSpPr>
        <p:spPr>
          <a:xfrm>
            <a:off x="495800" y="417520"/>
            <a:ext cx="10883400" cy="4164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14213D"/>
              </a:buClr>
              <a:buSzPts val="2800"/>
              <a:buFont typeface="Domine"/>
              <a:buNone/>
            </a:pPr>
            <a:r>
              <a:rPr b="1" lang="en-US" sz="2800">
                <a:solidFill>
                  <a:srgbClr val="14213D"/>
                </a:solidFill>
                <a:latin typeface="Domine"/>
                <a:ea typeface="Domine"/>
                <a:cs typeface="Domine"/>
                <a:sym typeface="Domine"/>
              </a:rPr>
              <a:t>W</a:t>
            </a:r>
            <a:r>
              <a:rPr b="1" i="0" lang="en-US" sz="2800" u="none" cap="none" strike="noStrike">
                <a:solidFill>
                  <a:srgbClr val="14213D"/>
                </a:solidFill>
                <a:latin typeface="Domine"/>
                <a:ea typeface="Domine"/>
                <a:cs typeface="Domine"/>
                <a:sym typeface="Domine"/>
              </a:rPr>
              <a:t>here Relay wins and who goes first</a:t>
            </a:r>
            <a:endParaRPr b="0" i="0" sz="2800" u="none" cap="none" strike="noStrike">
              <a:solidFill>
                <a:schemeClr val="dk1"/>
              </a:solidFill>
              <a:latin typeface="Calibri"/>
              <a:ea typeface="Calibri"/>
              <a:cs typeface="Calibri"/>
              <a:sym typeface="Calibri"/>
            </a:endParaRPr>
          </a:p>
        </p:txBody>
      </p:sp>
      <p:sp>
        <p:nvSpPr>
          <p:cNvPr id="134" name="Google Shape;134;p9"/>
          <p:cNvSpPr/>
          <p:nvPr/>
        </p:nvSpPr>
        <p:spPr>
          <a:xfrm>
            <a:off x="308250" y="1957000"/>
            <a:ext cx="3733500" cy="3078000"/>
          </a:xfrm>
          <a:prstGeom prst="roundRect">
            <a:avLst>
              <a:gd fmla="val 4338" name="adj"/>
            </a:avLst>
          </a:prstGeom>
          <a:solidFill>
            <a:srgbClr val="FBF8F1"/>
          </a:solidFill>
          <a:ln cap="flat" cmpd="sng" w="14050">
            <a:solidFill>
              <a:srgbClr val="CFC5AE"/>
            </a:solidFill>
            <a:prstDash val="solid"/>
            <a:round/>
            <a:headEnd len="sm" w="sm" type="none"/>
            <a:tailEnd len="sm" w="sm" type="none"/>
          </a:ln>
        </p:spPr>
        <p:txBody>
          <a:bodyPr anchorCtr="0" anchor="ctr" bIns="101150" lIns="101150" spcFirstLastPara="1" rIns="101150" wrap="square" tIns="101150">
            <a:noAutofit/>
          </a:bodyPr>
          <a:lstStyle/>
          <a:p>
            <a:pPr indent="0" lvl="0" marL="0" rtl="0" algn="l">
              <a:spcBef>
                <a:spcPts val="0"/>
              </a:spcBef>
              <a:spcAft>
                <a:spcPts val="0"/>
              </a:spcAft>
              <a:buNone/>
            </a:pPr>
            <a:r>
              <a:t/>
            </a:r>
            <a:endParaRPr/>
          </a:p>
        </p:txBody>
      </p:sp>
      <p:sp>
        <p:nvSpPr>
          <p:cNvPr id="135" name="Google Shape;135;p9"/>
          <p:cNvSpPr/>
          <p:nvPr/>
        </p:nvSpPr>
        <p:spPr>
          <a:xfrm>
            <a:off x="519901" y="2062755"/>
            <a:ext cx="3310200" cy="2643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B84A14"/>
              </a:buClr>
              <a:buSzPts val="1328"/>
              <a:buFont typeface="DM Sans"/>
              <a:buNone/>
            </a:pPr>
            <a:r>
              <a:rPr b="1" i="0" lang="en-US" sz="1728" u="none" cap="none" strike="noStrike">
                <a:solidFill>
                  <a:srgbClr val="B84A14"/>
                </a:solidFill>
                <a:latin typeface="DM Sans"/>
                <a:ea typeface="DM Sans"/>
                <a:cs typeface="DM Sans"/>
                <a:sym typeface="DM Sans"/>
              </a:rPr>
              <a:t>PROBLEMS THEY MISS</a:t>
            </a:r>
            <a:endParaRPr b="0" i="0" sz="1728" u="none" cap="none" strike="noStrike">
              <a:solidFill>
                <a:schemeClr val="dk1"/>
              </a:solidFill>
              <a:latin typeface="Calibri"/>
              <a:ea typeface="Calibri"/>
              <a:cs typeface="Calibri"/>
              <a:sym typeface="Calibri"/>
            </a:endParaRPr>
          </a:p>
        </p:txBody>
      </p:sp>
      <p:sp>
        <p:nvSpPr>
          <p:cNvPr id="136" name="Google Shape;136;p9"/>
          <p:cNvSpPr/>
          <p:nvPr/>
        </p:nvSpPr>
        <p:spPr>
          <a:xfrm>
            <a:off x="409575" y="2750259"/>
            <a:ext cx="3310200" cy="1571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5B6472"/>
              </a:buClr>
              <a:buSzPts val="1439"/>
              <a:buFont typeface="DM Sans"/>
              <a:buNone/>
            </a:pPr>
            <a:r>
              <a:rPr lang="en-US" sz="1800">
                <a:solidFill>
                  <a:schemeClr val="dk1"/>
                </a:solidFill>
                <a:latin typeface="DM Sans"/>
                <a:ea typeface="DM Sans"/>
                <a:cs typeface="DM Sans"/>
                <a:sym typeface="DM Sans"/>
              </a:rPr>
              <a:t>Graduating students can sell their </a:t>
            </a:r>
            <a:r>
              <a:rPr lang="en-US" sz="1800">
                <a:solidFill>
                  <a:schemeClr val="dk1"/>
                </a:solidFill>
                <a:latin typeface="DM Sans"/>
                <a:ea typeface="DM Sans"/>
                <a:cs typeface="DM Sans"/>
                <a:sym typeface="DM Sans"/>
              </a:rPr>
              <a:t>furniture</a:t>
            </a:r>
            <a:r>
              <a:rPr lang="en-US" sz="1800">
                <a:solidFill>
                  <a:schemeClr val="dk1"/>
                </a:solidFill>
                <a:latin typeface="DM Sans"/>
                <a:ea typeface="DM Sans"/>
                <a:cs typeface="DM Sans"/>
                <a:sym typeface="DM Sans"/>
              </a:rPr>
              <a:t> to incoming students, so no furniture is wasted.</a:t>
            </a:r>
            <a:endParaRPr b="0" i="0" sz="1800" u="none" cap="none" strike="noStrike">
              <a:solidFill>
                <a:schemeClr val="dk1"/>
              </a:solidFill>
              <a:latin typeface="Calibri"/>
              <a:ea typeface="Calibri"/>
              <a:cs typeface="Calibri"/>
              <a:sym typeface="Calibri"/>
            </a:endParaRPr>
          </a:p>
        </p:txBody>
      </p:sp>
      <p:sp>
        <p:nvSpPr>
          <p:cNvPr id="137" name="Google Shape;137;p9"/>
          <p:cNvSpPr/>
          <p:nvPr/>
        </p:nvSpPr>
        <p:spPr>
          <a:xfrm>
            <a:off x="4280844" y="1957000"/>
            <a:ext cx="3733500" cy="3078000"/>
          </a:xfrm>
          <a:prstGeom prst="roundRect">
            <a:avLst>
              <a:gd fmla="val 4338" name="adj"/>
            </a:avLst>
          </a:prstGeom>
          <a:solidFill>
            <a:srgbClr val="FBF8F1"/>
          </a:solidFill>
          <a:ln cap="flat" cmpd="sng" w="14050">
            <a:solidFill>
              <a:srgbClr val="CFC5AE"/>
            </a:solidFill>
            <a:prstDash val="solid"/>
            <a:round/>
            <a:headEnd len="sm" w="sm" type="none"/>
            <a:tailEnd len="sm" w="sm" type="none"/>
          </a:ln>
        </p:spPr>
        <p:txBody>
          <a:bodyPr anchorCtr="0" anchor="ctr" bIns="101150" lIns="101150" spcFirstLastPara="1" rIns="101150" wrap="square" tIns="101150">
            <a:noAutofit/>
          </a:bodyPr>
          <a:lstStyle/>
          <a:p>
            <a:pPr indent="0" lvl="0" marL="0" rtl="0" algn="l">
              <a:spcBef>
                <a:spcPts val="0"/>
              </a:spcBef>
              <a:spcAft>
                <a:spcPts val="0"/>
              </a:spcAft>
              <a:buNone/>
            </a:pPr>
            <a:r>
              <a:t/>
            </a:r>
            <a:endParaRPr/>
          </a:p>
        </p:txBody>
      </p:sp>
      <p:sp>
        <p:nvSpPr>
          <p:cNvPr id="138" name="Google Shape;138;p9"/>
          <p:cNvSpPr/>
          <p:nvPr/>
        </p:nvSpPr>
        <p:spPr>
          <a:xfrm>
            <a:off x="4492520" y="2062755"/>
            <a:ext cx="3310200" cy="2643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B84A14"/>
              </a:buClr>
              <a:buSzPts val="1328"/>
              <a:buFont typeface="DM Sans"/>
              <a:buNone/>
            </a:pPr>
            <a:r>
              <a:rPr b="1" i="0" lang="en-US" sz="1728" u="none" cap="none" strike="noStrike">
                <a:solidFill>
                  <a:srgbClr val="B84A14"/>
                </a:solidFill>
                <a:latin typeface="DM Sans"/>
                <a:ea typeface="DM Sans"/>
                <a:cs typeface="DM Sans"/>
                <a:sym typeface="DM Sans"/>
              </a:rPr>
              <a:t>EARLY ADOPTERS</a:t>
            </a:r>
            <a:endParaRPr b="0" i="0" sz="1728" u="none" cap="none" strike="noStrike">
              <a:solidFill>
                <a:schemeClr val="dk1"/>
              </a:solidFill>
              <a:latin typeface="Calibri"/>
              <a:ea typeface="Calibri"/>
              <a:cs typeface="Calibri"/>
              <a:sym typeface="Calibri"/>
            </a:endParaRPr>
          </a:p>
        </p:txBody>
      </p:sp>
      <p:sp>
        <p:nvSpPr>
          <p:cNvPr id="139" name="Google Shape;139;p9"/>
          <p:cNvSpPr/>
          <p:nvPr/>
        </p:nvSpPr>
        <p:spPr>
          <a:xfrm>
            <a:off x="4540850" y="2872654"/>
            <a:ext cx="3310200" cy="1571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5B6472"/>
              </a:buClr>
              <a:buSzPts val="1439"/>
              <a:buFont typeface="DM Sans"/>
              <a:buNone/>
            </a:pPr>
            <a:r>
              <a:rPr lang="en-US" sz="1800">
                <a:solidFill>
                  <a:schemeClr val="dk1"/>
                </a:solidFill>
                <a:latin typeface="DM Sans"/>
                <a:ea typeface="DM Sans"/>
                <a:cs typeface="DM Sans"/>
                <a:sym typeface="DM Sans"/>
              </a:rPr>
              <a:t>Graduating students that do not need </a:t>
            </a:r>
            <a:r>
              <a:rPr lang="en-US" sz="1800">
                <a:solidFill>
                  <a:schemeClr val="dk1"/>
                </a:solidFill>
                <a:latin typeface="DM Sans"/>
                <a:ea typeface="DM Sans"/>
                <a:cs typeface="DM Sans"/>
                <a:sym typeface="DM Sans"/>
              </a:rPr>
              <a:t>the</a:t>
            </a:r>
            <a:r>
              <a:rPr lang="en-US" sz="1800">
                <a:solidFill>
                  <a:schemeClr val="dk1"/>
                </a:solidFill>
                <a:latin typeface="DM Sans"/>
                <a:ea typeface="DM Sans"/>
                <a:cs typeface="DM Sans"/>
                <a:sym typeface="DM Sans"/>
              </a:rPr>
              <a:t> furniture anymore. As well as 1st year students with no furniture.</a:t>
            </a:r>
            <a:endParaRPr b="0" i="0" sz="1800" u="none" cap="none" strike="noStrike">
              <a:solidFill>
                <a:schemeClr val="dk1"/>
              </a:solidFill>
              <a:latin typeface="Calibri"/>
              <a:ea typeface="Calibri"/>
              <a:cs typeface="Calibri"/>
              <a:sym typeface="Calibri"/>
            </a:endParaRPr>
          </a:p>
        </p:txBody>
      </p:sp>
      <p:sp>
        <p:nvSpPr>
          <p:cNvPr id="140" name="Google Shape;140;p9"/>
          <p:cNvSpPr/>
          <p:nvPr/>
        </p:nvSpPr>
        <p:spPr>
          <a:xfrm>
            <a:off x="8253493" y="1957000"/>
            <a:ext cx="3733500" cy="3078000"/>
          </a:xfrm>
          <a:prstGeom prst="roundRect">
            <a:avLst>
              <a:gd fmla="val 4338" name="adj"/>
            </a:avLst>
          </a:prstGeom>
          <a:solidFill>
            <a:srgbClr val="FBF8F1"/>
          </a:solidFill>
          <a:ln cap="flat" cmpd="sng" w="14050">
            <a:solidFill>
              <a:srgbClr val="CFC5AE"/>
            </a:solidFill>
            <a:prstDash val="solid"/>
            <a:round/>
            <a:headEnd len="sm" w="sm" type="none"/>
            <a:tailEnd len="sm" w="sm" type="none"/>
          </a:ln>
        </p:spPr>
        <p:txBody>
          <a:bodyPr anchorCtr="0" anchor="ctr" bIns="101150" lIns="101150" spcFirstLastPara="1" rIns="101150" wrap="square" tIns="101150">
            <a:noAutofit/>
          </a:bodyPr>
          <a:lstStyle/>
          <a:p>
            <a:pPr indent="0" lvl="0" marL="0" rtl="0" algn="l">
              <a:spcBef>
                <a:spcPts val="0"/>
              </a:spcBef>
              <a:spcAft>
                <a:spcPts val="0"/>
              </a:spcAft>
              <a:buNone/>
            </a:pPr>
            <a:r>
              <a:t/>
            </a:r>
            <a:endParaRPr/>
          </a:p>
        </p:txBody>
      </p:sp>
      <p:sp>
        <p:nvSpPr>
          <p:cNvPr id="141" name="Google Shape;141;p9"/>
          <p:cNvSpPr/>
          <p:nvPr/>
        </p:nvSpPr>
        <p:spPr>
          <a:xfrm>
            <a:off x="8513494" y="2074610"/>
            <a:ext cx="3310200" cy="2643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B84A14"/>
              </a:buClr>
              <a:buSzPts val="1328"/>
              <a:buFont typeface="DM Sans"/>
              <a:buNone/>
            </a:pPr>
            <a:r>
              <a:rPr b="1" i="0" lang="en-US" sz="1728" u="none" cap="none" strike="noStrike">
                <a:solidFill>
                  <a:srgbClr val="B84A14"/>
                </a:solidFill>
                <a:latin typeface="DM Sans"/>
                <a:ea typeface="DM Sans"/>
                <a:cs typeface="DM Sans"/>
                <a:sym typeface="DM Sans"/>
              </a:rPr>
              <a:t>UNIQUE VALUE</a:t>
            </a:r>
            <a:endParaRPr b="0" i="0" sz="1728" u="none" cap="none" strike="noStrike">
              <a:solidFill>
                <a:schemeClr val="dk1"/>
              </a:solidFill>
              <a:latin typeface="Calibri"/>
              <a:ea typeface="Calibri"/>
              <a:cs typeface="Calibri"/>
              <a:sym typeface="Calibri"/>
            </a:endParaRPr>
          </a:p>
        </p:txBody>
      </p:sp>
      <p:sp>
        <p:nvSpPr>
          <p:cNvPr id="142" name="Google Shape;142;p9"/>
          <p:cNvSpPr/>
          <p:nvPr/>
        </p:nvSpPr>
        <p:spPr>
          <a:xfrm>
            <a:off x="8465100" y="2350198"/>
            <a:ext cx="3310200" cy="26166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5B6472"/>
              </a:buClr>
              <a:buSzPts val="1439"/>
              <a:buFont typeface="DM Sans"/>
              <a:buNone/>
            </a:pPr>
            <a:r>
              <a:rPr lang="en-US" sz="1600">
                <a:solidFill>
                  <a:schemeClr val="dk1"/>
                </a:solidFill>
                <a:latin typeface="DM Sans"/>
                <a:ea typeface="DM Sans"/>
                <a:cs typeface="DM Sans"/>
                <a:sym typeface="DM Sans"/>
              </a:rPr>
              <a:t>Take away the hassle of selling furniture on online marketplaces, and storing those things for future students.</a:t>
            </a:r>
            <a:endParaRPr sz="1600">
              <a:solidFill>
                <a:schemeClr val="dk1"/>
              </a:solidFill>
              <a:latin typeface="DM Sans"/>
              <a:ea typeface="DM Sans"/>
              <a:cs typeface="DM Sans"/>
              <a:sym typeface="DM Sans"/>
            </a:endParaRPr>
          </a:p>
          <a:p>
            <a:pPr indent="0" lvl="0" marL="0" marR="0" rtl="0" algn="ctr">
              <a:lnSpc>
                <a:spcPct val="140000"/>
              </a:lnSpc>
              <a:spcBef>
                <a:spcPts val="0"/>
              </a:spcBef>
              <a:spcAft>
                <a:spcPts val="0"/>
              </a:spcAft>
              <a:buClr>
                <a:srgbClr val="5B6472"/>
              </a:buClr>
              <a:buSzPts val="1439"/>
              <a:buFont typeface="DM Sans"/>
              <a:buNone/>
            </a:pPr>
            <a:r>
              <a:rPr lang="en-US" sz="1600">
                <a:solidFill>
                  <a:schemeClr val="dk1"/>
                </a:solidFill>
                <a:latin typeface="DM Sans"/>
                <a:ea typeface="DM Sans"/>
                <a:cs typeface="DM Sans"/>
                <a:sym typeface="DM Sans"/>
              </a:rPr>
              <a:t>ALso creating make </a:t>
            </a:r>
            <a:r>
              <a:rPr lang="en-US" sz="1600">
                <a:solidFill>
                  <a:schemeClr val="dk1"/>
                </a:solidFill>
                <a:latin typeface="DM Sans"/>
                <a:ea typeface="DM Sans"/>
                <a:cs typeface="DM Sans"/>
                <a:sym typeface="DM Sans"/>
              </a:rPr>
              <a:t>independent</a:t>
            </a:r>
            <a:r>
              <a:rPr lang="en-US" sz="1600">
                <a:solidFill>
                  <a:schemeClr val="dk1"/>
                </a:solidFill>
                <a:latin typeface="DM Sans"/>
                <a:ea typeface="DM Sans"/>
                <a:cs typeface="DM Sans"/>
                <a:sym typeface="DM Sans"/>
              </a:rPr>
              <a:t> contractor out of students who are willing to carry and move these products </a:t>
            </a:r>
            <a:endParaRPr b="0" i="0" sz="1600" u="none" cap="none" strike="noStrike">
              <a:solidFill>
                <a:schemeClr val="dk1"/>
              </a:solidFill>
              <a:latin typeface="Calibri"/>
              <a:ea typeface="Calibri"/>
              <a:cs typeface="Calibri"/>
              <a:sym typeface="Calibri"/>
            </a:endParaRPr>
          </a:p>
        </p:txBody>
      </p:sp>
      <p:sp>
        <p:nvSpPr>
          <p:cNvPr id="143" name="Google Shape;143;p9"/>
          <p:cNvSpPr/>
          <p:nvPr/>
        </p:nvSpPr>
        <p:spPr>
          <a:xfrm>
            <a:off x="812800" y="6238280"/>
            <a:ext cx="71945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472"/>
              </a:buClr>
              <a:buSzPts val="1200"/>
              <a:buFont typeface="DM Sans"/>
              <a:buNone/>
            </a:pPr>
            <a:r>
              <a:rPr b="0" i="0" lang="en-US" sz="1200" u="none" cap="none" strike="noStrike">
                <a:solidFill>
                  <a:srgbClr val="5B6472"/>
                </a:solidFill>
                <a:latin typeface="DM Sans"/>
                <a:ea typeface="DM Sans"/>
                <a:cs typeface="DM Sans"/>
                <a:sym typeface="DM Sans"/>
              </a:rPr>
              <a:t>Source: Workbook Part 4 (4A + 4B)</a:t>
            </a:r>
            <a:endParaRPr b="0" i="0" sz="1200" u="none" cap="none" strike="noStrike">
              <a:solidFill>
                <a:schemeClr val="dk1"/>
              </a:solidFill>
              <a:latin typeface="Calibri"/>
              <a:ea typeface="Calibri"/>
              <a:cs typeface="Calibri"/>
              <a:sym typeface="Calibri"/>
            </a:endParaRPr>
          </a:p>
        </p:txBody>
      </p:sp>
      <p:sp>
        <p:nvSpPr>
          <p:cNvPr id="144" name="Google Shape;144;p9"/>
          <p:cNvSpPr/>
          <p:nvPr/>
        </p:nvSpPr>
        <p:spPr>
          <a:xfrm>
            <a:off x="8108950" y="6238280"/>
            <a:ext cx="327025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B6472"/>
              </a:buClr>
              <a:buSzPts val="1200"/>
              <a:buFont typeface="DM Sans"/>
              <a:buNone/>
            </a:pPr>
            <a:r>
              <a:rPr b="0" i="0" lang="en-US" sz="1200" u="none" cap="none" strike="noStrike">
                <a:solidFill>
                  <a:srgbClr val="5B6472"/>
                </a:solidFill>
                <a:latin typeface="DM Sans"/>
                <a:ea typeface="DM Sans"/>
                <a:cs typeface="DM Sans"/>
                <a:sym typeface="DM Sans"/>
              </a:rPr>
              <a:t>Relay · 07</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5D3"/>
        </a:solidFill>
      </p:bgPr>
    </p:bg>
    <p:spTree>
      <p:nvGrpSpPr>
        <p:cNvPr id="149" name="Shape 149"/>
        <p:cNvGrpSpPr/>
        <p:nvPr/>
      </p:nvGrpSpPr>
      <p:grpSpPr>
        <a:xfrm>
          <a:off x="0" y="0"/>
          <a:ext cx="0" cy="0"/>
          <a:chOff x="0" y="0"/>
          <a:chExt cx="0" cy="0"/>
        </a:xfrm>
      </p:grpSpPr>
      <p:sp>
        <p:nvSpPr>
          <p:cNvPr id="150" name="Google Shape;150;p10"/>
          <p:cNvSpPr/>
          <p:nvPr/>
        </p:nvSpPr>
        <p:spPr>
          <a:xfrm>
            <a:off x="812800" y="833735"/>
            <a:ext cx="22437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4A14"/>
              </a:buClr>
              <a:buSzPts val="1200"/>
              <a:buFont typeface="DM Sans"/>
              <a:buNone/>
            </a:pPr>
            <a:r>
              <a:rPr b="1" i="0" lang="en-US" sz="1200" u="none" cap="none" strike="noStrike">
                <a:solidFill>
                  <a:srgbClr val="B84A14"/>
                </a:solidFill>
                <a:latin typeface="DM Sans"/>
                <a:ea typeface="DM Sans"/>
                <a:cs typeface="DM Sans"/>
                <a:sym typeface="DM Sans"/>
              </a:rPr>
              <a:t>SLIDE 6 · HARVEY BALLS</a:t>
            </a:r>
            <a:endParaRPr b="0" i="0" sz="1200" u="none" cap="none" strike="noStrike">
              <a:solidFill>
                <a:schemeClr val="dk1"/>
              </a:solidFill>
              <a:latin typeface="Calibri"/>
              <a:ea typeface="Calibri"/>
              <a:cs typeface="Calibri"/>
              <a:sym typeface="Calibri"/>
            </a:endParaRPr>
          </a:p>
        </p:txBody>
      </p:sp>
      <p:sp>
        <p:nvSpPr>
          <p:cNvPr id="151" name="Google Shape;151;p10"/>
          <p:cNvSpPr/>
          <p:nvPr/>
        </p:nvSpPr>
        <p:spPr>
          <a:xfrm>
            <a:off x="812800" y="1296640"/>
            <a:ext cx="10883400" cy="370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2600"/>
              <a:buFont typeface="Arial"/>
              <a:buNone/>
            </a:pPr>
            <a:r>
              <a:rPr b="1" i="0" lang="en-US" sz="2600" u="none" cap="none" strike="noStrike">
                <a:solidFill>
                  <a:srgbClr val="14213D"/>
                </a:solidFill>
                <a:latin typeface="Domine"/>
                <a:ea typeface="Domine"/>
                <a:cs typeface="Domine"/>
                <a:sym typeface="Domine"/>
              </a:rPr>
              <a:t>No one pays sellers well and covers the summer gap</a:t>
            </a:r>
            <a:endParaRPr/>
          </a:p>
        </p:txBody>
      </p:sp>
      <p:sp>
        <p:nvSpPr>
          <p:cNvPr id="152" name="Google Shape;152;p10"/>
          <p:cNvSpPr/>
          <p:nvPr/>
        </p:nvSpPr>
        <p:spPr>
          <a:xfrm>
            <a:off x="2496312" y="1874519"/>
            <a:ext cx="1975200" cy="255900"/>
          </a:xfrm>
          <a:prstGeom prst="rect">
            <a:avLst/>
          </a:prstGeom>
          <a:solidFill>
            <a:srgbClr val="1421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3" name="Google Shape;153;p10"/>
          <p:cNvCxnSpPr/>
          <p:nvPr/>
        </p:nvCxnSpPr>
        <p:spPr>
          <a:xfrm>
            <a:off x="2496312" y="1874519"/>
            <a:ext cx="0" cy="255000"/>
          </a:xfrm>
          <a:prstGeom prst="straightConnector1">
            <a:avLst/>
          </a:prstGeom>
          <a:noFill/>
          <a:ln cap="flat" cmpd="sng" w="19050">
            <a:solidFill>
              <a:srgbClr val="EDE5D3"/>
            </a:solidFill>
            <a:prstDash val="solid"/>
            <a:round/>
            <a:headEnd len="sm" w="sm" type="none"/>
            <a:tailEnd len="sm" w="sm" type="none"/>
          </a:ln>
        </p:spPr>
      </p:cxnSp>
      <p:sp>
        <p:nvSpPr>
          <p:cNvPr id="154" name="Google Shape;154;p10"/>
          <p:cNvSpPr/>
          <p:nvPr/>
        </p:nvSpPr>
        <p:spPr>
          <a:xfrm>
            <a:off x="2496312" y="1911095"/>
            <a:ext cx="1975200" cy="204300"/>
          </a:xfrm>
          <a:prstGeom prst="rect">
            <a:avLst/>
          </a:prstGeom>
          <a:noFill/>
          <a:ln>
            <a:noFill/>
          </a:ln>
        </p:spPr>
        <p:txBody>
          <a:bodyPr anchorCtr="0" anchor="t" bIns="0" lIns="0" spcFirstLastPara="1" rIns="0" wrap="square" tIns="0">
            <a:noAutofit/>
          </a:bodyPr>
          <a:lstStyle/>
          <a:p>
            <a:pPr indent="0" lvl="0" marL="0" marR="0" rtl="0" algn="ctr">
              <a:lnSpc>
                <a:spcPct val="140059"/>
              </a:lnSpc>
              <a:spcBef>
                <a:spcPts val="0"/>
              </a:spcBef>
              <a:spcAft>
                <a:spcPts val="0"/>
              </a:spcAft>
              <a:buClr>
                <a:srgbClr val="F7F2E8"/>
              </a:buClr>
              <a:buSzPts val="1016"/>
              <a:buFont typeface="DM Sans"/>
              <a:buNone/>
            </a:pPr>
            <a:r>
              <a:rPr b="1" i="0" lang="en-US" sz="1016" u="none" cap="none" strike="noStrike">
                <a:solidFill>
                  <a:srgbClr val="F7F2E8"/>
                </a:solidFill>
                <a:latin typeface="DM Sans"/>
                <a:ea typeface="DM Sans"/>
                <a:cs typeface="DM Sans"/>
                <a:sym typeface="DM Sans"/>
              </a:rPr>
              <a:t>Seller Value</a:t>
            </a:r>
            <a:endParaRPr b="0" i="0" sz="1016" u="none" cap="none" strike="noStrike">
              <a:solidFill>
                <a:schemeClr val="dk1"/>
              </a:solidFill>
              <a:latin typeface="Calibri"/>
              <a:ea typeface="Calibri"/>
              <a:cs typeface="Calibri"/>
              <a:sym typeface="Calibri"/>
            </a:endParaRPr>
          </a:p>
        </p:txBody>
      </p:sp>
      <p:sp>
        <p:nvSpPr>
          <p:cNvPr id="155" name="Google Shape;155;p10"/>
          <p:cNvSpPr/>
          <p:nvPr/>
        </p:nvSpPr>
        <p:spPr>
          <a:xfrm>
            <a:off x="4471416" y="1874519"/>
            <a:ext cx="1975200" cy="255900"/>
          </a:xfrm>
          <a:prstGeom prst="rect">
            <a:avLst/>
          </a:prstGeom>
          <a:solidFill>
            <a:srgbClr val="1421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6" name="Google Shape;156;p10"/>
          <p:cNvCxnSpPr/>
          <p:nvPr/>
        </p:nvCxnSpPr>
        <p:spPr>
          <a:xfrm>
            <a:off x="4471416" y="1874519"/>
            <a:ext cx="0" cy="255000"/>
          </a:xfrm>
          <a:prstGeom prst="straightConnector1">
            <a:avLst/>
          </a:prstGeom>
          <a:noFill/>
          <a:ln cap="flat" cmpd="sng" w="19050">
            <a:solidFill>
              <a:srgbClr val="EDE5D3"/>
            </a:solidFill>
            <a:prstDash val="solid"/>
            <a:round/>
            <a:headEnd len="sm" w="sm" type="none"/>
            <a:tailEnd len="sm" w="sm" type="none"/>
          </a:ln>
        </p:spPr>
      </p:cxnSp>
      <p:sp>
        <p:nvSpPr>
          <p:cNvPr id="157" name="Google Shape;157;p10"/>
          <p:cNvSpPr/>
          <p:nvPr/>
        </p:nvSpPr>
        <p:spPr>
          <a:xfrm>
            <a:off x="4471416" y="1911095"/>
            <a:ext cx="1975200" cy="204300"/>
          </a:xfrm>
          <a:prstGeom prst="rect">
            <a:avLst/>
          </a:prstGeom>
          <a:noFill/>
          <a:ln>
            <a:noFill/>
          </a:ln>
        </p:spPr>
        <p:txBody>
          <a:bodyPr anchorCtr="0" anchor="t" bIns="0" lIns="0" spcFirstLastPara="1" rIns="0" wrap="square" tIns="0">
            <a:noAutofit/>
          </a:bodyPr>
          <a:lstStyle/>
          <a:p>
            <a:pPr indent="0" lvl="0" marL="0" marR="0" rtl="0" algn="ctr">
              <a:lnSpc>
                <a:spcPct val="140059"/>
              </a:lnSpc>
              <a:spcBef>
                <a:spcPts val="0"/>
              </a:spcBef>
              <a:spcAft>
                <a:spcPts val="0"/>
              </a:spcAft>
              <a:buClr>
                <a:srgbClr val="F7F2E8"/>
              </a:buClr>
              <a:buSzPts val="1016"/>
              <a:buFont typeface="DM Sans"/>
              <a:buNone/>
            </a:pPr>
            <a:r>
              <a:rPr b="1" i="0" lang="en-US" sz="1016" u="none" cap="none" strike="noStrike">
                <a:solidFill>
                  <a:srgbClr val="F7F2E8"/>
                </a:solidFill>
                <a:latin typeface="DM Sans"/>
                <a:ea typeface="DM Sans"/>
                <a:cs typeface="DM Sans"/>
                <a:sym typeface="DM Sans"/>
              </a:rPr>
              <a:t>Logistics &amp; Timing</a:t>
            </a:r>
            <a:endParaRPr b="0" i="0" sz="1016" u="none" cap="none" strike="noStrike">
              <a:solidFill>
                <a:schemeClr val="dk1"/>
              </a:solidFill>
              <a:latin typeface="Calibri"/>
              <a:ea typeface="Calibri"/>
              <a:cs typeface="Calibri"/>
              <a:sym typeface="Calibri"/>
            </a:endParaRPr>
          </a:p>
        </p:txBody>
      </p:sp>
      <p:sp>
        <p:nvSpPr>
          <p:cNvPr id="158" name="Google Shape;158;p10"/>
          <p:cNvSpPr/>
          <p:nvPr/>
        </p:nvSpPr>
        <p:spPr>
          <a:xfrm>
            <a:off x="6446520" y="1874519"/>
            <a:ext cx="3456300" cy="255900"/>
          </a:xfrm>
          <a:prstGeom prst="rect">
            <a:avLst/>
          </a:prstGeom>
          <a:solidFill>
            <a:srgbClr val="1421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9" name="Google Shape;159;p10"/>
          <p:cNvCxnSpPr/>
          <p:nvPr/>
        </p:nvCxnSpPr>
        <p:spPr>
          <a:xfrm>
            <a:off x="6446520" y="1874519"/>
            <a:ext cx="0" cy="255000"/>
          </a:xfrm>
          <a:prstGeom prst="straightConnector1">
            <a:avLst/>
          </a:prstGeom>
          <a:noFill/>
          <a:ln cap="flat" cmpd="sng" w="19050">
            <a:solidFill>
              <a:srgbClr val="EDE5D3"/>
            </a:solidFill>
            <a:prstDash val="solid"/>
            <a:round/>
            <a:headEnd len="sm" w="sm" type="none"/>
            <a:tailEnd len="sm" w="sm" type="none"/>
          </a:ln>
        </p:spPr>
      </p:cxnSp>
      <p:sp>
        <p:nvSpPr>
          <p:cNvPr id="160" name="Google Shape;160;p10"/>
          <p:cNvSpPr/>
          <p:nvPr/>
        </p:nvSpPr>
        <p:spPr>
          <a:xfrm>
            <a:off x="6446520" y="1911095"/>
            <a:ext cx="3456300" cy="204300"/>
          </a:xfrm>
          <a:prstGeom prst="rect">
            <a:avLst/>
          </a:prstGeom>
          <a:noFill/>
          <a:ln>
            <a:noFill/>
          </a:ln>
        </p:spPr>
        <p:txBody>
          <a:bodyPr anchorCtr="0" anchor="t" bIns="0" lIns="0" spcFirstLastPara="1" rIns="0" wrap="square" tIns="0">
            <a:noAutofit/>
          </a:bodyPr>
          <a:lstStyle/>
          <a:p>
            <a:pPr indent="0" lvl="0" marL="0" marR="0" rtl="0" algn="ctr">
              <a:lnSpc>
                <a:spcPct val="140059"/>
              </a:lnSpc>
              <a:spcBef>
                <a:spcPts val="0"/>
              </a:spcBef>
              <a:spcAft>
                <a:spcPts val="0"/>
              </a:spcAft>
              <a:buClr>
                <a:srgbClr val="F7F2E8"/>
              </a:buClr>
              <a:buSzPts val="1016"/>
              <a:buFont typeface="DM Sans"/>
              <a:buNone/>
            </a:pPr>
            <a:r>
              <a:rPr b="1" i="0" lang="en-US" sz="1016" u="none" cap="none" strike="noStrike">
                <a:solidFill>
                  <a:srgbClr val="F7F2E8"/>
                </a:solidFill>
                <a:latin typeface="DM Sans"/>
                <a:ea typeface="DM Sans"/>
                <a:cs typeface="DM Sans"/>
                <a:sym typeface="DM Sans"/>
              </a:rPr>
              <a:t>Buyer Value &amp; Trust</a:t>
            </a:r>
            <a:endParaRPr b="0" i="0" sz="1016" u="none" cap="none" strike="noStrike">
              <a:solidFill>
                <a:schemeClr val="dk1"/>
              </a:solidFill>
              <a:latin typeface="Calibri"/>
              <a:ea typeface="Calibri"/>
              <a:cs typeface="Calibri"/>
              <a:sym typeface="Calibri"/>
            </a:endParaRPr>
          </a:p>
        </p:txBody>
      </p:sp>
      <p:sp>
        <p:nvSpPr>
          <p:cNvPr id="161" name="Google Shape;161;p10"/>
          <p:cNvSpPr/>
          <p:nvPr/>
        </p:nvSpPr>
        <p:spPr>
          <a:xfrm>
            <a:off x="9902952" y="1874519"/>
            <a:ext cx="1481400" cy="255900"/>
          </a:xfrm>
          <a:prstGeom prst="rect">
            <a:avLst/>
          </a:prstGeom>
          <a:solidFill>
            <a:srgbClr val="1421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2" name="Google Shape;162;p10"/>
          <p:cNvCxnSpPr/>
          <p:nvPr/>
        </p:nvCxnSpPr>
        <p:spPr>
          <a:xfrm>
            <a:off x="9902952" y="1874519"/>
            <a:ext cx="0" cy="255000"/>
          </a:xfrm>
          <a:prstGeom prst="straightConnector1">
            <a:avLst/>
          </a:prstGeom>
          <a:noFill/>
          <a:ln cap="flat" cmpd="sng" w="19050">
            <a:solidFill>
              <a:srgbClr val="EDE5D3"/>
            </a:solidFill>
            <a:prstDash val="solid"/>
            <a:round/>
            <a:headEnd len="sm" w="sm" type="none"/>
            <a:tailEnd len="sm" w="sm" type="none"/>
          </a:ln>
        </p:spPr>
      </p:cxnSp>
      <p:sp>
        <p:nvSpPr>
          <p:cNvPr id="163" name="Google Shape;163;p10"/>
          <p:cNvSpPr/>
          <p:nvPr/>
        </p:nvSpPr>
        <p:spPr>
          <a:xfrm>
            <a:off x="9902952" y="1911095"/>
            <a:ext cx="1481400" cy="204300"/>
          </a:xfrm>
          <a:prstGeom prst="rect">
            <a:avLst/>
          </a:prstGeom>
          <a:noFill/>
          <a:ln>
            <a:noFill/>
          </a:ln>
        </p:spPr>
        <p:txBody>
          <a:bodyPr anchorCtr="0" anchor="t" bIns="0" lIns="0" spcFirstLastPara="1" rIns="0" wrap="square" tIns="0">
            <a:noAutofit/>
          </a:bodyPr>
          <a:lstStyle/>
          <a:p>
            <a:pPr indent="0" lvl="0" marL="0" marR="0" rtl="0" algn="ctr">
              <a:lnSpc>
                <a:spcPct val="140059"/>
              </a:lnSpc>
              <a:spcBef>
                <a:spcPts val="0"/>
              </a:spcBef>
              <a:spcAft>
                <a:spcPts val="0"/>
              </a:spcAft>
              <a:buClr>
                <a:srgbClr val="F7F2E8"/>
              </a:buClr>
              <a:buSzPts val="1016"/>
              <a:buFont typeface="DM Sans"/>
              <a:buNone/>
            </a:pPr>
            <a:r>
              <a:rPr b="1" i="0" lang="en-US" sz="1016" u="none" cap="none" strike="noStrike">
                <a:solidFill>
                  <a:srgbClr val="F7F2E8"/>
                </a:solidFill>
                <a:latin typeface="DM Sans"/>
                <a:ea typeface="DM Sans"/>
                <a:cs typeface="DM Sans"/>
                <a:sym typeface="DM Sans"/>
              </a:rPr>
              <a:t>Duke Market Fit</a:t>
            </a:r>
            <a:endParaRPr b="0" i="0" sz="1016" u="none" cap="none" strike="noStrike">
              <a:solidFill>
                <a:schemeClr val="dk1"/>
              </a:solidFill>
              <a:latin typeface="Calibri"/>
              <a:ea typeface="Calibri"/>
              <a:cs typeface="Calibri"/>
              <a:sym typeface="Calibri"/>
            </a:endParaRPr>
          </a:p>
        </p:txBody>
      </p:sp>
      <p:graphicFrame>
        <p:nvGraphicFramePr>
          <p:cNvPr id="164" name="Google Shape;164;p10"/>
          <p:cNvGraphicFramePr/>
          <p:nvPr/>
        </p:nvGraphicFramePr>
        <p:xfrm>
          <a:off x="813816" y="2130552"/>
          <a:ext cx="3000000" cy="3000000"/>
        </p:xfrm>
        <a:graphic>
          <a:graphicData uri="http://schemas.openxmlformats.org/drawingml/2006/table">
            <a:tbl>
              <a:tblPr>
                <a:noFill/>
                <a:tableStyleId>{FA221050-2FFC-4BB8-9BD3-23F97D68F339}</a:tableStyleId>
              </a:tblPr>
              <a:tblGrid>
                <a:gridCol w="1682500"/>
                <a:gridCol w="493775"/>
                <a:gridCol w="493775"/>
                <a:gridCol w="493775"/>
                <a:gridCol w="493775"/>
                <a:gridCol w="493775"/>
                <a:gridCol w="493775"/>
                <a:gridCol w="493775"/>
                <a:gridCol w="493775"/>
                <a:gridCol w="493775"/>
                <a:gridCol w="493775"/>
                <a:gridCol w="493775"/>
                <a:gridCol w="493775"/>
                <a:gridCol w="493775"/>
                <a:gridCol w="493775"/>
                <a:gridCol w="493775"/>
                <a:gridCol w="493775"/>
                <a:gridCol w="493775"/>
                <a:gridCol w="493775"/>
              </a:tblGrid>
              <a:tr h="365750">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solidFill>
                            <a:srgbClr val="F7F2E8"/>
                          </a:solidFill>
                          <a:latin typeface="DM Sans"/>
                          <a:ea typeface="DM Sans"/>
                          <a:cs typeface="DM Sans"/>
                          <a:sym typeface="DM Sans"/>
                        </a:rPr>
                        <a:t>Competitor</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14213D"/>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US" sz="700" u="none" cap="none" strike="noStrike">
                          <a:solidFill>
                            <a:srgbClr val="F7F2E8"/>
                          </a:solidFill>
                          <a:latin typeface="DM Sans"/>
                          <a:ea typeface="DM Sans"/>
                          <a:cs typeface="DM Sans"/>
                          <a:sym typeface="DM Sans"/>
                        </a:rPr>
                        <a:t>Money back</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14213D"/>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US" sz="700" u="none" cap="none" strike="noStrike">
                          <a:solidFill>
                            <a:srgbClr val="F7F2E8"/>
                          </a:solidFill>
                          <a:latin typeface="DM Sans"/>
                          <a:ea typeface="DM Sans"/>
                          <a:cs typeface="DM Sans"/>
                          <a:sym typeface="DM Sans"/>
                        </a:rPr>
                        <a:t>Ease to sell</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14213D"/>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US" sz="700" u="none" cap="none" strike="noStrike">
                          <a:solidFill>
                            <a:srgbClr val="F7F2E8"/>
                          </a:solidFill>
                          <a:latin typeface="DM Sans"/>
                          <a:ea typeface="DM Sans"/>
                          <a:cs typeface="DM Sans"/>
                          <a:sym typeface="DM Sans"/>
                        </a:rPr>
                        <a:t>Low fees</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B84A14"/>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US" sz="700" u="none" cap="none" strike="noStrike">
                          <a:solidFill>
                            <a:srgbClr val="F7F2E8"/>
                          </a:solidFill>
                          <a:latin typeface="DM Sans"/>
                          <a:ea typeface="DM Sans"/>
                          <a:cs typeface="DM Sans"/>
                          <a:sym typeface="DM Sans"/>
                        </a:rPr>
                        <a:t>Sure payout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14213D"/>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US" sz="700" u="none" cap="none" strike="noStrike">
                          <a:solidFill>
                            <a:srgbClr val="F7F2E8"/>
                          </a:solidFill>
                          <a:latin typeface="DM Sans"/>
                          <a:ea typeface="DM Sans"/>
                          <a:cs typeface="DM Sans"/>
                          <a:sym typeface="DM Sans"/>
                        </a:rPr>
                        <a:t>Summer hold</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14213D"/>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US" sz="700" u="none" cap="none" strike="noStrike">
                          <a:solidFill>
                            <a:srgbClr val="F7F2E8"/>
                          </a:solidFill>
                          <a:latin typeface="DM Sans"/>
                          <a:ea typeface="DM Sans"/>
                          <a:cs typeface="DM Sans"/>
                          <a:sym typeface="DM Sans"/>
                        </a:rPr>
                        <a:t>Pickup</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14213D"/>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US" sz="700" u="none" cap="none" strike="noStrike">
                          <a:solidFill>
                            <a:srgbClr val="F7F2E8"/>
                          </a:solidFill>
                          <a:latin typeface="DM Sans"/>
                          <a:ea typeface="DM Sans"/>
                          <a:cs typeface="DM Sans"/>
                          <a:sym typeface="DM Sans"/>
                        </a:rPr>
                        <a:t>Delivery</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14213D"/>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US" sz="700" u="none" cap="none" strike="noStrike">
                          <a:solidFill>
                            <a:srgbClr val="F7F2E8"/>
                          </a:solidFill>
                          <a:latin typeface="DM Sans"/>
                          <a:ea typeface="DM Sans"/>
                          <a:cs typeface="DM Sans"/>
                          <a:sym typeface="DM Sans"/>
                        </a:rPr>
                        <a:t>Big items</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14213D"/>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US" sz="700" u="none" cap="none" strike="noStrike">
                          <a:solidFill>
                            <a:srgbClr val="F7F2E8"/>
                          </a:solidFill>
                          <a:latin typeface="DM Sans"/>
                          <a:ea typeface="DM Sans"/>
                          <a:cs typeface="DM Sans"/>
                          <a:sym typeface="DM Sans"/>
                        </a:rPr>
                        <a:t>August supply</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14213D"/>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US" sz="700" u="none" cap="none" strike="noStrike">
                          <a:solidFill>
                            <a:srgbClr val="F7F2E8"/>
                          </a:solidFill>
                          <a:latin typeface="DM Sans"/>
                          <a:ea typeface="DM Sans"/>
                          <a:cs typeface="DM Sans"/>
                          <a:sym typeface="DM Sans"/>
                        </a:rPr>
                        <a:t>Low price</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14213D"/>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US" sz="700" u="none" cap="none" strike="noStrike">
                          <a:solidFill>
                            <a:srgbClr val="F7F2E8"/>
                          </a:solidFill>
                          <a:latin typeface="DM Sans"/>
                          <a:ea typeface="DM Sans"/>
                          <a:cs typeface="DM Sans"/>
                          <a:sym typeface="DM Sans"/>
                        </a:rPr>
                        <a:t>Easy for buyer</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B84A14"/>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US" sz="700" u="none" cap="none" strike="noStrike">
                          <a:solidFill>
                            <a:srgbClr val="F7F2E8"/>
                          </a:solidFill>
                          <a:latin typeface="DM Sans"/>
                          <a:ea typeface="DM Sans"/>
                          <a:cs typeface="DM Sans"/>
                          <a:sym typeface="DM Sans"/>
                        </a:rPr>
                        <a:t>Reserve early</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14213D"/>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US" sz="700" u="none" cap="none" strike="noStrike">
                          <a:solidFill>
                            <a:srgbClr val="F7F2E8"/>
                          </a:solidFill>
                          <a:latin typeface="DM Sans"/>
                          <a:ea typeface="DM Sans"/>
                          <a:cs typeface="DM Sans"/>
                          <a:sym typeface="DM Sans"/>
                        </a:rPr>
                        <a:t>Quality check</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14213D"/>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US" sz="700" u="none" cap="none" strike="noStrike">
                          <a:solidFill>
                            <a:srgbClr val="F7F2E8"/>
                          </a:solidFill>
                          <a:latin typeface="DM Sans"/>
                          <a:ea typeface="DM Sans"/>
                          <a:cs typeface="DM Sans"/>
                          <a:sym typeface="DM Sans"/>
                        </a:rPr>
                        <a:t>Verified students</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14213D"/>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US" sz="700" u="none" cap="none" strike="noStrike">
                          <a:solidFill>
                            <a:srgbClr val="F7F2E8"/>
                          </a:solidFill>
                          <a:latin typeface="DM Sans"/>
                          <a:ea typeface="DM Sans"/>
                          <a:cs typeface="DM Sans"/>
                          <a:sym typeface="DM Sans"/>
                        </a:rPr>
                        <a:t>Safety</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14213D"/>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US" sz="700" u="none" cap="none" strike="noStrike">
                          <a:solidFill>
                            <a:srgbClr val="F7F2E8"/>
                          </a:solidFill>
                          <a:latin typeface="DM Sans"/>
                          <a:ea typeface="DM Sans"/>
                          <a:cs typeface="DM Sans"/>
                          <a:sym typeface="DM Sans"/>
                        </a:rPr>
                        <a:t>At Duke</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14213D"/>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US" sz="700" u="none" cap="none" strike="noStrike">
                          <a:solidFill>
                            <a:srgbClr val="F7F2E8"/>
                          </a:solidFill>
                          <a:latin typeface="DM Sans"/>
                          <a:ea typeface="DM Sans"/>
                          <a:cs typeface="DM Sans"/>
                          <a:sym typeface="DM Sans"/>
                        </a:rPr>
                        <a:t>User base</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14213D"/>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US" sz="700" u="none" cap="none" strike="noStrike">
                          <a:solidFill>
                            <a:srgbClr val="F7F2E8"/>
                          </a:solidFill>
                          <a:latin typeface="DM Sans"/>
                          <a:ea typeface="DM Sans"/>
                          <a:cs typeface="DM Sans"/>
                          <a:sym typeface="DM Sans"/>
                        </a:rPr>
                        <a:t>Landfill</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14213D"/>
                    </a:solidFill>
                  </a:tcPr>
                </a:tc>
              </a:tr>
              <a:tr h="173725">
                <a:tc>
                  <a:txBody>
                    <a:bodyPr/>
                    <a:lstStyle/>
                    <a:p>
                      <a:pPr indent="0" lvl="0" marL="0" marR="0" rtl="0" algn="l">
                        <a:lnSpc>
                          <a:spcPct val="100000"/>
                        </a:lnSpc>
                        <a:spcBef>
                          <a:spcPts val="0"/>
                        </a:spcBef>
                        <a:spcAft>
                          <a:spcPts val="0"/>
                        </a:spcAft>
                        <a:buClr>
                          <a:srgbClr val="000000"/>
                        </a:buClr>
                        <a:buSzPts val="850"/>
                        <a:buFont typeface="Arial"/>
                        <a:buNone/>
                      </a:pPr>
                      <a:r>
                        <a:rPr b="1" lang="en-US" sz="850" u="none" cap="none" strike="noStrike">
                          <a:solidFill>
                            <a:srgbClr val="14213D"/>
                          </a:solidFill>
                          <a:latin typeface="DM Sans"/>
                          <a:ea typeface="DM Sans"/>
                          <a:cs typeface="DM Sans"/>
                          <a:sym typeface="DM Sans"/>
                        </a:rPr>
                        <a:t>Relay (goal)</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EDE5D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EDE5D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EDE5D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EDE5D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EDE5D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EDE5D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EDE5D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EDE5D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EDE5D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EDE5D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EDE5D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EDE5D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EDE5D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EDE5D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EDE5D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EDE5D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EDE5D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EDE5D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EDE5D3"/>
                    </a:solidFill>
                  </a:tcPr>
                </a:tc>
              </a:tr>
              <a:tr h="173725">
                <a:tc>
                  <a:txBody>
                    <a:bodyPr/>
                    <a:lstStyle/>
                    <a:p>
                      <a:pPr indent="0" lvl="0" marL="0" marR="0" rtl="0" algn="l">
                        <a:lnSpc>
                          <a:spcPct val="100000"/>
                        </a:lnSpc>
                        <a:spcBef>
                          <a:spcPts val="0"/>
                        </a:spcBef>
                        <a:spcAft>
                          <a:spcPts val="0"/>
                        </a:spcAft>
                        <a:buClr>
                          <a:srgbClr val="000000"/>
                        </a:buClr>
                        <a:buSzPts val="850"/>
                        <a:buFont typeface="Arial"/>
                        <a:buNone/>
                      </a:pPr>
                      <a:r>
                        <a:rPr b="0" lang="en-US" sz="850" u="none" cap="none" strike="noStrike">
                          <a:solidFill>
                            <a:srgbClr val="14213D"/>
                          </a:solidFill>
                          <a:latin typeface="DM Sans"/>
                          <a:ea typeface="DM Sans"/>
                          <a:cs typeface="DM Sans"/>
                          <a:sym typeface="DM Sans"/>
                        </a:rPr>
                        <a:t>Facebook Marketplace</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F9D9C4"/>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r>
              <a:tr h="173725">
                <a:tc>
                  <a:txBody>
                    <a:bodyPr/>
                    <a:lstStyle/>
                    <a:p>
                      <a:pPr indent="0" lvl="0" marL="0" marR="0" rtl="0" algn="l">
                        <a:lnSpc>
                          <a:spcPct val="100000"/>
                        </a:lnSpc>
                        <a:spcBef>
                          <a:spcPts val="0"/>
                        </a:spcBef>
                        <a:spcAft>
                          <a:spcPts val="0"/>
                        </a:spcAft>
                        <a:buClr>
                          <a:srgbClr val="000000"/>
                        </a:buClr>
                        <a:buSzPts val="850"/>
                        <a:buFont typeface="Arial"/>
                        <a:buNone/>
                      </a:pPr>
                      <a:r>
                        <a:rPr b="0" lang="en-US" sz="850" u="none" cap="none" strike="noStrike">
                          <a:solidFill>
                            <a:srgbClr val="14213D"/>
                          </a:solidFill>
                          <a:latin typeface="DM Sans"/>
                          <a:ea typeface="DM Sans"/>
                          <a:cs typeface="DM Sans"/>
                          <a:sym typeface="DM Sans"/>
                        </a:rPr>
                        <a:t>OfferUp</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F9D9C4"/>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r>
              <a:tr h="173725">
                <a:tc>
                  <a:txBody>
                    <a:bodyPr/>
                    <a:lstStyle/>
                    <a:p>
                      <a:pPr indent="0" lvl="0" marL="0" marR="0" rtl="0" algn="l">
                        <a:lnSpc>
                          <a:spcPct val="100000"/>
                        </a:lnSpc>
                        <a:spcBef>
                          <a:spcPts val="0"/>
                        </a:spcBef>
                        <a:spcAft>
                          <a:spcPts val="0"/>
                        </a:spcAft>
                        <a:buClr>
                          <a:srgbClr val="000000"/>
                        </a:buClr>
                        <a:buSzPts val="850"/>
                        <a:buFont typeface="Arial"/>
                        <a:buNone/>
                      </a:pPr>
                      <a:r>
                        <a:rPr b="0" lang="en-US" sz="850" u="none" cap="none" strike="noStrike">
                          <a:solidFill>
                            <a:srgbClr val="14213D"/>
                          </a:solidFill>
                          <a:latin typeface="DM Sans"/>
                          <a:ea typeface="DM Sans"/>
                          <a:cs typeface="DM Sans"/>
                          <a:sym typeface="DM Sans"/>
                        </a:rPr>
                        <a:t>Craigslist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F9D9C4"/>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r>
              <a:tr h="173725">
                <a:tc>
                  <a:txBody>
                    <a:bodyPr/>
                    <a:lstStyle/>
                    <a:p>
                      <a:pPr indent="0" lvl="0" marL="0" marR="0" rtl="0" algn="l">
                        <a:lnSpc>
                          <a:spcPct val="100000"/>
                        </a:lnSpc>
                        <a:spcBef>
                          <a:spcPts val="0"/>
                        </a:spcBef>
                        <a:spcAft>
                          <a:spcPts val="0"/>
                        </a:spcAft>
                        <a:buClr>
                          <a:srgbClr val="000000"/>
                        </a:buClr>
                        <a:buSzPts val="850"/>
                        <a:buFont typeface="Arial"/>
                        <a:buNone/>
                      </a:pPr>
                      <a:r>
                        <a:rPr b="0" lang="en-US" sz="850" u="none" cap="none" strike="noStrike">
                          <a:solidFill>
                            <a:srgbClr val="14213D"/>
                          </a:solidFill>
                          <a:latin typeface="DM Sans"/>
                          <a:ea typeface="DM Sans"/>
                          <a:cs typeface="DM Sans"/>
                          <a:sym typeface="DM Sans"/>
                        </a:rPr>
                        <a:t>eBay</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r>
              <a:tr h="173725">
                <a:tc>
                  <a:txBody>
                    <a:bodyPr/>
                    <a:lstStyle/>
                    <a:p>
                      <a:pPr indent="0" lvl="0" marL="0" marR="0" rtl="0" algn="l">
                        <a:lnSpc>
                          <a:spcPct val="100000"/>
                        </a:lnSpc>
                        <a:spcBef>
                          <a:spcPts val="0"/>
                        </a:spcBef>
                        <a:spcAft>
                          <a:spcPts val="0"/>
                        </a:spcAft>
                        <a:buClr>
                          <a:srgbClr val="000000"/>
                        </a:buClr>
                        <a:buSzPts val="850"/>
                        <a:buFont typeface="Arial"/>
                        <a:buNone/>
                      </a:pPr>
                      <a:r>
                        <a:rPr b="0" lang="en-US" sz="850" u="none" cap="none" strike="noStrike">
                          <a:solidFill>
                            <a:srgbClr val="14213D"/>
                          </a:solidFill>
                          <a:latin typeface="DM Sans"/>
                          <a:ea typeface="DM Sans"/>
                          <a:cs typeface="DM Sans"/>
                          <a:sym typeface="DM Sans"/>
                        </a:rPr>
                        <a:t>Dukelist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F9D9C4"/>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r>
              <a:tr h="173725">
                <a:tc>
                  <a:txBody>
                    <a:bodyPr/>
                    <a:lstStyle/>
                    <a:p>
                      <a:pPr indent="0" lvl="0" marL="0" marR="0" rtl="0" algn="l">
                        <a:lnSpc>
                          <a:spcPct val="100000"/>
                        </a:lnSpc>
                        <a:spcBef>
                          <a:spcPts val="0"/>
                        </a:spcBef>
                        <a:spcAft>
                          <a:spcPts val="0"/>
                        </a:spcAft>
                        <a:buClr>
                          <a:srgbClr val="000000"/>
                        </a:buClr>
                        <a:buSzPts val="850"/>
                        <a:buFont typeface="Arial"/>
                        <a:buNone/>
                      </a:pPr>
                      <a:r>
                        <a:rPr b="0" lang="en-US" sz="850" u="none" cap="none" strike="noStrike">
                          <a:solidFill>
                            <a:srgbClr val="14213D"/>
                          </a:solidFill>
                          <a:latin typeface="DM Sans"/>
                          <a:ea typeface="DM Sans"/>
                          <a:cs typeface="DM Sans"/>
                          <a:sym typeface="DM Sans"/>
                        </a:rPr>
                        <a:t>Small campus apps</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F9D9C4"/>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F9D9C4"/>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r>
              <a:tr h="173725">
                <a:tc>
                  <a:txBody>
                    <a:bodyPr/>
                    <a:lstStyle/>
                    <a:p>
                      <a:pPr indent="0" lvl="0" marL="0" marR="0" rtl="0" algn="l">
                        <a:lnSpc>
                          <a:spcPct val="100000"/>
                        </a:lnSpc>
                        <a:spcBef>
                          <a:spcPts val="0"/>
                        </a:spcBef>
                        <a:spcAft>
                          <a:spcPts val="0"/>
                        </a:spcAft>
                        <a:buClr>
                          <a:srgbClr val="000000"/>
                        </a:buClr>
                        <a:buSzPts val="850"/>
                        <a:buFont typeface="Arial"/>
                        <a:buNone/>
                      </a:pPr>
                      <a:r>
                        <a:rPr b="0" lang="en-US" sz="850" u="none" cap="none" strike="noStrike">
                          <a:solidFill>
                            <a:srgbClr val="14213D"/>
                          </a:solidFill>
                          <a:latin typeface="DM Sans"/>
                          <a:ea typeface="DM Sans"/>
                          <a:cs typeface="DM Sans"/>
                          <a:sym typeface="DM Sans"/>
                        </a:rPr>
                        <a:t>Group chats / Instagram</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F9D9C4"/>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r>
              <a:tr h="173725">
                <a:tc>
                  <a:txBody>
                    <a:bodyPr/>
                    <a:lstStyle/>
                    <a:p>
                      <a:pPr indent="0" lvl="0" marL="0" marR="0" rtl="0" algn="l">
                        <a:lnSpc>
                          <a:spcPct val="100000"/>
                        </a:lnSpc>
                        <a:spcBef>
                          <a:spcPts val="0"/>
                        </a:spcBef>
                        <a:spcAft>
                          <a:spcPts val="0"/>
                        </a:spcAft>
                        <a:buClr>
                          <a:srgbClr val="000000"/>
                        </a:buClr>
                        <a:buSzPts val="850"/>
                        <a:buFont typeface="Arial"/>
                        <a:buNone/>
                      </a:pPr>
                      <a:r>
                        <a:rPr b="0" lang="en-US" sz="850" u="none" cap="none" strike="noStrike">
                          <a:solidFill>
                            <a:srgbClr val="14213D"/>
                          </a:solidFill>
                          <a:latin typeface="DM Sans"/>
                          <a:ea typeface="DM Sans"/>
                          <a:cs typeface="DM Sans"/>
                          <a:sym typeface="DM Sans"/>
                        </a:rPr>
                        <a:t>Campus Swap</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r>
              <a:tr h="173725">
                <a:tc>
                  <a:txBody>
                    <a:bodyPr/>
                    <a:lstStyle/>
                    <a:p>
                      <a:pPr indent="0" lvl="0" marL="0" marR="0" rtl="0" algn="l">
                        <a:lnSpc>
                          <a:spcPct val="100000"/>
                        </a:lnSpc>
                        <a:spcBef>
                          <a:spcPts val="0"/>
                        </a:spcBef>
                        <a:spcAft>
                          <a:spcPts val="0"/>
                        </a:spcAft>
                        <a:buClr>
                          <a:srgbClr val="000000"/>
                        </a:buClr>
                        <a:buSzPts val="850"/>
                        <a:buFont typeface="Arial"/>
                        <a:buNone/>
                      </a:pPr>
                      <a:r>
                        <a:rPr b="0" lang="en-US" sz="850" u="none" cap="none" strike="noStrike">
                          <a:solidFill>
                            <a:srgbClr val="14213D"/>
                          </a:solidFill>
                          <a:latin typeface="DM Sans"/>
                          <a:ea typeface="DM Sans"/>
                          <a:cs typeface="DM Sans"/>
                          <a:sym typeface="DM Sans"/>
                        </a:rPr>
                        <a:t>Campus Reclaimed</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F9D9C4"/>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r>
              <a:tr h="173725">
                <a:tc>
                  <a:txBody>
                    <a:bodyPr/>
                    <a:lstStyle/>
                    <a:p>
                      <a:pPr indent="0" lvl="0" marL="0" marR="0" rtl="0" algn="l">
                        <a:lnSpc>
                          <a:spcPct val="100000"/>
                        </a:lnSpc>
                        <a:spcBef>
                          <a:spcPts val="0"/>
                        </a:spcBef>
                        <a:spcAft>
                          <a:spcPts val="0"/>
                        </a:spcAft>
                        <a:buClr>
                          <a:srgbClr val="000000"/>
                        </a:buClr>
                        <a:buSzPts val="850"/>
                        <a:buFont typeface="Arial"/>
                        <a:buNone/>
                      </a:pPr>
                      <a:r>
                        <a:rPr b="0" lang="en-US" sz="850" u="none" cap="none" strike="noStrike">
                          <a:solidFill>
                            <a:srgbClr val="14213D"/>
                          </a:solidFill>
                          <a:latin typeface="DM Sans"/>
                          <a:ea typeface="DM Sans"/>
                          <a:cs typeface="DM Sans"/>
                          <a:sym typeface="DM Sans"/>
                        </a:rPr>
                        <a:t>Storage Scholars</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F9D9C4"/>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r>
              <a:tr h="173725">
                <a:tc>
                  <a:txBody>
                    <a:bodyPr/>
                    <a:lstStyle/>
                    <a:p>
                      <a:pPr indent="0" lvl="0" marL="0" marR="0" rtl="0" algn="l">
                        <a:lnSpc>
                          <a:spcPct val="100000"/>
                        </a:lnSpc>
                        <a:spcBef>
                          <a:spcPts val="0"/>
                        </a:spcBef>
                        <a:spcAft>
                          <a:spcPts val="0"/>
                        </a:spcAft>
                        <a:buClr>
                          <a:srgbClr val="000000"/>
                        </a:buClr>
                        <a:buSzPts val="850"/>
                        <a:buFont typeface="Arial"/>
                        <a:buNone/>
                      </a:pPr>
                      <a:r>
                        <a:rPr b="0" lang="en-US" sz="850" u="none" cap="none" strike="noStrike">
                          <a:solidFill>
                            <a:srgbClr val="14213D"/>
                          </a:solidFill>
                          <a:latin typeface="DM Sans"/>
                          <a:ea typeface="DM Sans"/>
                          <a:cs typeface="DM Sans"/>
                          <a:sym typeface="DM Sans"/>
                        </a:rPr>
                        <a:t>Collegeboxes (U-Haul)</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F9D9C4"/>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F9D9C4"/>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r>
              <a:tr h="173725">
                <a:tc>
                  <a:txBody>
                    <a:bodyPr/>
                    <a:lstStyle/>
                    <a:p>
                      <a:pPr indent="0" lvl="0" marL="0" marR="0" rtl="0" algn="l">
                        <a:lnSpc>
                          <a:spcPct val="100000"/>
                        </a:lnSpc>
                        <a:spcBef>
                          <a:spcPts val="0"/>
                        </a:spcBef>
                        <a:spcAft>
                          <a:spcPts val="0"/>
                        </a:spcAft>
                        <a:buClr>
                          <a:srgbClr val="000000"/>
                        </a:buClr>
                        <a:buSzPts val="850"/>
                        <a:buFont typeface="Arial"/>
                        <a:buNone/>
                      </a:pPr>
                      <a:r>
                        <a:rPr b="0" lang="en-US" sz="850" u="none" cap="none" strike="noStrike">
                          <a:solidFill>
                            <a:srgbClr val="14213D"/>
                          </a:solidFill>
                          <a:latin typeface="DM Sans"/>
                          <a:ea typeface="DM Sans"/>
                          <a:cs typeface="DM Sans"/>
                          <a:sym typeface="DM Sans"/>
                        </a:rPr>
                        <a:t>Self-storage units</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r>
              <a:tr h="173725">
                <a:tc>
                  <a:txBody>
                    <a:bodyPr/>
                    <a:lstStyle/>
                    <a:p>
                      <a:pPr indent="0" lvl="0" marL="0" marR="0" rtl="0" algn="l">
                        <a:lnSpc>
                          <a:spcPct val="100000"/>
                        </a:lnSpc>
                        <a:spcBef>
                          <a:spcPts val="0"/>
                        </a:spcBef>
                        <a:spcAft>
                          <a:spcPts val="0"/>
                        </a:spcAft>
                        <a:buClr>
                          <a:srgbClr val="000000"/>
                        </a:buClr>
                        <a:buSzPts val="850"/>
                        <a:buFont typeface="Arial"/>
                        <a:buNone/>
                      </a:pPr>
                      <a:r>
                        <a:rPr b="0" lang="en-US" sz="850" u="none" cap="none" strike="noStrike">
                          <a:solidFill>
                            <a:srgbClr val="14213D"/>
                          </a:solidFill>
                          <a:latin typeface="DM Sans"/>
                          <a:ea typeface="DM Sans"/>
                          <a:cs typeface="DM Sans"/>
                          <a:sym typeface="DM Sans"/>
                        </a:rPr>
                        <a:t>Duke donation programs</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solidFill>
                      <a:srgbClr val="F9D9C4"/>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r>
              <a:tr h="173725">
                <a:tc>
                  <a:txBody>
                    <a:bodyPr/>
                    <a:lstStyle/>
                    <a:p>
                      <a:pPr indent="0" lvl="0" marL="0" marR="0" rtl="0" algn="l">
                        <a:lnSpc>
                          <a:spcPct val="100000"/>
                        </a:lnSpc>
                        <a:spcBef>
                          <a:spcPts val="0"/>
                        </a:spcBef>
                        <a:spcAft>
                          <a:spcPts val="0"/>
                        </a:spcAft>
                        <a:buClr>
                          <a:srgbClr val="000000"/>
                        </a:buClr>
                        <a:buSzPts val="850"/>
                        <a:buFont typeface="Arial"/>
                        <a:buNone/>
                      </a:pPr>
                      <a:r>
                        <a:rPr b="0" lang="en-US" sz="850" u="none" cap="none" strike="noStrike">
                          <a:solidFill>
                            <a:srgbClr val="14213D"/>
                          </a:solidFill>
                          <a:latin typeface="DM Sans"/>
                          <a:ea typeface="DM Sans"/>
                          <a:cs typeface="DM Sans"/>
                          <a:sym typeface="DM Sans"/>
                        </a:rPr>
                        <a:t>Buying new</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b="0" lang="en-US" sz="1000" u="none" cap="none" strike="noStrike">
                          <a:solidFill>
                            <a:srgbClr val="14213D"/>
                          </a:solidFill>
                          <a:latin typeface="DM Sans"/>
                          <a:ea typeface="DM Sans"/>
                          <a:cs typeface="DM Sans"/>
                          <a:sym typeface="DM Sans"/>
                        </a:rPr>
                        <a:t>○</a:t>
                      </a:r>
                      <a:endParaRPr/>
                    </a:p>
                  </a:txBody>
                  <a:tcPr marT="0" marB="0" marR="27425" marL="27425" anchor="ctr">
                    <a:lnL cap="flat" cmpd="sng" w="12700">
                      <a:solidFill>
                        <a:srgbClr val="BDBAB2"/>
                      </a:solidFill>
                      <a:prstDash val="solid"/>
                      <a:round/>
                      <a:headEnd len="sm" w="sm" type="none"/>
                      <a:tailEnd len="sm" w="sm" type="none"/>
                    </a:lnL>
                    <a:lnR cap="flat" cmpd="sng" w="12700">
                      <a:solidFill>
                        <a:srgbClr val="BDBAB2"/>
                      </a:solidFill>
                      <a:prstDash val="solid"/>
                      <a:round/>
                      <a:headEnd len="sm" w="sm" type="none"/>
                      <a:tailEnd len="sm" w="sm" type="none"/>
                    </a:lnR>
                    <a:lnT cap="flat" cmpd="sng" w="12700">
                      <a:solidFill>
                        <a:srgbClr val="BDBAB2"/>
                      </a:solidFill>
                      <a:prstDash val="solid"/>
                      <a:round/>
                      <a:headEnd len="sm" w="sm" type="none"/>
                      <a:tailEnd len="sm" w="sm" type="none"/>
                    </a:lnT>
                    <a:lnB cap="flat" cmpd="sng" w="12700">
                      <a:solidFill>
                        <a:srgbClr val="BDBAB2"/>
                      </a:solidFill>
                      <a:prstDash val="solid"/>
                      <a:round/>
                      <a:headEnd len="sm" w="sm" type="none"/>
                      <a:tailEnd len="sm" w="sm" type="none"/>
                    </a:lnB>
                  </a:tcPr>
                </a:tc>
              </a:tr>
            </a:tbl>
          </a:graphicData>
        </a:graphic>
      </p:graphicFrame>
      <p:sp>
        <p:nvSpPr>
          <p:cNvPr id="165" name="Google Shape;165;p10"/>
          <p:cNvSpPr/>
          <p:nvPr/>
        </p:nvSpPr>
        <p:spPr>
          <a:xfrm>
            <a:off x="812800" y="5166360"/>
            <a:ext cx="10883400" cy="21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4213D"/>
                </a:solidFill>
                <a:latin typeface="DM Sans"/>
                <a:ea typeface="DM Sans"/>
                <a:cs typeface="DM Sans"/>
                <a:sym typeface="DM Sans"/>
              </a:rPr>
              <a:t>Key: </a:t>
            </a:r>
            <a:r>
              <a:rPr b="0" i="0" lang="en-US" sz="900" u="none" cap="none" strike="noStrike">
                <a:solidFill>
                  <a:srgbClr val="14213D"/>
                </a:solidFill>
                <a:latin typeface="DM Sans"/>
                <a:ea typeface="DM Sans"/>
                <a:cs typeface="DM Sans"/>
                <a:sym typeface="DM Sans"/>
              </a:rPr>
              <a:t>● strong · ◕ moderate-high · ◐ moderate-low · ◔ low · ○ none     </a:t>
            </a:r>
            <a:r>
              <a:rPr b="1" i="0" lang="en-US" sz="900" u="none" cap="none" strike="noStrike">
                <a:solidFill>
                  <a:srgbClr val="B84A14"/>
                </a:solidFill>
                <a:latin typeface="DM Sans"/>
                <a:ea typeface="DM Sans"/>
                <a:cs typeface="DM Sans"/>
                <a:sym typeface="DM Sans"/>
              </a:rPr>
              <a:t>Orange header</a:t>
            </a:r>
            <a:r>
              <a:rPr b="0" i="0" lang="en-US" sz="900" u="none" cap="none" strike="noStrike">
                <a:solidFill>
                  <a:srgbClr val="14213D"/>
                </a:solidFill>
                <a:latin typeface="DM Sans"/>
                <a:ea typeface="DM Sans"/>
                <a:cs typeface="DM Sans"/>
                <a:sym typeface="DM Sans"/>
              </a:rPr>
              <a:t> = criteria we added   </a:t>
            </a:r>
            <a:r>
              <a:rPr b="1" i="0" lang="en-US" sz="900" u="none" cap="none" strike="noStrike">
                <a:solidFill>
                  <a:srgbClr val="B84A14"/>
                </a:solidFill>
                <a:latin typeface="DM Sans"/>
                <a:ea typeface="DM Sans"/>
                <a:cs typeface="DM Sans"/>
                <a:sym typeface="DM Sans"/>
              </a:rPr>
              <a:t>Orange cell</a:t>
            </a:r>
            <a:r>
              <a:rPr b="0" i="0" lang="en-US" sz="900" u="none" cap="none" strike="noStrike">
                <a:solidFill>
                  <a:srgbClr val="14213D"/>
                </a:solidFill>
                <a:latin typeface="DM Sans"/>
                <a:ea typeface="DM Sans"/>
                <a:cs typeface="DM Sans"/>
                <a:sym typeface="DM Sans"/>
              </a:rPr>
              <a:t> = score we changed from the AI</a:t>
            </a:r>
            <a:endParaRPr/>
          </a:p>
        </p:txBody>
      </p:sp>
      <p:sp>
        <p:nvSpPr>
          <p:cNvPr id="166" name="Google Shape;166;p10"/>
          <p:cNvSpPr/>
          <p:nvPr/>
        </p:nvSpPr>
        <p:spPr>
          <a:xfrm>
            <a:off x="813816" y="5394960"/>
            <a:ext cx="10570500" cy="749700"/>
          </a:xfrm>
          <a:prstGeom prst="roundRect">
            <a:avLst>
              <a:gd fmla="val 16643" name="adj"/>
            </a:avLst>
          </a:prstGeom>
          <a:solidFill>
            <a:srgbClr val="1421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0"/>
          <p:cNvSpPr/>
          <p:nvPr/>
        </p:nvSpPr>
        <p:spPr>
          <a:xfrm>
            <a:off x="996696" y="5458968"/>
            <a:ext cx="10204800" cy="640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800"/>
              <a:buFont typeface="Arial"/>
              <a:buNone/>
            </a:pPr>
            <a:r>
              <a:rPr b="1" i="0" lang="en-US" sz="800" u="none" cap="none" strike="noStrike">
                <a:solidFill>
                  <a:srgbClr val="F0935A"/>
                </a:solidFill>
                <a:latin typeface="DM Sans"/>
                <a:ea typeface="DM Sans"/>
                <a:cs typeface="DM Sans"/>
                <a:sym typeface="DM Sans"/>
              </a:rPr>
              <a:t>WHAT WE CHANGED.  </a:t>
            </a:r>
            <a:r>
              <a:rPr b="1" i="0" lang="en-US" sz="800" u="none" cap="none" strike="noStrike">
                <a:solidFill>
                  <a:srgbClr val="F7F2E8"/>
                </a:solidFill>
                <a:latin typeface="DM Sans"/>
                <a:ea typeface="DM Sans"/>
                <a:cs typeface="DM Sans"/>
                <a:sym typeface="DM Sans"/>
              </a:rPr>
              <a:t>Added </a:t>
            </a:r>
            <a:r>
              <a:rPr b="0" i="0" lang="en-US" sz="800" u="none" cap="none" strike="noStrike">
                <a:solidFill>
                  <a:srgbClr val="F7F2E8"/>
                </a:solidFill>
                <a:latin typeface="DM Sans"/>
                <a:ea typeface="DM Sans"/>
                <a:cs typeface="DM Sans"/>
                <a:sym typeface="DM Sans"/>
              </a:rPr>
              <a:t>low fees for sellers (storage costs $300–$500 a summer) and easy for buyer (a buyer-quadrant axis). </a:t>
            </a:r>
            <a:r>
              <a:rPr b="1" i="0" lang="en-US" sz="800" u="none" cap="none" strike="noStrike">
                <a:solidFill>
                  <a:srgbClr val="F7F2E8"/>
                </a:solidFill>
                <a:latin typeface="DM Sans"/>
                <a:ea typeface="DM Sans"/>
                <a:cs typeface="DM Sans"/>
                <a:sym typeface="DM Sans"/>
              </a:rPr>
              <a:t>Removed </a:t>
            </a:r>
            <a:r>
              <a:rPr b="0" i="0" lang="en-US" sz="800" u="none" cap="none" strike="noStrike">
                <a:solidFill>
                  <a:srgbClr val="F7F2E8"/>
                </a:solidFill>
                <a:latin typeface="DM Sans"/>
                <a:ea typeface="DM Sans"/>
                <a:cs typeface="DM Sans"/>
                <a:sym typeface="DM Sans"/>
              </a:rPr>
              <a:t>multi-campus reach (we start at Duke).</a:t>
            </a:r>
            <a:endParaRPr/>
          </a:p>
          <a:p>
            <a:pPr indent="0" lvl="0" marL="0" marR="0" rtl="0" algn="l">
              <a:lnSpc>
                <a:spcPct val="115000"/>
              </a:lnSpc>
              <a:spcBef>
                <a:spcPts val="0"/>
              </a:spcBef>
              <a:spcAft>
                <a:spcPts val="0"/>
              </a:spcAft>
              <a:buClr>
                <a:srgbClr val="000000"/>
              </a:buClr>
              <a:buSzPts val="800"/>
              <a:buFont typeface="Arial"/>
              <a:buNone/>
            </a:pPr>
            <a:r>
              <a:rPr b="1" i="0" lang="en-US" sz="800" u="none" cap="none" strike="noStrike">
                <a:solidFill>
                  <a:srgbClr val="F7F2E8"/>
                </a:solidFill>
                <a:latin typeface="DM Sans"/>
                <a:ea typeface="DM Sans"/>
                <a:cs typeface="DM Sans"/>
                <a:sym typeface="DM Sans"/>
              </a:rPr>
              <a:t>Money back ◐→◔ </a:t>
            </a:r>
            <a:r>
              <a:rPr b="0" i="0" lang="en-US" sz="800" u="none" cap="none" strike="noStrike">
                <a:solidFill>
                  <a:srgbClr val="F7F2E8"/>
                </a:solidFill>
                <a:latin typeface="DM Sans"/>
                <a:ea typeface="DM Sans"/>
                <a:cs typeface="DM Sans"/>
                <a:sym typeface="DM Sans"/>
              </a:rPr>
              <a:t>for local marketplaces: May prices crash (a $100 table sells for ~$20).  </a:t>
            </a:r>
            <a:r>
              <a:rPr b="1" i="0" lang="en-US" sz="800" u="none" cap="none" strike="noStrike">
                <a:solidFill>
                  <a:srgbClr val="F7F2E8"/>
                </a:solidFill>
                <a:latin typeface="DM Sans"/>
                <a:ea typeface="DM Sans"/>
                <a:cs typeface="DM Sans"/>
                <a:sym typeface="DM Sans"/>
              </a:rPr>
              <a:t>Ease to sell ◔→○ </a:t>
            </a:r>
            <a:r>
              <a:rPr b="0" i="0" lang="en-US" sz="800" u="none" cap="none" strike="noStrike">
                <a:solidFill>
                  <a:srgbClr val="F7F2E8"/>
                </a:solidFill>
                <a:latin typeface="DM Sans"/>
                <a:ea typeface="DM Sans"/>
                <a:cs typeface="DM Sans"/>
                <a:sym typeface="DM Sans"/>
              </a:rPr>
              <a:t>for Storage Scholars / Collegeboxes: they don't sell.  </a:t>
            </a:r>
            <a:r>
              <a:rPr b="1" i="0" lang="en-US" sz="800" u="none" cap="none" strike="noStrike">
                <a:solidFill>
                  <a:srgbClr val="F7F2E8"/>
                </a:solidFill>
                <a:latin typeface="DM Sans"/>
                <a:ea typeface="DM Sans"/>
                <a:cs typeface="DM Sans"/>
                <a:sym typeface="DM Sans"/>
              </a:rPr>
              <a:t>At Duke </a:t>
            </a:r>
            <a:r>
              <a:rPr b="0" i="0" lang="en-US" sz="800" u="none" cap="none" strike="noStrike">
                <a:solidFill>
                  <a:srgbClr val="F7F2E8"/>
                </a:solidFill>
                <a:latin typeface="DM Sans"/>
                <a:ea typeface="DM Sans"/>
                <a:cs typeface="DM Sans"/>
                <a:sym typeface="DM Sans"/>
              </a:rPr>
              <a:t>lowered for Collegeboxes and campus apps: no current Duke presence found.</a:t>
            </a:r>
            <a:endParaRPr/>
          </a:p>
          <a:p>
            <a:pPr indent="0" lvl="0" marL="0" marR="0" rtl="0" algn="l">
              <a:lnSpc>
                <a:spcPct val="115000"/>
              </a:lnSpc>
              <a:spcBef>
                <a:spcPts val="0"/>
              </a:spcBef>
              <a:spcAft>
                <a:spcPts val="0"/>
              </a:spcAft>
              <a:buClr>
                <a:srgbClr val="000000"/>
              </a:buClr>
              <a:buSzPts val="800"/>
              <a:buFont typeface="Arial"/>
              <a:buNone/>
            </a:pPr>
            <a:r>
              <a:rPr b="1" i="0" lang="en-US" sz="800" u="none" cap="none" strike="noStrike">
                <a:solidFill>
                  <a:srgbClr val="F7F2E8"/>
                </a:solidFill>
                <a:latin typeface="DM Sans"/>
                <a:ea typeface="DM Sans"/>
                <a:cs typeface="DM Sans"/>
                <a:sym typeface="DM Sans"/>
              </a:rPr>
              <a:t>Big items ◐→◔ </a:t>
            </a:r>
            <a:r>
              <a:rPr b="0" i="0" lang="en-US" sz="800" u="none" cap="none" strike="noStrike">
                <a:solidFill>
                  <a:srgbClr val="F7F2E8"/>
                </a:solidFill>
                <a:latin typeface="DM Sans"/>
                <a:ea typeface="DM Sans"/>
                <a:cs typeface="DM Sans"/>
                <a:sym typeface="DM Sans"/>
              </a:rPr>
              <a:t>for Campus Reclaimed: its top furniture price is $99.  </a:t>
            </a:r>
            <a:r>
              <a:rPr b="1" i="0" lang="en-US" sz="800" u="none" cap="none" strike="noStrike">
                <a:solidFill>
                  <a:srgbClr val="F7F2E8"/>
                </a:solidFill>
                <a:latin typeface="DM Sans"/>
                <a:ea typeface="DM Sans"/>
                <a:cs typeface="DM Sans"/>
                <a:sym typeface="DM Sans"/>
              </a:rPr>
              <a:t>Summer hold ◔→○ </a:t>
            </a:r>
            <a:r>
              <a:rPr b="0" i="0" lang="en-US" sz="800" u="none" cap="none" strike="noStrike">
                <a:solidFill>
                  <a:srgbClr val="F7F2E8"/>
                </a:solidFill>
                <a:latin typeface="DM Sans"/>
                <a:ea typeface="DM Sans"/>
                <a:cs typeface="DM Sans"/>
                <a:sym typeface="DM Sans"/>
              </a:rPr>
              <a:t>for Duke donations: items go to TROSA and Goodwill, not new students.</a:t>
            </a:r>
            <a:endParaRPr/>
          </a:p>
        </p:txBody>
      </p:sp>
      <p:sp>
        <p:nvSpPr>
          <p:cNvPr id="168" name="Google Shape;168;p10"/>
          <p:cNvSpPr/>
          <p:nvPr/>
        </p:nvSpPr>
        <p:spPr>
          <a:xfrm>
            <a:off x="812800" y="6238280"/>
            <a:ext cx="7194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472"/>
              </a:buClr>
              <a:buSzPts val="1200"/>
              <a:buFont typeface="DM Sans"/>
              <a:buNone/>
            </a:pPr>
            <a:r>
              <a:rPr b="0" i="0" lang="en-US" sz="1200" u="none" cap="none" strike="noStrike">
                <a:solidFill>
                  <a:srgbClr val="5B6472"/>
                </a:solidFill>
                <a:latin typeface="DM Sans"/>
                <a:ea typeface="DM Sans"/>
                <a:cs typeface="DM Sans"/>
                <a:sym typeface="DM Sans"/>
              </a:rPr>
              <a:t>Source: Workbook Part 5 (5C)</a:t>
            </a:r>
            <a:endParaRPr b="0" i="0" sz="1200" u="none" cap="none" strike="noStrike">
              <a:solidFill>
                <a:schemeClr val="dk1"/>
              </a:solidFill>
              <a:latin typeface="Calibri"/>
              <a:ea typeface="Calibri"/>
              <a:cs typeface="Calibri"/>
              <a:sym typeface="Calibri"/>
            </a:endParaRPr>
          </a:p>
        </p:txBody>
      </p:sp>
      <p:sp>
        <p:nvSpPr>
          <p:cNvPr id="169" name="Google Shape;169;p10"/>
          <p:cNvSpPr/>
          <p:nvPr/>
        </p:nvSpPr>
        <p:spPr>
          <a:xfrm>
            <a:off x="8108950" y="6238280"/>
            <a:ext cx="32703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B6472"/>
              </a:buClr>
              <a:buSzPts val="1200"/>
              <a:buFont typeface="DM Sans"/>
              <a:buNone/>
            </a:pPr>
            <a:r>
              <a:rPr b="0" i="0" lang="en-US" sz="1200" u="none" cap="none" strike="noStrike">
                <a:solidFill>
                  <a:srgbClr val="5B6472"/>
                </a:solidFill>
                <a:latin typeface="DM Sans"/>
                <a:ea typeface="DM Sans"/>
                <a:cs typeface="DM Sans"/>
                <a:sym typeface="DM Sans"/>
              </a:rPr>
              <a:t>Relay · 08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174" name="Shape 174"/>
        <p:cNvGrpSpPr/>
        <p:nvPr/>
      </p:nvGrpSpPr>
      <p:grpSpPr>
        <a:xfrm>
          <a:off x="0" y="0"/>
          <a:ext cx="0" cy="0"/>
          <a:chOff x="0" y="0"/>
          <a:chExt cx="0" cy="0"/>
        </a:xfrm>
      </p:grpSpPr>
      <p:sp>
        <p:nvSpPr>
          <p:cNvPr id="175" name="Google Shape;175;p11"/>
          <p:cNvSpPr/>
          <p:nvPr/>
        </p:nvSpPr>
        <p:spPr>
          <a:xfrm>
            <a:off x="812800" y="850900"/>
            <a:ext cx="30990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4A14"/>
              </a:buClr>
              <a:buSzPts val="1200"/>
              <a:buFont typeface="DM Sans"/>
              <a:buNone/>
            </a:pPr>
            <a:r>
              <a:rPr b="1" i="0" lang="en-US" sz="1200" u="none" cap="none" strike="noStrike">
                <a:solidFill>
                  <a:srgbClr val="B84A14"/>
                </a:solidFill>
                <a:latin typeface="DM Sans"/>
                <a:ea typeface="DM Sans"/>
                <a:cs typeface="DM Sans"/>
                <a:sym typeface="DM Sans"/>
              </a:rPr>
              <a:t>SLIDE 7 · HARVEY BALL SUMMARY</a:t>
            </a:r>
            <a:endParaRPr b="0" i="0" sz="1200" u="none" cap="none" strike="noStrike">
              <a:solidFill>
                <a:schemeClr val="dk1"/>
              </a:solidFill>
              <a:latin typeface="Calibri"/>
              <a:ea typeface="Calibri"/>
              <a:cs typeface="Calibri"/>
              <a:sym typeface="Calibri"/>
            </a:endParaRPr>
          </a:p>
        </p:txBody>
      </p:sp>
      <p:sp>
        <p:nvSpPr>
          <p:cNvPr id="176" name="Google Shape;176;p11"/>
          <p:cNvSpPr/>
          <p:nvPr/>
        </p:nvSpPr>
        <p:spPr>
          <a:xfrm>
            <a:off x="812800" y="1330920"/>
            <a:ext cx="10883400" cy="4164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2800"/>
              <a:buFont typeface="Arial"/>
              <a:buNone/>
            </a:pPr>
            <a:r>
              <a:rPr b="1" i="0" lang="en-US" sz="2800" u="none" cap="none" strike="noStrike">
                <a:solidFill>
                  <a:srgbClr val="14213D"/>
                </a:solidFill>
                <a:latin typeface="Domine"/>
                <a:ea typeface="Domine"/>
                <a:cs typeface="Domine"/>
                <a:sym typeface="Domine"/>
              </a:rPr>
              <a:t>No one does it all, and Campus Swap is closest</a:t>
            </a:r>
            <a:endParaRPr/>
          </a:p>
        </p:txBody>
      </p:sp>
      <p:sp>
        <p:nvSpPr>
          <p:cNvPr id="177" name="Google Shape;177;p11"/>
          <p:cNvSpPr/>
          <p:nvPr/>
        </p:nvSpPr>
        <p:spPr>
          <a:xfrm>
            <a:off x="819150" y="1956991"/>
            <a:ext cx="3373800" cy="3878700"/>
          </a:xfrm>
          <a:prstGeom prst="roundRect">
            <a:avLst>
              <a:gd fmla="val 3576" name="adj"/>
            </a:avLst>
          </a:prstGeom>
          <a:solidFill>
            <a:srgbClr val="FBF8F1"/>
          </a:solidFill>
          <a:ln cap="flat" cmpd="sng" w="12700">
            <a:solidFill>
              <a:srgbClr val="CFC5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1"/>
          <p:cNvSpPr/>
          <p:nvPr/>
        </p:nvSpPr>
        <p:spPr>
          <a:xfrm>
            <a:off x="1054100" y="2191941"/>
            <a:ext cx="2991300" cy="482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84A14"/>
              </a:buClr>
              <a:buSzPts val="3600"/>
              <a:buFont typeface="Domine"/>
              <a:buNone/>
            </a:pPr>
            <a:r>
              <a:rPr b="1" i="0" lang="en-US" sz="3600" u="none" cap="none" strike="noStrike">
                <a:solidFill>
                  <a:srgbClr val="B84A14"/>
                </a:solidFill>
                <a:latin typeface="Domine"/>
                <a:ea typeface="Domine"/>
                <a:cs typeface="Domine"/>
                <a:sym typeface="Domine"/>
              </a:rPr>
              <a:t>01</a:t>
            </a:r>
            <a:endParaRPr b="0" i="0" sz="3600" u="none" cap="none" strike="noStrike">
              <a:solidFill>
                <a:schemeClr val="dk1"/>
              </a:solidFill>
              <a:latin typeface="Calibri"/>
              <a:ea typeface="Calibri"/>
              <a:cs typeface="Calibri"/>
              <a:sym typeface="Calibri"/>
            </a:endParaRPr>
          </a:p>
        </p:txBody>
      </p:sp>
      <p:sp>
        <p:nvSpPr>
          <p:cNvPr id="179" name="Google Shape;179;p11"/>
          <p:cNvSpPr/>
          <p:nvPr/>
        </p:nvSpPr>
        <p:spPr>
          <a:xfrm>
            <a:off x="1054100" y="2750741"/>
            <a:ext cx="29913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800"/>
              <a:buFont typeface="DM Sans"/>
              <a:buNone/>
            </a:pPr>
            <a:r>
              <a:rPr b="1" i="0" lang="en-US" sz="1800" u="none" cap="none" strike="noStrike">
                <a:solidFill>
                  <a:srgbClr val="14213D"/>
                </a:solidFill>
                <a:latin typeface="DM Sans"/>
                <a:ea typeface="DM Sans"/>
                <a:cs typeface="DM Sans"/>
                <a:sym typeface="DM Sans"/>
              </a:rPr>
              <a:t>Key Discoveries</a:t>
            </a:r>
            <a:endParaRPr b="0" i="0" sz="1800" u="none" cap="none" strike="noStrike">
              <a:solidFill>
                <a:schemeClr val="dk1"/>
              </a:solidFill>
              <a:latin typeface="Calibri"/>
              <a:ea typeface="Calibri"/>
              <a:cs typeface="Calibri"/>
              <a:sym typeface="Calibri"/>
            </a:endParaRPr>
          </a:p>
        </p:txBody>
      </p:sp>
      <p:sp>
        <p:nvSpPr>
          <p:cNvPr id="180" name="Google Shape;180;p11"/>
          <p:cNvSpPr/>
          <p:nvPr/>
        </p:nvSpPr>
        <p:spPr>
          <a:xfrm>
            <a:off x="1054100" y="3126631"/>
            <a:ext cx="2991300" cy="2606100"/>
          </a:xfrm>
          <a:prstGeom prst="rect">
            <a:avLst/>
          </a:prstGeom>
          <a:noFill/>
          <a:ln>
            <a:noFill/>
          </a:ln>
        </p:spPr>
        <p:txBody>
          <a:bodyPr anchorCtr="0" anchor="t" bIns="0" lIns="0" spcFirstLastPara="1" rIns="0" wrap="square" tIns="0">
            <a:noAutofit/>
          </a:bodyPr>
          <a:lstStyle/>
          <a:p>
            <a:pPr indent="-171450" lvl="0" marL="171450" marR="0" rtl="0" algn="l">
              <a:lnSpc>
                <a:spcPct val="120000"/>
              </a:lnSpc>
              <a:spcBef>
                <a:spcPts val="0"/>
              </a:spcBef>
              <a:spcAft>
                <a:spcPts val="0"/>
              </a:spcAft>
              <a:buClr>
                <a:srgbClr val="000000"/>
              </a:buClr>
              <a:buSzPts val="1250"/>
              <a:buFont typeface="Arial"/>
              <a:buChar char="•"/>
            </a:pPr>
            <a:r>
              <a:rPr b="0" i="0" lang="en-US" sz="1250" u="none" cap="none" strike="noStrike">
                <a:solidFill>
                  <a:srgbClr val="4A5568"/>
                </a:solidFill>
                <a:latin typeface="DM Sans"/>
                <a:ea typeface="DM Sans"/>
                <a:cs typeface="DM Sans"/>
                <a:sym typeface="DM Sans"/>
              </a:rPr>
              <a:t>No one does it all. Some sell but don't store; others store but don't sell.</a:t>
            </a:r>
            <a:endParaRPr/>
          </a:p>
          <a:p>
            <a:pPr indent="-171450" lvl="0" marL="171450" marR="0" rtl="0" algn="l">
              <a:lnSpc>
                <a:spcPct val="120000"/>
              </a:lnSpc>
              <a:spcBef>
                <a:spcPts val="700"/>
              </a:spcBef>
              <a:spcAft>
                <a:spcPts val="0"/>
              </a:spcAft>
              <a:buClr>
                <a:srgbClr val="000000"/>
              </a:buClr>
              <a:buSzPts val="1250"/>
              <a:buFont typeface="Arial"/>
              <a:buChar char="•"/>
            </a:pPr>
            <a:r>
              <a:rPr b="0" i="0" lang="en-US" sz="1250" u="none" cap="none" strike="noStrike">
                <a:solidFill>
                  <a:srgbClr val="4A5568"/>
                </a:solidFill>
                <a:latin typeface="DM Sans"/>
                <a:ea typeface="DM Sans"/>
                <a:cs typeface="DM Sans"/>
                <a:sym typeface="DM Sans"/>
              </a:rPr>
              <a:t>Campus Swap is closest, but it's at UNC and sellers start at 20%.</a:t>
            </a:r>
            <a:endParaRPr/>
          </a:p>
          <a:p>
            <a:pPr indent="-171450" lvl="0" marL="171450" marR="0" rtl="0" algn="l">
              <a:lnSpc>
                <a:spcPct val="120000"/>
              </a:lnSpc>
              <a:spcBef>
                <a:spcPts val="700"/>
              </a:spcBef>
              <a:spcAft>
                <a:spcPts val="0"/>
              </a:spcAft>
              <a:buClr>
                <a:srgbClr val="000000"/>
              </a:buClr>
              <a:buSzPts val="1250"/>
              <a:buFont typeface="Arial"/>
              <a:buChar char="•"/>
            </a:pPr>
            <a:r>
              <a:rPr b="0" i="0" lang="en-US" sz="1250" u="none" cap="none" strike="noStrike">
                <a:solidFill>
                  <a:srgbClr val="4A5568"/>
                </a:solidFill>
                <a:latin typeface="DM Sans"/>
                <a:ea typeface="DM Sans"/>
                <a:cs typeface="DM Sans"/>
                <a:sym typeface="DM Sans"/>
              </a:rPr>
              <a:t>Selling in May pays badly: buyers don't arrive until August.</a:t>
            </a:r>
            <a:endParaRPr/>
          </a:p>
          <a:p>
            <a:pPr indent="-171450" lvl="0" marL="171450" marR="0" rtl="0" algn="l">
              <a:lnSpc>
                <a:spcPct val="120000"/>
              </a:lnSpc>
              <a:spcBef>
                <a:spcPts val="700"/>
              </a:spcBef>
              <a:spcAft>
                <a:spcPts val="700"/>
              </a:spcAft>
              <a:buClr>
                <a:srgbClr val="000000"/>
              </a:buClr>
              <a:buSzPts val="1250"/>
              <a:buFont typeface="Arial"/>
              <a:buChar char="•"/>
            </a:pPr>
            <a:r>
              <a:rPr b="0" i="0" lang="en-US" sz="1250" u="none" cap="none" strike="noStrike">
                <a:solidFill>
                  <a:srgbClr val="4A5568"/>
                </a:solidFill>
                <a:latin typeface="DM Sans"/>
                <a:ea typeface="DM Sans"/>
                <a:cs typeface="DM Sans"/>
                <a:sym typeface="DM Sans"/>
              </a:rPr>
              <a:t>For buyers, our real rival is buying new.</a:t>
            </a:r>
            <a:endParaRPr/>
          </a:p>
        </p:txBody>
      </p:sp>
      <p:sp>
        <p:nvSpPr>
          <p:cNvPr id="181" name="Google Shape;181;p11"/>
          <p:cNvSpPr/>
          <p:nvPr/>
        </p:nvSpPr>
        <p:spPr>
          <a:xfrm>
            <a:off x="4408984" y="1956991"/>
            <a:ext cx="3374100" cy="3878700"/>
          </a:xfrm>
          <a:prstGeom prst="roundRect">
            <a:avLst>
              <a:gd fmla="val 3576" name="adj"/>
            </a:avLst>
          </a:prstGeom>
          <a:solidFill>
            <a:srgbClr val="FBF8F1"/>
          </a:solidFill>
          <a:ln cap="flat" cmpd="sng" w="12700">
            <a:solidFill>
              <a:srgbClr val="CFC5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1"/>
          <p:cNvSpPr/>
          <p:nvPr/>
        </p:nvSpPr>
        <p:spPr>
          <a:xfrm>
            <a:off x="4643934" y="2191941"/>
            <a:ext cx="2991300" cy="482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84A14"/>
              </a:buClr>
              <a:buSzPts val="3600"/>
              <a:buFont typeface="Domine"/>
              <a:buNone/>
            </a:pPr>
            <a:r>
              <a:rPr b="1" i="0" lang="en-US" sz="3600" u="none" cap="none" strike="noStrike">
                <a:solidFill>
                  <a:srgbClr val="B84A14"/>
                </a:solidFill>
                <a:latin typeface="Domine"/>
                <a:ea typeface="Domine"/>
                <a:cs typeface="Domine"/>
                <a:sym typeface="Domine"/>
              </a:rPr>
              <a:t>02</a:t>
            </a:r>
            <a:endParaRPr b="0" i="0" sz="3600" u="none" cap="none" strike="noStrike">
              <a:solidFill>
                <a:schemeClr val="dk1"/>
              </a:solidFill>
              <a:latin typeface="Calibri"/>
              <a:ea typeface="Calibri"/>
              <a:cs typeface="Calibri"/>
              <a:sym typeface="Calibri"/>
            </a:endParaRPr>
          </a:p>
        </p:txBody>
      </p:sp>
      <p:sp>
        <p:nvSpPr>
          <p:cNvPr id="183" name="Google Shape;183;p11"/>
          <p:cNvSpPr/>
          <p:nvPr/>
        </p:nvSpPr>
        <p:spPr>
          <a:xfrm>
            <a:off x="4643934" y="2750741"/>
            <a:ext cx="29913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800"/>
              <a:buFont typeface="DM Sans"/>
              <a:buNone/>
            </a:pPr>
            <a:r>
              <a:rPr b="1" i="0" lang="en-US" sz="1800" u="none" cap="none" strike="noStrike">
                <a:solidFill>
                  <a:srgbClr val="14213D"/>
                </a:solidFill>
                <a:latin typeface="DM Sans"/>
                <a:ea typeface="DM Sans"/>
                <a:cs typeface="DM Sans"/>
                <a:sym typeface="DM Sans"/>
              </a:rPr>
              <a:t>Prioritize / Ignore</a:t>
            </a:r>
            <a:endParaRPr b="0" i="0" sz="1800" u="none" cap="none" strike="noStrike">
              <a:solidFill>
                <a:schemeClr val="dk1"/>
              </a:solidFill>
              <a:latin typeface="Calibri"/>
              <a:ea typeface="Calibri"/>
              <a:cs typeface="Calibri"/>
              <a:sym typeface="Calibri"/>
            </a:endParaRPr>
          </a:p>
        </p:txBody>
      </p:sp>
      <p:sp>
        <p:nvSpPr>
          <p:cNvPr id="184" name="Google Shape;184;p11"/>
          <p:cNvSpPr/>
          <p:nvPr/>
        </p:nvSpPr>
        <p:spPr>
          <a:xfrm>
            <a:off x="4643934" y="3126631"/>
            <a:ext cx="2991300" cy="2606100"/>
          </a:xfrm>
          <a:prstGeom prst="rect">
            <a:avLst/>
          </a:prstGeom>
          <a:noFill/>
          <a:ln>
            <a:noFill/>
          </a:ln>
        </p:spPr>
        <p:txBody>
          <a:bodyPr anchorCtr="0" anchor="t" bIns="0" lIns="0" spcFirstLastPara="1" rIns="0" wrap="square" tIns="0">
            <a:noAutofit/>
          </a:bodyPr>
          <a:lstStyle/>
          <a:p>
            <a:pPr indent="-171450" lvl="0" marL="171450" marR="0" rtl="0" algn="l">
              <a:lnSpc>
                <a:spcPct val="120000"/>
              </a:lnSpc>
              <a:spcBef>
                <a:spcPts val="0"/>
              </a:spcBef>
              <a:spcAft>
                <a:spcPts val="0"/>
              </a:spcAft>
              <a:buClr>
                <a:srgbClr val="000000"/>
              </a:buClr>
              <a:buSzPts val="1250"/>
              <a:buFont typeface="Arial"/>
              <a:buChar char="•"/>
            </a:pPr>
            <a:r>
              <a:rPr b="1" i="0" lang="en-US" sz="1250" u="none" cap="none" strike="noStrike">
                <a:solidFill>
                  <a:srgbClr val="14213D"/>
                </a:solidFill>
                <a:latin typeface="DM Sans"/>
                <a:ea typeface="DM Sans"/>
                <a:cs typeface="DM Sans"/>
                <a:sym typeface="DM Sans"/>
              </a:rPr>
              <a:t>Focus on: </a:t>
            </a:r>
            <a:r>
              <a:rPr b="0" i="0" lang="en-US" sz="1250" u="none" cap="none" strike="noStrike">
                <a:solidFill>
                  <a:srgbClr val="4A5568"/>
                </a:solidFill>
                <a:latin typeface="DM Sans"/>
                <a:ea typeface="DM Sans"/>
                <a:cs typeface="DM Sans"/>
                <a:sym typeface="DM Sans"/>
              </a:rPr>
              <a:t>money back, ease to sell, summer hold, low buyer price, being at Duke.</a:t>
            </a:r>
            <a:endParaRPr/>
          </a:p>
          <a:p>
            <a:pPr indent="-171450" lvl="0" marL="171450" marR="0" rtl="0" algn="l">
              <a:lnSpc>
                <a:spcPct val="120000"/>
              </a:lnSpc>
              <a:spcBef>
                <a:spcPts val="700"/>
              </a:spcBef>
              <a:spcAft>
                <a:spcPts val="0"/>
              </a:spcAft>
              <a:buClr>
                <a:srgbClr val="000000"/>
              </a:buClr>
              <a:buSzPts val="1250"/>
              <a:buFont typeface="Arial"/>
              <a:buChar char="•"/>
            </a:pPr>
            <a:r>
              <a:rPr b="1" i="0" lang="en-US" sz="1250" u="none" cap="none" strike="noStrike">
                <a:solidFill>
                  <a:srgbClr val="14213D"/>
                </a:solidFill>
                <a:latin typeface="DM Sans"/>
                <a:ea typeface="DM Sans"/>
                <a:cs typeface="DM Sans"/>
                <a:sym typeface="DM Sans"/>
              </a:rPr>
              <a:t>Ignore for now: </a:t>
            </a:r>
            <a:r>
              <a:rPr b="0" i="0" lang="en-US" sz="1250" u="none" cap="none" strike="noStrike">
                <a:solidFill>
                  <a:srgbClr val="4A5568"/>
                </a:solidFill>
                <a:latin typeface="DM Sans"/>
                <a:ea typeface="DM Sans"/>
                <a:cs typeface="DM Sans"/>
                <a:sym typeface="DM Sans"/>
              </a:rPr>
              <a:t>multi-campus reach and user base. We start at Duke and are new.</a:t>
            </a:r>
            <a:endParaRPr/>
          </a:p>
          <a:p>
            <a:pPr indent="-171450" lvl="0" marL="171450" marR="0" rtl="0" algn="l">
              <a:lnSpc>
                <a:spcPct val="120000"/>
              </a:lnSpc>
              <a:spcBef>
                <a:spcPts val="700"/>
              </a:spcBef>
              <a:spcAft>
                <a:spcPts val="700"/>
              </a:spcAft>
              <a:buClr>
                <a:srgbClr val="000000"/>
              </a:buClr>
              <a:buSzPts val="1250"/>
              <a:buFont typeface="Arial"/>
              <a:buChar char="•"/>
            </a:pPr>
            <a:r>
              <a:rPr b="1" i="0" lang="en-US" sz="1250" u="none" cap="none" strike="noStrike">
                <a:solidFill>
                  <a:srgbClr val="14213D"/>
                </a:solidFill>
                <a:latin typeface="DM Sans"/>
                <a:ea typeface="DM Sans"/>
                <a:cs typeface="DM Sans"/>
                <a:sym typeface="DM Sans"/>
              </a:rPr>
              <a:t>Less important rivals: </a:t>
            </a:r>
            <a:r>
              <a:rPr b="0" i="0" lang="en-US" sz="1250" u="none" cap="none" strike="noStrike">
                <a:solidFill>
                  <a:srgbClr val="4A5568"/>
                </a:solidFill>
                <a:latin typeface="DM Sans"/>
                <a:ea typeface="DM Sans"/>
                <a:cs typeface="DM Sans"/>
                <a:sym typeface="DM Sans"/>
              </a:rPr>
              <a:t>Craigslist, OfferUp, eBay, small campus apps, self-storage, Campus Reclaimed.</a:t>
            </a:r>
            <a:endParaRPr/>
          </a:p>
        </p:txBody>
      </p:sp>
      <p:sp>
        <p:nvSpPr>
          <p:cNvPr id="185" name="Google Shape;185;p11"/>
          <p:cNvSpPr/>
          <p:nvPr/>
        </p:nvSpPr>
        <p:spPr>
          <a:xfrm>
            <a:off x="7998867" y="1956991"/>
            <a:ext cx="3374100" cy="3878700"/>
          </a:xfrm>
          <a:prstGeom prst="roundRect">
            <a:avLst>
              <a:gd fmla="val 3576" name="adj"/>
            </a:avLst>
          </a:prstGeom>
          <a:solidFill>
            <a:srgbClr val="FBF8F1"/>
          </a:solidFill>
          <a:ln cap="flat" cmpd="sng" w="12700">
            <a:solidFill>
              <a:srgbClr val="CFC5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1"/>
          <p:cNvSpPr/>
          <p:nvPr/>
        </p:nvSpPr>
        <p:spPr>
          <a:xfrm>
            <a:off x="8233817" y="2191941"/>
            <a:ext cx="2991300" cy="482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84A14"/>
              </a:buClr>
              <a:buSzPts val="3600"/>
              <a:buFont typeface="Domine"/>
              <a:buNone/>
            </a:pPr>
            <a:r>
              <a:rPr b="1" i="0" lang="en-US" sz="3600" u="none" cap="none" strike="noStrike">
                <a:solidFill>
                  <a:srgbClr val="B84A14"/>
                </a:solidFill>
                <a:latin typeface="Domine"/>
                <a:ea typeface="Domine"/>
                <a:cs typeface="Domine"/>
                <a:sym typeface="Domine"/>
              </a:rPr>
              <a:t>03</a:t>
            </a:r>
            <a:endParaRPr b="0" i="0" sz="3600" u="none" cap="none" strike="noStrike">
              <a:solidFill>
                <a:schemeClr val="dk1"/>
              </a:solidFill>
              <a:latin typeface="Calibri"/>
              <a:ea typeface="Calibri"/>
              <a:cs typeface="Calibri"/>
              <a:sym typeface="Calibri"/>
            </a:endParaRPr>
          </a:p>
        </p:txBody>
      </p:sp>
      <p:sp>
        <p:nvSpPr>
          <p:cNvPr id="187" name="Google Shape;187;p11"/>
          <p:cNvSpPr/>
          <p:nvPr/>
        </p:nvSpPr>
        <p:spPr>
          <a:xfrm>
            <a:off x="8233817" y="2750741"/>
            <a:ext cx="29913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800"/>
              <a:buFont typeface="DM Sans"/>
              <a:buNone/>
            </a:pPr>
            <a:r>
              <a:rPr b="1" i="0" lang="en-US" sz="1800" u="none" cap="none" strike="noStrike">
                <a:solidFill>
                  <a:srgbClr val="14213D"/>
                </a:solidFill>
                <a:latin typeface="DM Sans"/>
                <a:ea typeface="DM Sans"/>
                <a:cs typeface="DM Sans"/>
                <a:sym typeface="DM Sans"/>
              </a:rPr>
              <a:t>Rivals to Watch</a:t>
            </a:r>
            <a:endParaRPr b="0" i="0" sz="1800" u="none" cap="none" strike="noStrike">
              <a:solidFill>
                <a:schemeClr val="dk1"/>
              </a:solidFill>
              <a:latin typeface="Calibri"/>
              <a:ea typeface="Calibri"/>
              <a:cs typeface="Calibri"/>
              <a:sym typeface="Calibri"/>
            </a:endParaRPr>
          </a:p>
        </p:txBody>
      </p:sp>
      <p:sp>
        <p:nvSpPr>
          <p:cNvPr id="188" name="Google Shape;188;p11"/>
          <p:cNvSpPr/>
          <p:nvPr/>
        </p:nvSpPr>
        <p:spPr>
          <a:xfrm>
            <a:off x="8233817" y="3126631"/>
            <a:ext cx="2991300" cy="2606100"/>
          </a:xfrm>
          <a:prstGeom prst="rect">
            <a:avLst/>
          </a:prstGeom>
          <a:noFill/>
          <a:ln>
            <a:noFill/>
          </a:ln>
        </p:spPr>
        <p:txBody>
          <a:bodyPr anchorCtr="0" anchor="t" bIns="0" lIns="0" spcFirstLastPara="1" rIns="0" wrap="square" tIns="0">
            <a:noAutofit/>
          </a:bodyPr>
          <a:lstStyle/>
          <a:p>
            <a:pPr indent="-171450" lvl="0" marL="171450" marR="0" rtl="0" algn="l">
              <a:lnSpc>
                <a:spcPct val="120000"/>
              </a:lnSpc>
              <a:spcBef>
                <a:spcPts val="0"/>
              </a:spcBef>
              <a:spcAft>
                <a:spcPts val="0"/>
              </a:spcAft>
              <a:buClr>
                <a:srgbClr val="000000"/>
              </a:buClr>
              <a:buSzPts val="1250"/>
              <a:buFont typeface="Arial"/>
              <a:buChar char="•"/>
            </a:pPr>
            <a:r>
              <a:rPr b="1" i="0" lang="en-US" sz="1250" u="none" cap="none" strike="noStrike">
                <a:solidFill>
                  <a:srgbClr val="14213D"/>
                </a:solidFill>
                <a:latin typeface="DM Sans"/>
                <a:ea typeface="DM Sans"/>
                <a:cs typeface="DM Sans"/>
                <a:sym typeface="DM Sans"/>
              </a:rPr>
              <a:t>Campus Swap: </a:t>
            </a:r>
            <a:r>
              <a:rPr b="0" i="0" lang="en-US" sz="1250" u="none" cap="none" strike="noStrike">
                <a:solidFill>
                  <a:srgbClr val="4A5568"/>
                </a:solidFill>
                <a:latin typeface="DM Sans"/>
                <a:ea typeface="DM Sans"/>
                <a:cs typeface="DM Sans"/>
                <a:sym typeface="DM Sans"/>
              </a:rPr>
              <a:t>same idea, about 10 miles away.</a:t>
            </a:r>
            <a:endParaRPr/>
          </a:p>
          <a:p>
            <a:pPr indent="-171450" lvl="0" marL="171450" marR="0" rtl="0" algn="l">
              <a:lnSpc>
                <a:spcPct val="120000"/>
              </a:lnSpc>
              <a:spcBef>
                <a:spcPts val="700"/>
              </a:spcBef>
              <a:spcAft>
                <a:spcPts val="0"/>
              </a:spcAft>
              <a:buClr>
                <a:srgbClr val="000000"/>
              </a:buClr>
              <a:buSzPts val="1250"/>
              <a:buFont typeface="Arial"/>
              <a:buChar char="•"/>
            </a:pPr>
            <a:r>
              <a:rPr b="1" i="0" lang="en-US" sz="1250" u="none" cap="none" strike="noStrike">
                <a:solidFill>
                  <a:srgbClr val="14213D"/>
                </a:solidFill>
                <a:latin typeface="DM Sans"/>
                <a:ea typeface="DM Sans"/>
                <a:cs typeface="DM Sans"/>
                <a:sym typeface="DM Sans"/>
              </a:rPr>
              <a:t>Storage Scholars: </a:t>
            </a:r>
            <a:r>
              <a:rPr b="0" i="0" lang="en-US" sz="1250" u="none" cap="none" strike="noStrike">
                <a:solidFill>
                  <a:srgbClr val="4A5568"/>
                </a:solidFill>
                <a:latin typeface="DM Sans"/>
                <a:ea typeface="DM Sans"/>
                <a:cs typeface="DM Sans"/>
                <a:sym typeface="DM Sans"/>
              </a:rPr>
              <a:t>already at Duke. Could add resale, or be a partner.</a:t>
            </a:r>
            <a:endParaRPr/>
          </a:p>
          <a:p>
            <a:pPr indent="-171450" lvl="0" marL="171450" marR="0" rtl="0" algn="l">
              <a:lnSpc>
                <a:spcPct val="120000"/>
              </a:lnSpc>
              <a:spcBef>
                <a:spcPts val="700"/>
              </a:spcBef>
              <a:spcAft>
                <a:spcPts val="0"/>
              </a:spcAft>
              <a:buClr>
                <a:srgbClr val="000000"/>
              </a:buClr>
              <a:buSzPts val="1250"/>
              <a:buFont typeface="Arial"/>
              <a:buChar char="•"/>
            </a:pPr>
            <a:r>
              <a:rPr b="1" i="0" lang="en-US" sz="1250" u="none" cap="none" strike="noStrike">
                <a:solidFill>
                  <a:srgbClr val="14213D"/>
                </a:solidFill>
                <a:latin typeface="DM Sans"/>
                <a:ea typeface="DM Sans"/>
                <a:cs typeface="DM Sans"/>
                <a:sym typeface="DM Sans"/>
              </a:rPr>
              <a:t>Facebook Marketplace: </a:t>
            </a:r>
            <a:r>
              <a:rPr b="0" i="0" lang="en-US" sz="1250" u="none" cap="none" strike="noStrike">
                <a:solidFill>
                  <a:srgbClr val="4A5568"/>
                </a:solidFill>
                <a:latin typeface="DM Sans"/>
                <a:ea typeface="DM Sans"/>
                <a:cs typeface="DM Sans"/>
                <a:sym typeface="DM Sans"/>
              </a:rPr>
              <a:t>free, and everyone uses it.</a:t>
            </a:r>
            <a:endParaRPr/>
          </a:p>
          <a:p>
            <a:pPr indent="-171450" lvl="0" marL="171450" marR="0" rtl="0" algn="l">
              <a:lnSpc>
                <a:spcPct val="120000"/>
              </a:lnSpc>
              <a:spcBef>
                <a:spcPts val="700"/>
              </a:spcBef>
              <a:spcAft>
                <a:spcPts val="700"/>
              </a:spcAft>
              <a:buClr>
                <a:srgbClr val="000000"/>
              </a:buClr>
              <a:buSzPts val="1250"/>
              <a:buFont typeface="Arial"/>
              <a:buChar char="•"/>
            </a:pPr>
            <a:r>
              <a:rPr b="1" i="0" lang="en-US" sz="1250" u="none" cap="none" strike="noStrike">
                <a:solidFill>
                  <a:srgbClr val="14213D"/>
                </a:solidFill>
                <a:latin typeface="DM Sans"/>
                <a:ea typeface="DM Sans"/>
                <a:cs typeface="DM Sans"/>
                <a:sym typeface="DM Sans"/>
              </a:rPr>
              <a:t>Duke donation bins: </a:t>
            </a:r>
            <a:r>
              <a:rPr b="0" i="0" lang="en-US" sz="1250" u="none" cap="none" strike="noStrike">
                <a:solidFill>
                  <a:srgbClr val="4A5568"/>
                </a:solidFill>
                <a:latin typeface="DM Sans"/>
                <a:ea typeface="DM Sans"/>
                <a:cs typeface="DM Sans"/>
                <a:sym typeface="DM Sans"/>
              </a:rPr>
              <a:t>free and zero effort.</a:t>
            </a:r>
            <a:endParaRPr/>
          </a:p>
        </p:txBody>
      </p:sp>
      <p:sp>
        <p:nvSpPr>
          <p:cNvPr id="189" name="Google Shape;189;p11"/>
          <p:cNvSpPr/>
          <p:nvPr/>
        </p:nvSpPr>
        <p:spPr>
          <a:xfrm>
            <a:off x="812800" y="6238280"/>
            <a:ext cx="7194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472"/>
              </a:buClr>
              <a:buSzPts val="1200"/>
              <a:buFont typeface="DM Sans"/>
              <a:buNone/>
            </a:pPr>
            <a:r>
              <a:rPr b="0" i="0" lang="en-US" sz="1200" u="none" cap="none" strike="noStrike">
                <a:solidFill>
                  <a:srgbClr val="5B6472"/>
                </a:solidFill>
                <a:latin typeface="DM Sans"/>
                <a:ea typeface="DM Sans"/>
                <a:cs typeface="DM Sans"/>
                <a:sym typeface="DM Sans"/>
              </a:rPr>
              <a:t>Source: Workbook Part 5 (5D)</a:t>
            </a:r>
            <a:endParaRPr b="0" i="0" sz="1200" u="none" cap="none" strike="noStrike">
              <a:solidFill>
                <a:schemeClr val="dk1"/>
              </a:solidFill>
              <a:latin typeface="Calibri"/>
              <a:ea typeface="Calibri"/>
              <a:cs typeface="Calibri"/>
              <a:sym typeface="Calibri"/>
            </a:endParaRPr>
          </a:p>
        </p:txBody>
      </p:sp>
      <p:sp>
        <p:nvSpPr>
          <p:cNvPr id="190" name="Google Shape;190;p11"/>
          <p:cNvSpPr/>
          <p:nvPr/>
        </p:nvSpPr>
        <p:spPr>
          <a:xfrm>
            <a:off x="8108950" y="6238280"/>
            <a:ext cx="32703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B6472"/>
              </a:buClr>
              <a:buSzPts val="1200"/>
              <a:buFont typeface="DM Sans"/>
              <a:buNone/>
            </a:pPr>
            <a:r>
              <a:rPr b="0" i="0" lang="en-US" sz="1200" u="none" cap="none" strike="noStrike">
                <a:solidFill>
                  <a:srgbClr val="5B6472"/>
                </a:solidFill>
                <a:latin typeface="DM Sans"/>
                <a:ea typeface="DM Sans"/>
                <a:cs typeface="DM Sans"/>
                <a:sym typeface="DM Sans"/>
              </a:rPr>
              <a:t>Relay · 09</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195" name="Shape 195"/>
        <p:cNvGrpSpPr/>
        <p:nvPr/>
      </p:nvGrpSpPr>
      <p:grpSpPr>
        <a:xfrm>
          <a:off x="0" y="0"/>
          <a:ext cx="0" cy="0"/>
          <a:chOff x="0" y="0"/>
          <a:chExt cx="0" cy="0"/>
        </a:xfrm>
      </p:grpSpPr>
      <p:sp>
        <p:nvSpPr>
          <p:cNvPr id="196" name="Google Shape;196;p12"/>
          <p:cNvSpPr/>
          <p:nvPr/>
        </p:nvSpPr>
        <p:spPr>
          <a:xfrm>
            <a:off x="812800" y="850900"/>
            <a:ext cx="173846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0935A"/>
              </a:buClr>
              <a:buSzPts val="1200"/>
              <a:buFont typeface="DM Sans"/>
              <a:buNone/>
            </a:pPr>
            <a:r>
              <a:rPr b="1" i="0" lang="en-US" sz="1200" u="none" cap="none" strike="noStrike">
                <a:solidFill>
                  <a:srgbClr val="F0935A"/>
                </a:solidFill>
                <a:latin typeface="DM Sans"/>
                <a:ea typeface="DM Sans"/>
                <a:cs typeface="DM Sans"/>
                <a:sym typeface="DM Sans"/>
              </a:rPr>
              <a:t>NARRATIVE · NO AI</a:t>
            </a:r>
            <a:endParaRPr b="0" i="0" sz="1200" u="none" cap="none" strike="noStrike">
              <a:solidFill>
                <a:schemeClr val="dk1"/>
              </a:solidFill>
              <a:latin typeface="Calibri"/>
              <a:ea typeface="Calibri"/>
              <a:cs typeface="Calibri"/>
              <a:sym typeface="Calibri"/>
            </a:endParaRPr>
          </a:p>
        </p:txBody>
      </p:sp>
      <p:sp>
        <p:nvSpPr>
          <p:cNvPr id="197" name="Google Shape;197;p12"/>
          <p:cNvSpPr/>
          <p:nvPr/>
        </p:nvSpPr>
        <p:spPr>
          <a:xfrm>
            <a:off x="9445972" y="812800"/>
            <a:ext cx="1933228" cy="289520"/>
          </a:xfrm>
          <a:prstGeom prst="roundRect">
            <a:avLst>
              <a:gd fmla="val 50000" name="adj"/>
            </a:avLst>
          </a:prstGeom>
          <a:solidFill>
            <a:srgbClr val="F093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2"/>
          <p:cNvSpPr/>
          <p:nvPr/>
        </p:nvSpPr>
        <p:spPr>
          <a:xfrm>
            <a:off x="9585672" y="850900"/>
            <a:ext cx="170462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4213D"/>
              </a:buClr>
              <a:buSzPts val="1200"/>
              <a:buFont typeface="DM Sans"/>
              <a:buNone/>
            </a:pPr>
            <a:r>
              <a:rPr b="1" i="0" lang="en-US" sz="1200" u="none" cap="none" strike="noStrike">
                <a:solidFill>
                  <a:srgbClr val="14213D"/>
                </a:solidFill>
                <a:latin typeface="DM Sans"/>
                <a:ea typeface="DM Sans"/>
                <a:cs typeface="DM Sans"/>
                <a:sym typeface="DM Sans"/>
              </a:rPr>
              <a:t>WRITE IT YOURSELF</a:t>
            </a:r>
            <a:endParaRPr b="0" i="0" sz="1200" u="none" cap="none" strike="noStrike">
              <a:solidFill>
                <a:schemeClr val="dk1"/>
              </a:solidFill>
              <a:latin typeface="Calibri"/>
              <a:ea typeface="Calibri"/>
              <a:cs typeface="Calibri"/>
              <a:sym typeface="Calibri"/>
            </a:endParaRPr>
          </a:p>
        </p:txBody>
      </p:sp>
      <p:sp>
        <p:nvSpPr>
          <p:cNvPr id="199" name="Google Shape;199;p12"/>
          <p:cNvSpPr/>
          <p:nvPr/>
        </p:nvSpPr>
        <p:spPr>
          <a:xfrm>
            <a:off x="812800" y="1330920"/>
            <a:ext cx="10883392" cy="416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7F2E8"/>
              </a:buClr>
              <a:buSzPts val="2800"/>
              <a:buFont typeface="Domine"/>
              <a:buNone/>
            </a:pPr>
            <a:r>
              <a:rPr b="1" i="0" lang="en-US" sz="2800" u="none" cap="none" strike="noStrike">
                <a:solidFill>
                  <a:srgbClr val="F7F2E8"/>
                </a:solidFill>
                <a:latin typeface="Domine"/>
                <a:ea typeface="Domine"/>
                <a:cs typeface="Domine"/>
                <a:sym typeface="Domine"/>
              </a:rPr>
              <a:t>What I learned</a:t>
            </a:r>
            <a:endParaRPr b="0" i="0" sz="2800" u="none" cap="none" strike="noStrike">
              <a:solidFill>
                <a:schemeClr val="dk1"/>
              </a:solidFill>
              <a:latin typeface="Calibri"/>
              <a:ea typeface="Calibri"/>
              <a:cs typeface="Calibri"/>
              <a:sym typeface="Calibri"/>
            </a:endParaRPr>
          </a:p>
        </p:txBody>
      </p:sp>
      <p:sp>
        <p:nvSpPr>
          <p:cNvPr id="200" name="Google Shape;200;p12"/>
          <p:cNvSpPr/>
          <p:nvPr/>
        </p:nvSpPr>
        <p:spPr>
          <a:xfrm>
            <a:off x="812800" y="1950641"/>
            <a:ext cx="3386634" cy="3431629"/>
          </a:xfrm>
          <a:prstGeom prst="roundRect">
            <a:avLst>
              <a:gd fmla="val 3750" name="adj"/>
            </a:avLst>
          </a:prstGeom>
          <a:solidFill>
            <a:srgbClr val="1D2E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2"/>
          <p:cNvSpPr/>
          <p:nvPr/>
        </p:nvSpPr>
        <p:spPr>
          <a:xfrm>
            <a:off x="1041400" y="2011973"/>
            <a:ext cx="3017400" cy="4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0935A"/>
              </a:buClr>
              <a:buSzPts val="3200"/>
              <a:buFont typeface="Domine"/>
              <a:buNone/>
            </a:pPr>
            <a:r>
              <a:rPr b="1" i="0" lang="en-US" sz="3200" u="none" cap="none" strike="noStrike">
                <a:solidFill>
                  <a:srgbClr val="F0935A"/>
                </a:solidFill>
                <a:latin typeface="Domine"/>
                <a:ea typeface="Domine"/>
                <a:cs typeface="Domine"/>
                <a:sym typeface="Domine"/>
              </a:rPr>
              <a:t>01</a:t>
            </a:r>
            <a:endParaRPr b="0" i="0" sz="3200" u="none" cap="none" strike="noStrike">
              <a:solidFill>
                <a:schemeClr val="dk1"/>
              </a:solidFill>
              <a:latin typeface="Calibri"/>
              <a:ea typeface="Calibri"/>
              <a:cs typeface="Calibri"/>
              <a:sym typeface="Calibri"/>
            </a:endParaRPr>
          </a:p>
        </p:txBody>
      </p:sp>
      <p:sp>
        <p:nvSpPr>
          <p:cNvPr id="202" name="Google Shape;202;p12"/>
          <p:cNvSpPr/>
          <p:nvPr/>
        </p:nvSpPr>
        <p:spPr>
          <a:xfrm>
            <a:off x="1041400" y="2519973"/>
            <a:ext cx="30174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7F2E8"/>
              </a:buClr>
              <a:buSzPts val="1700"/>
              <a:buFont typeface="DM Sans"/>
              <a:buNone/>
            </a:pPr>
            <a:r>
              <a:rPr b="1" i="0" lang="en-US" sz="1700" u="none" cap="none" strike="noStrike">
                <a:solidFill>
                  <a:srgbClr val="F7F2E8"/>
                </a:solidFill>
                <a:latin typeface="DM Sans"/>
                <a:ea typeface="DM Sans"/>
                <a:cs typeface="DM Sans"/>
                <a:sym typeface="DM Sans"/>
              </a:rPr>
              <a:t>What I found on my own</a:t>
            </a:r>
            <a:endParaRPr b="0" i="0" sz="1700" u="none" cap="none" strike="noStrike">
              <a:solidFill>
                <a:schemeClr val="dk1"/>
              </a:solidFill>
              <a:latin typeface="Calibri"/>
              <a:ea typeface="Calibri"/>
              <a:cs typeface="Calibri"/>
              <a:sym typeface="Calibri"/>
            </a:endParaRPr>
          </a:p>
        </p:txBody>
      </p:sp>
      <p:sp>
        <p:nvSpPr>
          <p:cNvPr id="203" name="Google Shape;203;p12"/>
          <p:cNvSpPr/>
          <p:nvPr/>
        </p:nvSpPr>
        <p:spPr>
          <a:xfrm>
            <a:off x="1041388" y="2880673"/>
            <a:ext cx="3017400" cy="12948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D9DEEA"/>
              </a:buClr>
              <a:buSzPts val="1400"/>
              <a:buFont typeface="DM Sans"/>
              <a:buNone/>
            </a:pPr>
            <a:r>
              <a:rPr lang="en-US">
                <a:solidFill>
                  <a:srgbClr val="D9DEEA"/>
                </a:solidFill>
                <a:latin typeface="DM Sans"/>
                <a:ea typeface="DM Sans"/>
                <a:cs typeface="DM Sans"/>
                <a:sym typeface="DM Sans"/>
              </a:rPr>
              <a:t>There are indeed some websites aimed at tackling this problem within universities, but they don’t have a large selection of tools</a:t>
            </a:r>
            <a:endParaRPr b="0" i="0" sz="1400" u="none" cap="none" strike="noStrike">
              <a:solidFill>
                <a:schemeClr val="dk1"/>
              </a:solidFill>
              <a:latin typeface="Calibri"/>
              <a:ea typeface="Calibri"/>
              <a:cs typeface="Calibri"/>
              <a:sym typeface="Calibri"/>
            </a:endParaRPr>
          </a:p>
        </p:txBody>
      </p:sp>
      <p:sp>
        <p:nvSpPr>
          <p:cNvPr id="204" name="Google Shape;204;p12"/>
          <p:cNvSpPr/>
          <p:nvPr/>
        </p:nvSpPr>
        <p:spPr>
          <a:xfrm>
            <a:off x="4402634" y="1950641"/>
            <a:ext cx="3386683" cy="3431629"/>
          </a:xfrm>
          <a:prstGeom prst="roundRect">
            <a:avLst>
              <a:gd fmla="val 3750" name="adj"/>
            </a:avLst>
          </a:prstGeom>
          <a:solidFill>
            <a:srgbClr val="1D2E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2"/>
          <p:cNvSpPr/>
          <p:nvPr/>
        </p:nvSpPr>
        <p:spPr>
          <a:xfrm>
            <a:off x="4631234" y="2011973"/>
            <a:ext cx="3017400" cy="4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0935A"/>
              </a:buClr>
              <a:buSzPts val="3200"/>
              <a:buFont typeface="Domine"/>
              <a:buNone/>
            </a:pPr>
            <a:r>
              <a:rPr b="1" i="0" lang="en-US" sz="3200" u="none" cap="none" strike="noStrike">
                <a:solidFill>
                  <a:srgbClr val="F0935A"/>
                </a:solidFill>
                <a:latin typeface="Domine"/>
                <a:ea typeface="Domine"/>
                <a:cs typeface="Domine"/>
                <a:sym typeface="Domine"/>
              </a:rPr>
              <a:t>02</a:t>
            </a:r>
            <a:endParaRPr b="0" i="0" sz="3200" u="none" cap="none" strike="noStrike">
              <a:solidFill>
                <a:schemeClr val="dk1"/>
              </a:solidFill>
              <a:latin typeface="Calibri"/>
              <a:ea typeface="Calibri"/>
              <a:cs typeface="Calibri"/>
              <a:sym typeface="Calibri"/>
            </a:endParaRPr>
          </a:p>
        </p:txBody>
      </p:sp>
      <p:sp>
        <p:nvSpPr>
          <p:cNvPr id="206" name="Google Shape;206;p12"/>
          <p:cNvSpPr/>
          <p:nvPr/>
        </p:nvSpPr>
        <p:spPr>
          <a:xfrm>
            <a:off x="4631234" y="2519973"/>
            <a:ext cx="30174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7F2E8"/>
              </a:buClr>
              <a:buSzPts val="1700"/>
              <a:buFont typeface="DM Sans"/>
              <a:buNone/>
            </a:pPr>
            <a:r>
              <a:rPr b="1" i="0" lang="en-US" sz="1700" u="none" cap="none" strike="noStrike">
                <a:solidFill>
                  <a:srgbClr val="F7F2E8"/>
                </a:solidFill>
                <a:latin typeface="DM Sans"/>
                <a:ea typeface="DM Sans"/>
                <a:cs typeface="DM Sans"/>
                <a:sym typeface="DM Sans"/>
              </a:rPr>
              <a:t>Where I corrected the AI</a:t>
            </a:r>
            <a:endParaRPr b="0" i="0" sz="1700" u="none" cap="none" strike="noStrike">
              <a:solidFill>
                <a:schemeClr val="dk1"/>
              </a:solidFill>
              <a:latin typeface="Calibri"/>
              <a:ea typeface="Calibri"/>
              <a:cs typeface="Calibri"/>
              <a:sym typeface="Calibri"/>
            </a:endParaRPr>
          </a:p>
        </p:txBody>
      </p:sp>
      <p:sp>
        <p:nvSpPr>
          <p:cNvPr id="207" name="Google Shape;207;p12"/>
          <p:cNvSpPr/>
          <p:nvPr/>
        </p:nvSpPr>
        <p:spPr>
          <a:xfrm>
            <a:off x="4631213" y="2880671"/>
            <a:ext cx="3017400" cy="28194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D9DEEA"/>
              </a:buClr>
              <a:buSzPts val="1400"/>
              <a:buFont typeface="DM Sans"/>
              <a:buNone/>
            </a:pPr>
            <a:r>
              <a:rPr lang="en-US">
                <a:solidFill>
                  <a:srgbClr val="D9DEEA"/>
                </a:solidFill>
                <a:latin typeface="DM Sans"/>
                <a:ea typeface="DM Sans"/>
                <a:cs typeface="DM Sans"/>
                <a:sym typeface="DM Sans"/>
              </a:rPr>
              <a:t>AI sometimes did too much segmentation for the Harvey Balls table and other things that were not as helpful as it might have been intending. </a:t>
            </a:r>
            <a:endParaRPr>
              <a:solidFill>
                <a:srgbClr val="D9DEEA"/>
              </a:solidFill>
              <a:latin typeface="DM Sans"/>
              <a:ea typeface="DM Sans"/>
              <a:cs typeface="DM Sans"/>
              <a:sym typeface="DM Sans"/>
            </a:endParaRPr>
          </a:p>
          <a:p>
            <a:pPr indent="0" lvl="0" marL="0" marR="0" rtl="0" algn="ctr">
              <a:lnSpc>
                <a:spcPct val="140000"/>
              </a:lnSpc>
              <a:spcBef>
                <a:spcPts val="0"/>
              </a:spcBef>
              <a:spcAft>
                <a:spcPts val="0"/>
              </a:spcAft>
              <a:buClr>
                <a:srgbClr val="D9DEEA"/>
              </a:buClr>
              <a:buSzPts val="1400"/>
              <a:buFont typeface="DM Sans"/>
              <a:buNone/>
            </a:pPr>
            <a:r>
              <a:rPr lang="en-US">
                <a:solidFill>
                  <a:srgbClr val="D9DEEA"/>
                </a:solidFill>
                <a:latin typeface="DM Sans"/>
                <a:ea typeface="DM Sans"/>
                <a:cs typeface="DM Sans"/>
                <a:sym typeface="DM Sans"/>
              </a:rPr>
              <a:t>AI missed how regionality can really influence the market of this type of product.</a:t>
            </a:r>
            <a:endParaRPr>
              <a:solidFill>
                <a:srgbClr val="D9DEEA"/>
              </a:solidFill>
              <a:latin typeface="DM Sans"/>
              <a:ea typeface="DM Sans"/>
              <a:cs typeface="DM Sans"/>
              <a:sym typeface="DM Sans"/>
            </a:endParaRPr>
          </a:p>
          <a:p>
            <a:pPr indent="0" lvl="0" marL="0" marR="0" rtl="0" algn="ctr">
              <a:lnSpc>
                <a:spcPct val="140000"/>
              </a:lnSpc>
              <a:spcBef>
                <a:spcPts val="0"/>
              </a:spcBef>
              <a:spcAft>
                <a:spcPts val="0"/>
              </a:spcAft>
              <a:buClr>
                <a:srgbClr val="D9DEEA"/>
              </a:buClr>
              <a:buSzPts val="1400"/>
              <a:buFont typeface="DM Sans"/>
              <a:buNone/>
            </a:pPr>
            <a:r>
              <a:t/>
            </a:r>
            <a:endParaRPr>
              <a:solidFill>
                <a:srgbClr val="D9DEEA"/>
              </a:solidFill>
              <a:latin typeface="DM Sans"/>
              <a:ea typeface="DM Sans"/>
              <a:cs typeface="DM Sans"/>
              <a:sym typeface="DM Sans"/>
            </a:endParaRPr>
          </a:p>
          <a:p>
            <a:pPr indent="0" lvl="0" marL="0" marR="0" rtl="0" algn="ctr">
              <a:lnSpc>
                <a:spcPct val="140000"/>
              </a:lnSpc>
              <a:spcBef>
                <a:spcPts val="0"/>
              </a:spcBef>
              <a:spcAft>
                <a:spcPts val="0"/>
              </a:spcAft>
              <a:buClr>
                <a:srgbClr val="D9DEEA"/>
              </a:buClr>
              <a:buSzPts val="1400"/>
              <a:buFont typeface="DM Sans"/>
              <a:buNone/>
            </a:pPr>
            <a:r>
              <a:t/>
            </a:r>
            <a:endParaRPr>
              <a:solidFill>
                <a:srgbClr val="D9DEEA"/>
              </a:solidFill>
              <a:latin typeface="DM Sans"/>
              <a:ea typeface="DM Sans"/>
              <a:cs typeface="DM Sans"/>
              <a:sym typeface="DM Sans"/>
            </a:endParaRPr>
          </a:p>
        </p:txBody>
      </p:sp>
      <p:sp>
        <p:nvSpPr>
          <p:cNvPr id="208" name="Google Shape;208;p12"/>
          <p:cNvSpPr/>
          <p:nvPr/>
        </p:nvSpPr>
        <p:spPr>
          <a:xfrm>
            <a:off x="7992517" y="1950641"/>
            <a:ext cx="3386683" cy="3431629"/>
          </a:xfrm>
          <a:prstGeom prst="roundRect">
            <a:avLst>
              <a:gd fmla="val 3750" name="adj"/>
            </a:avLst>
          </a:prstGeom>
          <a:solidFill>
            <a:srgbClr val="1D2E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2"/>
          <p:cNvSpPr/>
          <p:nvPr/>
        </p:nvSpPr>
        <p:spPr>
          <a:xfrm>
            <a:off x="8221117" y="2011973"/>
            <a:ext cx="3017400" cy="4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0935A"/>
              </a:buClr>
              <a:buSzPts val="3200"/>
              <a:buFont typeface="Domine"/>
              <a:buNone/>
            </a:pPr>
            <a:r>
              <a:rPr b="1" i="0" lang="en-US" sz="3200" u="none" cap="none" strike="noStrike">
                <a:solidFill>
                  <a:srgbClr val="F0935A"/>
                </a:solidFill>
                <a:latin typeface="Domine"/>
                <a:ea typeface="Domine"/>
                <a:cs typeface="Domine"/>
                <a:sym typeface="Domine"/>
              </a:rPr>
              <a:t>03</a:t>
            </a:r>
            <a:endParaRPr b="0" i="0" sz="3200" u="none" cap="none" strike="noStrike">
              <a:solidFill>
                <a:schemeClr val="dk1"/>
              </a:solidFill>
              <a:latin typeface="Calibri"/>
              <a:ea typeface="Calibri"/>
              <a:cs typeface="Calibri"/>
              <a:sym typeface="Calibri"/>
            </a:endParaRPr>
          </a:p>
        </p:txBody>
      </p:sp>
      <p:sp>
        <p:nvSpPr>
          <p:cNvPr id="210" name="Google Shape;210;p12"/>
          <p:cNvSpPr/>
          <p:nvPr/>
        </p:nvSpPr>
        <p:spPr>
          <a:xfrm>
            <a:off x="8221117" y="2519973"/>
            <a:ext cx="30174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7F2E8"/>
              </a:buClr>
              <a:buSzPts val="1700"/>
              <a:buFont typeface="DM Sans"/>
              <a:buNone/>
            </a:pPr>
            <a:r>
              <a:rPr b="1" i="0" lang="en-US" sz="1700" u="none" cap="none" strike="noStrike">
                <a:solidFill>
                  <a:srgbClr val="F7F2E8"/>
                </a:solidFill>
                <a:latin typeface="DM Sans"/>
                <a:ea typeface="DM Sans"/>
                <a:cs typeface="DM Sans"/>
                <a:sym typeface="DM Sans"/>
              </a:rPr>
              <a:t>Strategic insights</a:t>
            </a:r>
            <a:endParaRPr b="0" i="0" sz="1700" u="none" cap="none" strike="noStrike">
              <a:solidFill>
                <a:schemeClr val="dk1"/>
              </a:solidFill>
              <a:latin typeface="Calibri"/>
              <a:ea typeface="Calibri"/>
              <a:cs typeface="Calibri"/>
              <a:sym typeface="Calibri"/>
            </a:endParaRPr>
          </a:p>
        </p:txBody>
      </p:sp>
      <p:sp>
        <p:nvSpPr>
          <p:cNvPr id="211" name="Google Shape;211;p12"/>
          <p:cNvSpPr/>
          <p:nvPr/>
        </p:nvSpPr>
        <p:spPr>
          <a:xfrm>
            <a:off x="8221100" y="2880672"/>
            <a:ext cx="3017400" cy="22602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D9DEEA"/>
              </a:buClr>
              <a:buSzPts val="1400"/>
              <a:buFont typeface="DM Sans"/>
              <a:buNone/>
            </a:pPr>
            <a:r>
              <a:rPr lang="en-US">
                <a:solidFill>
                  <a:srgbClr val="D9DEEA"/>
                </a:solidFill>
                <a:latin typeface="DM Sans"/>
                <a:ea typeface="DM Sans"/>
                <a:cs typeface="DM Sans"/>
                <a:sym typeface="DM Sans"/>
              </a:rPr>
              <a:t>Public Storage is also an alternative solution to this problem.</a:t>
            </a:r>
            <a:endParaRPr>
              <a:solidFill>
                <a:srgbClr val="D9DEEA"/>
              </a:solidFill>
              <a:latin typeface="DM Sans"/>
              <a:ea typeface="DM Sans"/>
              <a:cs typeface="DM Sans"/>
              <a:sym typeface="DM Sans"/>
            </a:endParaRPr>
          </a:p>
          <a:p>
            <a:pPr indent="0" lvl="0" marL="0" marR="0" rtl="0" algn="ctr">
              <a:lnSpc>
                <a:spcPct val="140000"/>
              </a:lnSpc>
              <a:spcBef>
                <a:spcPts val="0"/>
              </a:spcBef>
              <a:spcAft>
                <a:spcPts val="0"/>
              </a:spcAft>
              <a:buClr>
                <a:srgbClr val="D9DEEA"/>
              </a:buClr>
              <a:buSzPts val="1400"/>
              <a:buFont typeface="DM Sans"/>
              <a:buNone/>
            </a:pPr>
            <a:r>
              <a:rPr lang="en-US">
                <a:solidFill>
                  <a:srgbClr val="D9DEEA"/>
                </a:solidFill>
                <a:latin typeface="DM Sans"/>
                <a:ea typeface="DM Sans"/>
                <a:cs typeface="DM Sans"/>
                <a:sym typeface="DM Sans"/>
              </a:rPr>
              <a:t>Could offer </a:t>
            </a:r>
            <a:r>
              <a:rPr lang="en-US">
                <a:solidFill>
                  <a:srgbClr val="D9DEEA"/>
                </a:solidFill>
                <a:latin typeface="DM Sans"/>
                <a:ea typeface="DM Sans"/>
                <a:cs typeface="DM Sans"/>
                <a:sym typeface="DM Sans"/>
              </a:rPr>
              <a:t>students contracted positions to actually pick up furniture</a:t>
            </a:r>
            <a:endParaRPr>
              <a:solidFill>
                <a:srgbClr val="D9DEEA"/>
              </a:solidFill>
              <a:latin typeface="DM Sans"/>
              <a:ea typeface="DM Sans"/>
              <a:cs typeface="DM Sans"/>
              <a:sym typeface="DM Sans"/>
            </a:endParaRPr>
          </a:p>
        </p:txBody>
      </p:sp>
      <p:sp>
        <p:nvSpPr>
          <p:cNvPr id="212" name="Google Shape;212;p12"/>
          <p:cNvSpPr/>
          <p:nvPr/>
        </p:nvSpPr>
        <p:spPr>
          <a:xfrm>
            <a:off x="812800" y="6238280"/>
            <a:ext cx="71945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FC7D9"/>
              </a:buClr>
              <a:buSzPts val="1200"/>
              <a:buFont typeface="DM Sans"/>
              <a:buNone/>
            </a:pPr>
            <a:r>
              <a:rPr b="0" i="0" lang="en-US" sz="1200" u="none" cap="none" strike="noStrike">
                <a:solidFill>
                  <a:srgbClr val="BFC7D9"/>
                </a:solidFill>
                <a:latin typeface="DM Sans"/>
                <a:ea typeface="DM Sans"/>
                <a:cs typeface="DM Sans"/>
                <a:sym typeface="DM Sans"/>
              </a:rPr>
              <a:t>Source: Workbook Part 6 (6A + 6C)</a:t>
            </a:r>
            <a:endParaRPr b="0" i="0" sz="1200" u="none" cap="none" strike="noStrike">
              <a:solidFill>
                <a:schemeClr val="dk1"/>
              </a:solidFill>
              <a:latin typeface="Calibri"/>
              <a:ea typeface="Calibri"/>
              <a:cs typeface="Calibri"/>
              <a:sym typeface="Calibri"/>
            </a:endParaRPr>
          </a:p>
        </p:txBody>
      </p:sp>
      <p:sp>
        <p:nvSpPr>
          <p:cNvPr id="213" name="Google Shape;213;p12"/>
          <p:cNvSpPr/>
          <p:nvPr/>
        </p:nvSpPr>
        <p:spPr>
          <a:xfrm>
            <a:off x="8108950" y="6238280"/>
            <a:ext cx="327025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FC7D9"/>
              </a:buClr>
              <a:buSzPts val="1200"/>
              <a:buFont typeface="DM Sans"/>
              <a:buNone/>
            </a:pPr>
            <a:r>
              <a:rPr b="0" i="0" lang="en-US" sz="1200" u="none" cap="none" strike="noStrike">
                <a:solidFill>
                  <a:srgbClr val="BFC7D9"/>
                </a:solidFill>
                <a:latin typeface="DM Sans"/>
                <a:ea typeface="DM Sans"/>
                <a:cs typeface="DM Sans"/>
                <a:sym typeface="DM Sans"/>
              </a:rPr>
              <a:t>Relay · 10</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p13" title="截屏2026-09-23 22.00.13.png"/>
          <p:cNvPicPr preferRelativeResize="0"/>
          <p:nvPr/>
        </p:nvPicPr>
        <p:blipFill rotWithShape="1">
          <a:blip r:embed="rId3">
            <a:alphaModFix/>
          </a:blip>
          <a:srcRect b="20000" l="0" r="0" t="0"/>
          <a:stretch/>
        </p:blipFill>
        <p:spPr>
          <a:xfrm>
            <a:off x="5275" y="213213"/>
            <a:ext cx="12181448" cy="5486401"/>
          </a:xfrm>
          <a:prstGeom prst="rect">
            <a:avLst/>
          </a:prstGeom>
          <a:noFill/>
          <a:ln>
            <a:noFill/>
          </a:ln>
        </p:spPr>
      </p:pic>
      <p:sp>
        <p:nvSpPr>
          <p:cNvPr id="220" name="Google Shape;220;p13"/>
          <p:cNvSpPr txBox="1"/>
          <p:nvPr/>
        </p:nvSpPr>
        <p:spPr>
          <a:xfrm>
            <a:off x="1720425" y="249175"/>
            <a:ext cx="683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Old Lean Canvas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225" name="Shape 225"/>
        <p:cNvGrpSpPr/>
        <p:nvPr/>
      </p:nvGrpSpPr>
      <p:grpSpPr>
        <a:xfrm>
          <a:off x="0" y="0"/>
          <a:ext cx="0" cy="0"/>
          <a:chOff x="0" y="0"/>
          <a:chExt cx="0" cy="0"/>
        </a:xfrm>
      </p:grpSpPr>
      <p:sp>
        <p:nvSpPr>
          <p:cNvPr id="226" name="Google Shape;226;p14"/>
          <p:cNvSpPr/>
          <p:nvPr/>
        </p:nvSpPr>
        <p:spPr>
          <a:xfrm>
            <a:off x="812800" y="850900"/>
            <a:ext cx="20009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4A14"/>
              </a:buClr>
              <a:buSzPts val="1200"/>
              <a:buFont typeface="DM Sans"/>
              <a:buNone/>
            </a:pPr>
            <a:r>
              <a:rPr b="1" i="0" lang="en-US" sz="1200" u="none" cap="none" strike="noStrike">
                <a:solidFill>
                  <a:srgbClr val="B84A14"/>
                </a:solidFill>
                <a:latin typeface="DM Sans"/>
                <a:ea typeface="DM Sans"/>
                <a:cs typeface="DM Sans"/>
                <a:sym typeface="DM Sans"/>
              </a:rPr>
              <a:t>LEAN CANVAS · NO AI</a:t>
            </a:r>
            <a:endParaRPr b="0" i="0" sz="1200" u="none" cap="none" strike="noStrike">
              <a:solidFill>
                <a:schemeClr val="dk1"/>
              </a:solidFill>
              <a:latin typeface="Calibri"/>
              <a:ea typeface="Calibri"/>
              <a:cs typeface="Calibri"/>
              <a:sym typeface="Calibri"/>
            </a:endParaRPr>
          </a:p>
        </p:txBody>
      </p:sp>
      <p:sp>
        <p:nvSpPr>
          <p:cNvPr id="227" name="Google Shape;227;p14"/>
          <p:cNvSpPr/>
          <p:nvPr/>
        </p:nvSpPr>
        <p:spPr>
          <a:xfrm>
            <a:off x="812800" y="1330920"/>
            <a:ext cx="10883392" cy="416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4213D"/>
              </a:buClr>
              <a:buSzPts val="2800"/>
              <a:buFont typeface="Domine"/>
              <a:buNone/>
            </a:pPr>
            <a:r>
              <a:rPr b="1" i="0" lang="en-US" sz="2800" u="none" cap="none" strike="noStrike">
                <a:solidFill>
                  <a:srgbClr val="14213D"/>
                </a:solidFill>
                <a:latin typeface="Domine"/>
                <a:ea typeface="Domine"/>
                <a:cs typeface="Domine"/>
                <a:sym typeface="Domine"/>
              </a:rPr>
              <a:t>Lean canvas, </a:t>
            </a:r>
            <a:r>
              <a:rPr b="1" lang="en-US" sz="2800">
                <a:solidFill>
                  <a:srgbClr val="14213D"/>
                </a:solidFill>
                <a:latin typeface="Domine"/>
                <a:ea typeface="Domine"/>
                <a:cs typeface="Domine"/>
                <a:sym typeface="Domine"/>
              </a:rPr>
              <a:t>Changes</a:t>
            </a:r>
            <a:endParaRPr b="0" i="0" sz="2800" u="none" cap="none" strike="noStrike">
              <a:solidFill>
                <a:schemeClr val="dk1"/>
              </a:solidFill>
              <a:latin typeface="Calibri"/>
              <a:ea typeface="Calibri"/>
              <a:cs typeface="Calibri"/>
              <a:sym typeface="Calibri"/>
            </a:endParaRPr>
          </a:p>
        </p:txBody>
      </p:sp>
      <p:sp>
        <p:nvSpPr>
          <p:cNvPr id="228" name="Google Shape;228;p14"/>
          <p:cNvSpPr/>
          <p:nvPr/>
        </p:nvSpPr>
        <p:spPr>
          <a:xfrm>
            <a:off x="812800" y="1950641"/>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300"/>
              <a:buFont typeface="DM Sans"/>
              <a:buNone/>
            </a:pPr>
            <a:r>
              <a:rPr b="0" i="0" lang="en-US" sz="1300" u="none" cap="none" strike="noStrike">
                <a:solidFill>
                  <a:srgbClr val="4A5568"/>
                </a:solidFill>
                <a:latin typeface="DM Sans"/>
                <a:ea typeface="DM Sans"/>
                <a:cs typeface="DM Sans"/>
                <a:sym typeface="DM Sans"/>
              </a:rPr>
              <a:t>Orange outline = update these from your competitive analysis: problem, value proposition, channels, and advantage.</a:t>
            </a:r>
            <a:endParaRPr b="0" i="0" sz="1300" u="none" cap="none" strike="noStrike">
              <a:solidFill>
                <a:schemeClr val="dk1"/>
              </a:solidFill>
              <a:latin typeface="Calibri"/>
              <a:ea typeface="Calibri"/>
              <a:cs typeface="Calibri"/>
              <a:sym typeface="Calibri"/>
            </a:endParaRPr>
          </a:p>
        </p:txBody>
      </p:sp>
      <p:sp>
        <p:nvSpPr>
          <p:cNvPr id="229" name="Google Shape;229;p14"/>
          <p:cNvSpPr/>
          <p:nvPr/>
        </p:nvSpPr>
        <p:spPr>
          <a:xfrm>
            <a:off x="598400" y="2410375"/>
            <a:ext cx="2215500" cy="1645800"/>
          </a:xfrm>
          <a:prstGeom prst="roundRect">
            <a:avLst>
              <a:gd fmla="val 5594" name="adj"/>
            </a:avLst>
          </a:prstGeom>
          <a:solidFill>
            <a:srgbClr val="FBF8F1"/>
          </a:solidFill>
          <a:ln cap="flat" cmpd="sng" w="19050">
            <a:solidFill>
              <a:srgbClr val="B84A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4"/>
          <p:cNvSpPr/>
          <p:nvPr/>
        </p:nvSpPr>
        <p:spPr>
          <a:xfrm>
            <a:off x="830425" y="2472486"/>
            <a:ext cx="1745100" cy="223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4213D"/>
              </a:buClr>
              <a:buSzPts val="1300"/>
              <a:buFont typeface="DM Sans"/>
              <a:buNone/>
            </a:pPr>
            <a:r>
              <a:rPr b="1" i="0" lang="en-US" sz="1300" u="none" cap="none" strike="noStrike">
                <a:solidFill>
                  <a:srgbClr val="14213D"/>
                </a:solidFill>
                <a:latin typeface="DM Sans"/>
                <a:ea typeface="DM Sans"/>
                <a:cs typeface="DM Sans"/>
                <a:sym typeface="DM Sans"/>
              </a:rPr>
              <a:t>Problem</a:t>
            </a:r>
            <a:endParaRPr b="0" i="0" sz="1300" u="none" cap="none" strike="noStrike">
              <a:solidFill>
                <a:schemeClr val="dk1"/>
              </a:solidFill>
              <a:latin typeface="Calibri"/>
              <a:ea typeface="Calibri"/>
              <a:cs typeface="Calibri"/>
              <a:sym typeface="Calibri"/>
            </a:endParaRPr>
          </a:p>
        </p:txBody>
      </p:sp>
      <p:sp>
        <p:nvSpPr>
          <p:cNvPr id="231" name="Google Shape;231;p14"/>
          <p:cNvSpPr/>
          <p:nvPr/>
        </p:nvSpPr>
        <p:spPr>
          <a:xfrm>
            <a:off x="624825" y="2641775"/>
            <a:ext cx="2215500" cy="1119900"/>
          </a:xfrm>
          <a:prstGeom prst="rect">
            <a:avLst/>
          </a:prstGeom>
          <a:noFill/>
          <a:ln>
            <a:noFill/>
          </a:ln>
        </p:spPr>
        <p:txBody>
          <a:bodyPr anchorCtr="0" anchor="t" bIns="0" lIns="0" spcFirstLastPara="1" rIns="0" wrap="square" tIns="0">
            <a:noAutofit/>
          </a:bodyPr>
          <a:lstStyle/>
          <a:p>
            <a:pPr indent="0" lvl="0" marL="0" rtl="0" algn="ctr">
              <a:lnSpc>
                <a:spcPct val="140000"/>
              </a:lnSpc>
              <a:spcBef>
                <a:spcPts val="0"/>
              </a:spcBef>
              <a:spcAft>
                <a:spcPts val="0"/>
              </a:spcAft>
              <a:buClr>
                <a:schemeClr val="dk1"/>
              </a:buClr>
              <a:buSzPts val="1100"/>
              <a:buFont typeface="Arial"/>
              <a:buNone/>
            </a:pPr>
            <a:r>
              <a:rPr lang="en-US" sz="1100">
                <a:solidFill>
                  <a:srgbClr val="5B6472"/>
                </a:solidFill>
                <a:latin typeface="DM Sans"/>
                <a:ea typeface="DM Sans"/>
                <a:cs typeface="DM Sans"/>
                <a:sym typeface="DM Sans"/>
              </a:rPr>
              <a:t>Seniors </a:t>
            </a:r>
            <a:r>
              <a:rPr b="1" lang="en-US" sz="1100">
                <a:solidFill>
                  <a:srgbClr val="5B6472"/>
                </a:solidFill>
                <a:latin typeface="DM Sans"/>
                <a:ea typeface="DM Sans"/>
                <a:cs typeface="DM Sans"/>
                <a:sym typeface="DM Sans"/>
              </a:rPr>
              <a:t>must get rid of furniture before incoming students arrive.</a:t>
            </a:r>
            <a:endParaRPr sz="1100">
              <a:solidFill>
                <a:srgbClr val="5B6472"/>
              </a:solidFill>
              <a:latin typeface="DM Sans"/>
              <a:ea typeface="DM Sans"/>
              <a:cs typeface="DM Sans"/>
              <a:sym typeface="DM Sans"/>
            </a:endParaRPr>
          </a:p>
          <a:p>
            <a:pPr indent="0" lvl="0" marL="0" rtl="0" algn="ctr">
              <a:lnSpc>
                <a:spcPct val="140000"/>
              </a:lnSpc>
              <a:spcBef>
                <a:spcPts val="0"/>
              </a:spcBef>
              <a:spcAft>
                <a:spcPts val="0"/>
              </a:spcAft>
              <a:buClr>
                <a:schemeClr val="dk1"/>
              </a:buClr>
              <a:buSzPts val="1100"/>
              <a:buFont typeface="Arial"/>
              <a:buNone/>
            </a:pPr>
            <a:r>
              <a:rPr lang="en-US" sz="1100">
                <a:solidFill>
                  <a:srgbClr val="5B6472"/>
                </a:solidFill>
                <a:latin typeface="DM Sans"/>
                <a:ea typeface="DM Sans"/>
                <a:cs typeface="DM Sans"/>
                <a:sym typeface="DM Sans"/>
              </a:rPr>
              <a:t>Existing </a:t>
            </a:r>
            <a:r>
              <a:rPr b="1" lang="en-US" sz="1100">
                <a:solidFill>
                  <a:srgbClr val="5B6472"/>
                </a:solidFill>
                <a:latin typeface="DM Sans"/>
                <a:ea typeface="DM Sans"/>
                <a:cs typeface="DM Sans"/>
                <a:sym typeface="DM Sans"/>
              </a:rPr>
              <a:t>resale options do not solve storage or delayed handoff.</a:t>
            </a:r>
            <a:endParaRPr sz="900">
              <a:solidFill>
                <a:srgbClr val="5B6472"/>
              </a:solidFill>
              <a:latin typeface="DM Sans"/>
              <a:ea typeface="DM Sans"/>
              <a:cs typeface="DM Sans"/>
              <a:sym typeface="DM Sans"/>
            </a:endParaRPr>
          </a:p>
        </p:txBody>
      </p:sp>
      <p:sp>
        <p:nvSpPr>
          <p:cNvPr id="232" name="Google Shape;232;p14"/>
          <p:cNvSpPr/>
          <p:nvPr/>
        </p:nvSpPr>
        <p:spPr>
          <a:xfrm>
            <a:off x="2957810" y="2416721"/>
            <a:ext cx="2011710" cy="1652290"/>
          </a:xfrm>
          <a:prstGeom prst="roundRect">
            <a:avLst>
              <a:gd fmla="val 5765" name="adj"/>
            </a:avLst>
          </a:prstGeom>
          <a:solidFill>
            <a:srgbClr val="EDE5D3"/>
          </a:solidFill>
          <a:ln cap="flat" cmpd="sng" w="12700">
            <a:solidFill>
              <a:srgbClr val="CFC5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4"/>
          <p:cNvSpPr/>
          <p:nvPr/>
        </p:nvSpPr>
        <p:spPr>
          <a:xfrm>
            <a:off x="3158873" y="2497484"/>
            <a:ext cx="1745100" cy="223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4213D"/>
              </a:buClr>
              <a:buSzPts val="1300"/>
              <a:buFont typeface="DM Sans"/>
              <a:buNone/>
            </a:pPr>
            <a:r>
              <a:rPr b="1" i="0" lang="en-US" sz="1300" u="none" cap="none" strike="noStrike">
                <a:solidFill>
                  <a:srgbClr val="14213D"/>
                </a:solidFill>
                <a:latin typeface="DM Sans"/>
                <a:ea typeface="DM Sans"/>
                <a:cs typeface="DM Sans"/>
                <a:sym typeface="DM Sans"/>
              </a:rPr>
              <a:t>Solution</a:t>
            </a:r>
            <a:endParaRPr b="0" i="0" sz="1300" u="none" cap="none" strike="noStrike">
              <a:solidFill>
                <a:schemeClr val="dk1"/>
              </a:solidFill>
              <a:latin typeface="Calibri"/>
              <a:ea typeface="Calibri"/>
              <a:cs typeface="Calibri"/>
              <a:sym typeface="Calibri"/>
            </a:endParaRPr>
          </a:p>
        </p:txBody>
      </p:sp>
      <p:sp>
        <p:nvSpPr>
          <p:cNvPr id="234" name="Google Shape;234;p14"/>
          <p:cNvSpPr/>
          <p:nvPr/>
        </p:nvSpPr>
        <p:spPr>
          <a:xfrm>
            <a:off x="3030963" y="2747211"/>
            <a:ext cx="1865400" cy="10548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1200"/>
              </a:spcBef>
              <a:spcAft>
                <a:spcPts val="1200"/>
              </a:spcAft>
              <a:buClr>
                <a:schemeClr val="dk1"/>
              </a:buClr>
              <a:buSzPts val="1100"/>
              <a:buFont typeface="Arial"/>
              <a:buNone/>
            </a:pPr>
            <a:r>
              <a:rPr lang="en-US" sz="1200">
                <a:solidFill>
                  <a:srgbClr val="5B6472"/>
                </a:solidFill>
                <a:latin typeface="DM Sans"/>
                <a:ea typeface="DM Sans"/>
                <a:cs typeface="DM Sans"/>
                <a:sym typeface="DM Sans"/>
              </a:rPr>
              <a:t>Campus resale marketplace with integrated summer storage and move-in delivery.</a:t>
            </a:r>
            <a:endParaRPr sz="1200">
              <a:solidFill>
                <a:srgbClr val="5B6472"/>
              </a:solidFill>
              <a:latin typeface="DM Sans"/>
              <a:ea typeface="DM Sans"/>
              <a:cs typeface="DM Sans"/>
              <a:sym typeface="DM Sans"/>
            </a:endParaRPr>
          </a:p>
        </p:txBody>
      </p:sp>
      <p:sp>
        <p:nvSpPr>
          <p:cNvPr id="235" name="Google Shape;235;p14"/>
          <p:cNvSpPr/>
          <p:nvPr/>
        </p:nvSpPr>
        <p:spPr>
          <a:xfrm>
            <a:off x="5086995" y="2419896"/>
            <a:ext cx="2018010" cy="1645940"/>
          </a:xfrm>
          <a:prstGeom prst="roundRect">
            <a:avLst>
              <a:gd fmla="val 5594" name="adj"/>
            </a:avLst>
          </a:prstGeom>
          <a:solidFill>
            <a:srgbClr val="FBF8F1"/>
          </a:solidFill>
          <a:ln cap="flat" cmpd="sng" w="19050">
            <a:solidFill>
              <a:srgbClr val="B84A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4"/>
          <p:cNvSpPr/>
          <p:nvPr/>
        </p:nvSpPr>
        <p:spPr>
          <a:xfrm>
            <a:off x="5248920" y="2581821"/>
            <a:ext cx="1744985"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300"/>
              <a:buFont typeface="DM Sans"/>
              <a:buNone/>
            </a:pPr>
            <a:r>
              <a:rPr b="1" i="0" lang="en-US" sz="1300" u="none" cap="none" strike="noStrike">
                <a:solidFill>
                  <a:srgbClr val="14213D"/>
                </a:solidFill>
                <a:latin typeface="DM Sans"/>
                <a:ea typeface="DM Sans"/>
                <a:cs typeface="DM Sans"/>
                <a:sym typeface="DM Sans"/>
              </a:rPr>
              <a:t>Value prop</a:t>
            </a:r>
            <a:endParaRPr b="0" i="0" sz="1300" u="none" cap="none" strike="noStrike">
              <a:solidFill>
                <a:schemeClr val="dk1"/>
              </a:solidFill>
              <a:latin typeface="Calibri"/>
              <a:ea typeface="Calibri"/>
              <a:cs typeface="Calibri"/>
              <a:sym typeface="Calibri"/>
            </a:endParaRPr>
          </a:p>
        </p:txBody>
      </p:sp>
      <p:sp>
        <p:nvSpPr>
          <p:cNvPr id="237" name="Google Shape;237;p14"/>
          <p:cNvSpPr/>
          <p:nvPr/>
        </p:nvSpPr>
        <p:spPr>
          <a:xfrm>
            <a:off x="5113350" y="2843400"/>
            <a:ext cx="1883400" cy="9021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5B6472"/>
              </a:buClr>
              <a:buSzPts val="1200"/>
              <a:buFont typeface="DM Sans"/>
              <a:buNone/>
            </a:pPr>
            <a:r>
              <a:rPr lang="en-US" sz="1100">
                <a:solidFill>
                  <a:srgbClr val="5B6472"/>
                </a:solidFill>
                <a:latin typeface="DM Sans"/>
                <a:ea typeface="DM Sans"/>
                <a:cs typeface="DM Sans"/>
                <a:sym typeface="DM Sans"/>
              </a:rPr>
              <a:t>Buy and sell campus furniture across the summer gap without storing, shipping, or coordinating handoffs yourself.</a:t>
            </a:r>
            <a:endParaRPr b="0" i="0" sz="1100" u="none" cap="none" strike="noStrike">
              <a:solidFill>
                <a:schemeClr val="dk1"/>
              </a:solidFill>
              <a:latin typeface="Calibri"/>
              <a:ea typeface="Calibri"/>
              <a:cs typeface="Calibri"/>
              <a:sym typeface="Calibri"/>
            </a:endParaRPr>
          </a:p>
        </p:txBody>
      </p:sp>
      <p:sp>
        <p:nvSpPr>
          <p:cNvPr id="238" name="Google Shape;238;p14"/>
          <p:cNvSpPr/>
          <p:nvPr/>
        </p:nvSpPr>
        <p:spPr>
          <a:xfrm>
            <a:off x="7225655" y="2419896"/>
            <a:ext cx="2018060" cy="1645940"/>
          </a:xfrm>
          <a:prstGeom prst="roundRect">
            <a:avLst>
              <a:gd fmla="val 5594" name="adj"/>
            </a:avLst>
          </a:prstGeom>
          <a:solidFill>
            <a:srgbClr val="FBF8F1"/>
          </a:solidFill>
          <a:ln cap="flat" cmpd="sng" w="19050">
            <a:solidFill>
              <a:srgbClr val="B84A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4"/>
          <p:cNvSpPr/>
          <p:nvPr/>
        </p:nvSpPr>
        <p:spPr>
          <a:xfrm>
            <a:off x="7360580" y="2497484"/>
            <a:ext cx="17451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300"/>
              <a:buFont typeface="DM Sans"/>
              <a:buNone/>
            </a:pPr>
            <a:r>
              <a:rPr b="1" i="0" lang="en-US" sz="1300" u="none" cap="none" strike="noStrike">
                <a:solidFill>
                  <a:srgbClr val="14213D"/>
                </a:solidFill>
                <a:latin typeface="DM Sans"/>
                <a:ea typeface="DM Sans"/>
                <a:cs typeface="DM Sans"/>
                <a:sym typeface="DM Sans"/>
              </a:rPr>
              <a:t>Advantage</a:t>
            </a:r>
            <a:endParaRPr b="0" i="0" sz="1300" u="none" cap="none" strike="noStrike">
              <a:solidFill>
                <a:schemeClr val="dk1"/>
              </a:solidFill>
              <a:latin typeface="Calibri"/>
              <a:ea typeface="Calibri"/>
              <a:cs typeface="Calibri"/>
              <a:sym typeface="Calibri"/>
            </a:endParaRPr>
          </a:p>
        </p:txBody>
      </p:sp>
      <p:sp>
        <p:nvSpPr>
          <p:cNvPr id="240" name="Google Shape;240;p14"/>
          <p:cNvSpPr/>
          <p:nvPr/>
        </p:nvSpPr>
        <p:spPr>
          <a:xfrm>
            <a:off x="7360575" y="2720959"/>
            <a:ext cx="1745100" cy="11199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chemeClr val="dk1"/>
              </a:buClr>
              <a:buSzPts val="1100"/>
              <a:buFont typeface="Arial"/>
              <a:buNone/>
            </a:pPr>
            <a:r>
              <a:rPr lang="en-US" sz="1100">
                <a:solidFill>
                  <a:srgbClr val="5B6472"/>
                </a:solidFill>
                <a:latin typeface="DM Sans"/>
                <a:ea typeface="DM Sans"/>
                <a:cs typeface="DM Sans"/>
                <a:sym typeface="DM Sans"/>
              </a:rPr>
              <a:t>University partnerships → More sellers create better inventory, attracting more buyers and strengthening local marketplace liquidity.</a:t>
            </a:r>
            <a:endParaRPr sz="1100">
              <a:solidFill>
                <a:srgbClr val="5B6472"/>
              </a:solidFill>
              <a:latin typeface="DM Sans"/>
              <a:ea typeface="DM Sans"/>
              <a:cs typeface="DM Sans"/>
              <a:sym typeface="DM Sans"/>
            </a:endParaRPr>
          </a:p>
        </p:txBody>
      </p:sp>
      <p:sp>
        <p:nvSpPr>
          <p:cNvPr id="241" name="Google Shape;241;p14"/>
          <p:cNvSpPr/>
          <p:nvPr/>
        </p:nvSpPr>
        <p:spPr>
          <a:xfrm>
            <a:off x="9361190" y="2416721"/>
            <a:ext cx="2011660" cy="1652290"/>
          </a:xfrm>
          <a:prstGeom prst="roundRect">
            <a:avLst>
              <a:gd fmla="val 5765" name="adj"/>
            </a:avLst>
          </a:prstGeom>
          <a:solidFill>
            <a:srgbClr val="EDE5D3"/>
          </a:solidFill>
          <a:ln cap="flat" cmpd="sng" w="12700">
            <a:solidFill>
              <a:srgbClr val="CFC5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4"/>
          <p:cNvSpPr/>
          <p:nvPr/>
        </p:nvSpPr>
        <p:spPr>
          <a:xfrm>
            <a:off x="9519940" y="2575471"/>
            <a:ext cx="1744985"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300"/>
              <a:buFont typeface="DM Sans"/>
              <a:buNone/>
            </a:pPr>
            <a:r>
              <a:rPr b="1" i="0" lang="en-US" sz="1300" u="none" cap="none" strike="noStrike">
                <a:solidFill>
                  <a:srgbClr val="14213D"/>
                </a:solidFill>
                <a:latin typeface="DM Sans"/>
                <a:ea typeface="DM Sans"/>
                <a:cs typeface="DM Sans"/>
                <a:sym typeface="DM Sans"/>
              </a:rPr>
              <a:t>Customers</a:t>
            </a:r>
            <a:endParaRPr b="0" i="0" sz="1300" u="none" cap="none" strike="noStrike">
              <a:solidFill>
                <a:schemeClr val="dk1"/>
              </a:solidFill>
              <a:latin typeface="Calibri"/>
              <a:ea typeface="Calibri"/>
              <a:cs typeface="Calibri"/>
              <a:sym typeface="Calibri"/>
            </a:endParaRPr>
          </a:p>
        </p:txBody>
      </p:sp>
      <p:sp>
        <p:nvSpPr>
          <p:cNvPr id="243" name="Google Shape;243;p14"/>
          <p:cNvSpPr/>
          <p:nvPr/>
        </p:nvSpPr>
        <p:spPr>
          <a:xfrm>
            <a:off x="9402500" y="2747200"/>
            <a:ext cx="1970400" cy="2235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chemeClr val="dk1"/>
              </a:buClr>
              <a:buSzPts val="1100"/>
              <a:buFont typeface="Arial"/>
              <a:buNone/>
            </a:pPr>
            <a:r>
              <a:rPr b="1" lang="en-US" sz="1000">
                <a:solidFill>
                  <a:schemeClr val="dk1"/>
                </a:solidFill>
              </a:rPr>
              <a:t>Sellers:</a:t>
            </a:r>
            <a:r>
              <a:rPr lang="en-US" sz="1000">
                <a:solidFill>
                  <a:schemeClr val="dk1"/>
                </a:solidFill>
              </a:rPr>
              <a:t> graduating or moving-out students</a:t>
            </a:r>
            <a:endParaRPr sz="1000">
              <a:solidFill>
                <a:schemeClr val="dk1"/>
              </a:solidFill>
            </a:endParaRPr>
          </a:p>
          <a:p>
            <a:pPr indent="0" lvl="0" marL="0" rtl="0" algn="l">
              <a:lnSpc>
                <a:spcPct val="140000"/>
              </a:lnSpc>
              <a:spcBef>
                <a:spcPts val="0"/>
              </a:spcBef>
              <a:spcAft>
                <a:spcPts val="0"/>
              </a:spcAft>
              <a:buClr>
                <a:schemeClr val="dk1"/>
              </a:buClr>
              <a:buSzPts val="1100"/>
              <a:buFont typeface="Arial"/>
              <a:buNone/>
            </a:pPr>
            <a:r>
              <a:rPr b="1" lang="en-US" sz="1000">
                <a:solidFill>
                  <a:schemeClr val="dk1"/>
                </a:solidFill>
              </a:rPr>
              <a:t>Buyers:</a:t>
            </a:r>
            <a:r>
              <a:rPr lang="en-US" sz="1000">
                <a:solidFill>
                  <a:schemeClr val="dk1"/>
                </a:solidFill>
              </a:rPr>
              <a:t> incoming, students</a:t>
            </a:r>
            <a:endParaRPr sz="1000">
              <a:solidFill>
                <a:schemeClr val="dk1"/>
              </a:solidFill>
            </a:endParaRPr>
          </a:p>
          <a:p>
            <a:pPr indent="0" lvl="0" marL="0" marR="0" rtl="0" algn="l">
              <a:lnSpc>
                <a:spcPct val="140000"/>
              </a:lnSpc>
              <a:spcBef>
                <a:spcPts val="0"/>
              </a:spcBef>
              <a:spcAft>
                <a:spcPts val="0"/>
              </a:spcAft>
              <a:buClr>
                <a:srgbClr val="5B6472"/>
              </a:buClr>
              <a:buSzPts val="1200"/>
              <a:buFont typeface="DM Sans"/>
              <a:buNone/>
            </a:pPr>
            <a:r>
              <a:rPr b="1" lang="en-US" sz="1000">
                <a:solidFill>
                  <a:schemeClr val="dk1"/>
                </a:solidFill>
              </a:rPr>
              <a:t>Early adopters:</a:t>
            </a:r>
            <a:r>
              <a:rPr lang="en-US" sz="1000">
                <a:solidFill>
                  <a:schemeClr val="dk1"/>
                </a:solidFill>
              </a:rPr>
              <a:t> students with limited storage, transportation, or local support</a:t>
            </a:r>
            <a:endParaRPr sz="1100">
              <a:solidFill>
                <a:srgbClr val="5B6472"/>
              </a:solidFill>
              <a:latin typeface="DM Sans"/>
              <a:ea typeface="DM Sans"/>
              <a:cs typeface="DM Sans"/>
              <a:sym typeface="DM Sans"/>
            </a:endParaRPr>
          </a:p>
        </p:txBody>
      </p:sp>
      <p:sp>
        <p:nvSpPr>
          <p:cNvPr id="244" name="Google Shape;244;p14"/>
          <p:cNvSpPr/>
          <p:nvPr/>
        </p:nvSpPr>
        <p:spPr>
          <a:xfrm>
            <a:off x="595225" y="4173775"/>
            <a:ext cx="2215500" cy="1652400"/>
          </a:xfrm>
          <a:prstGeom prst="roundRect">
            <a:avLst>
              <a:gd fmla="val 5765" name="adj"/>
            </a:avLst>
          </a:prstGeom>
          <a:solidFill>
            <a:srgbClr val="EDE5D3"/>
          </a:solidFill>
          <a:ln cap="flat" cmpd="sng" w="12700">
            <a:solidFill>
              <a:srgbClr val="CFC5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4"/>
          <p:cNvSpPr/>
          <p:nvPr/>
        </p:nvSpPr>
        <p:spPr>
          <a:xfrm>
            <a:off x="753975" y="4332536"/>
            <a:ext cx="17502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300"/>
              <a:buFont typeface="DM Sans"/>
              <a:buNone/>
            </a:pPr>
            <a:r>
              <a:rPr b="1" i="0" lang="en-US" sz="1300" u="none" cap="none" strike="noStrike">
                <a:solidFill>
                  <a:srgbClr val="14213D"/>
                </a:solidFill>
                <a:latin typeface="DM Sans"/>
                <a:ea typeface="DM Sans"/>
                <a:cs typeface="DM Sans"/>
                <a:sym typeface="DM Sans"/>
              </a:rPr>
              <a:t>Alternatives</a:t>
            </a:r>
            <a:endParaRPr b="0" i="0" sz="1300" u="none" cap="none" strike="noStrike">
              <a:solidFill>
                <a:schemeClr val="dk1"/>
              </a:solidFill>
              <a:latin typeface="Calibri"/>
              <a:ea typeface="Calibri"/>
              <a:cs typeface="Calibri"/>
              <a:sym typeface="Calibri"/>
            </a:endParaRPr>
          </a:p>
        </p:txBody>
      </p:sp>
      <p:sp>
        <p:nvSpPr>
          <p:cNvPr id="246" name="Google Shape;246;p14"/>
          <p:cNvSpPr/>
          <p:nvPr/>
        </p:nvSpPr>
        <p:spPr>
          <a:xfrm>
            <a:off x="753975" y="4594125"/>
            <a:ext cx="2023200" cy="2565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chemeClr val="dk1"/>
              </a:buClr>
              <a:buSzPts val="1100"/>
              <a:buFont typeface="Arial"/>
              <a:buNone/>
            </a:pPr>
            <a:r>
              <a:rPr lang="en-US" sz="1200">
                <a:solidFill>
                  <a:srgbClr val="5B6472"/>
                </a:solidFill>
                <a:latin typeface="DM Sans"/>
                <a:ea typeface="DM Sans"/>
                <a:cs typeface="DM Sans"/>
                <a:sym typeface="DM Sans"/>
              </a:rPr>
              <a:t>Facebook Marketplace / Craigslist</a:t>
            </a:r>
            <a:endParaRPr sz="1200">
              <a:solidFill>
                <a:srgbClr val="5B6472"/>
              </a:solidFill>
              <a:latin typeface="DM Sans"/>
              <a:ea typeface="DM Sans"/>
              <a:cs typeface="DM Sans"/>
              <a:sym typeface="DM Sans"/>
            </a:endParaRPr>
          </a:p>
          <a:p>
            <a:pPr indent="0" lvl="0" marL="0" rtl="0" algn="l">
              <a:lnSpc>
                <a:spcPct val="140000"/>
              </a:lnSpc>
              <a:spcBef>
                <a:spcPts val="0"/>
              </a:spcBef>
              <a:spcAft>
                <a:spcPts val="0"/>
              </a:spcAft>
              <a:buClr>
                <a:schemeClr val="dk1"/>
              </a:buClr>
              <a:buSzPts val="1100"/>
              <a:buFont typeface="Arial"/>
              <a:buNone/>
            </a:pPr>
            <a:r>
              <a:rPr lang="en-US" sz="1200">
                <a:solidFill>
                  <a:srgbClr val="5B6472"/>
                </a:solidFill>
                <a:latin typeface="DM Sans"/>
                <a:ea typeface="DM Sans"/>
                <a:cs typeface="DM Sans"/>
                <a:sym typeface="DM Sans"/>
              </a:rPr>
              <a:t>Self-storage + later resale</a:t>
            </a:r>
            <a:endParaRPr sz="1200">
              <a:solidFill>
                <a:srgbClr val="5B6472"/>
              </a:solidFill>
              <a:latin typeface="DM Sans"/>
              <a:ea typeface="DM Sans"/>
              <a:cs typeface="DM Sans"/>
              <a:sym typeface="DM Sans"/>
            </a:endParaRPr>
          </a:p>
          <a:p>
            <a:pPr indent="0" lvl="0" marL="0" rtl="0" algn="l">
              <a:lnSpc>
                <a:spcPct val="140000"/>
              </a:lnSpc>
              <a:spcBef>
                <a:spcPts val="0"/>
              </a:spcBef>
              <a:spcAft>
                <a:spcPts val="0"/>
              </a:spcAft>
              <a:buClr>
                <a:schemeClr val="dk1"/>
              </a:buClr>
              <a:buSzPts val="1100"/>
              <a:buFont typeface="Arial"/>
              <a:buNone/>
            </a:pPr>
            <a:r>
              <a:rPr lang="en-US" sz="1200">
                <a:solidFill>
                  <a:srgbClr val="5B6472"/>
                </a:solidFill>
                <a:latin typeface="DM Sans"/>
                <a:ea typeface="DM Sans"/>
                <a:cs typeface="DM Sans"/>
                <a:sym typeface="DM Sans"/>
              </a:rPr>
              <a:t>Donation or campus drives</a:t>
            </a:r>
            <a:endParaRPr sz="1200">
              <a:solidFill>
                <a:srgbClr val="5B6472"/>
              </a:solidFill>
              <a:latin typeface="DM Sans"/>
              <a:ea typeface="DM Sans"/>
              <a:cs typeface="DM Sans"/>
              <a:sym typeface="DM Sans"/>
            </a:endParaRPr>
          </a:p>
          <a:p>
            <a:pPr indent="0" lvl="0" marL="0" marR="0" rtl="0" algn="l">
              <a:lnSpc>
                <a:spcPct val="140000"/>
              </a:lnSpc>
              <a:spcBef>
                <a:spcPts val="0"/>
              </a:spcBef>
              <a:spcAft>
                <a:spcPts val="0"/>
              </a:spcAft>
              <a:buClr>
                <a:srgbClr val="5B6472"/>
              </a:buClr>
              <a:buSzPts val="1200"/>
              <a:buFont typeface="DM Sans"/>
              <a:buNone/>
            </a:pPr>
            <a:r>
              <a:t/>
            </a:r>
            <a:endParaRPr sz="1200">
              <a:solidFill>
                <a:srgbClr val="5B6472"/>
              </a:solidFill>
              <a:latin typeface="DM Sans"/>
              <a:ea typeface="DM Sans"/>
              <a:cs typeface="DM Sans"/>
              <a:sym typeface="DM Sans"/>
            </a:endParaRPr>
          </a:p>
        </p:txBody>
      </p:sp>
      <p:sp>
        <p:nvSpPr>
          <p:cNvPr id="247" name="Google Shape;247;p14"/>
          <p:cNvSpPr/>
          <p:nvPr/>
        </p:nvSpPr>
        <p:spPr>
          <a:xfrm>
            <a:off x="2950170" y="4183311"/>
            <a:ext cx="2016770" cy="1652339"/>
          </a:xfrm>
          <a:prstGeom prst="roundRect">
            <a:avLst>
              <a:gd fmla="val 5765" name="adj"/>
            </a:avLst>
          </a:prstGeom>
          <a:solidFill>
            <a:srgbClr val="EDE5D3"/>
          </a:solidFill>
          <a:ln cap="flat" cmpd="sng" w="12700">
            <a:solidFill>
              <a:srgbClr val="CFC5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4"/>
          <p:cNvSpPr/>
          <p:nvPr/>
        </p:nvSpPr>
        <p:spPr>
          <a:xfrm>
            <a:off x="3108920" y="4342061"/>
            <a:ext cx="1750248"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300"/>
              <a:buFont typeface="DM Sans"/>
              <a:buNone/>
            </a:pPr>
            <a:r>
              <a:rPr b="1" i="0" lang="en-US" sz="1300" u="none" cap="none" strike="noStrike">
                <a:solidFill>
                  <a:srgbClr val="14213D"/>
                </a:solidFill>
                <a:latin typeface="DM Sans"/>
                <a:ea typeface="DM Sans"/>
                <a:cs typeface="DM Sans"/>
                <a:sym typeface="DM Sans"/>
              </a:rPr>
              <a:t>Key metrics</a:t>
            </a:r>
            <a:endParaRPr b="0" i="0" sz="1300" u="none" cap="none" strike="noStrike">
              <a:solidFill>
                <a:schemeClr val="dk1"/>
              </a:solidFill>
              <a:latin typeface="Calibri"/>
              <a:ea typeface="Calibri"/>
              <a:cs typeface="Calibri"/>
              <a:sym typeface="Calibri"/>
            </a:endParaRPr>
          </a:p>
        </p:txBody>
      </p:sp>
      <p:sp>
        <p:nvSpPr>
          <p:cNvPr id="249" name="Google Shape;249;p14"/>
          <p:cNvSpPr/>
          <p:nvPr/>
        </p:nvSpPr>
        <p:spPr>
          <a:xfrm>
            <a:off x="3108920" y="4603651"/>
            <a:ext cx="1750248" cy="452041"/>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chemeClr val="dk1"/>
              </a:buClr>
              <a:buSzPts val="1100"/>
              <a:buFont typeface="Arial"/>
              <a:buNone/>
            </a:pPr>
            <a:r>
              <a:rPr lang="en-US" sz="1200">
                <a:solidFill>
                  <a:srgbClr val="5B6472"/>
                </a:solidFill>
                <a:latin typeface="DM Sans"/>
                <a:ea typeface="DM Sans"/>
                <a:cs typeface="DM Sans"/>
                <a:sym typeface="DM Sans"/>
              </a:rPr>
              <a:t>Sell-through rate</a:t>
            </a:r>
            <a:endParaRPr sz="1200">
              <a:solidFill>
                <a:srgbClr val="5B6472"/>
              </a:solidFill>
              <a:latin typeface="DM Sans"/>
              <a:ea typeface="DM Sans"/>
              <a:cs typeface="DM Sans"/>
              <a:sym typeface="DM Sans"/>
            </a:endParaRPr>
          </a:p>
          <a:p>
            <a:pPr indent="0" lvl="0" marL="0" rtl="0" algn="l">
              <a:lnSpc>
                <a:spcPct val="140000"/>
              </a:lnSpc>
              <a:spcBef>
                <a:spcPts val="0"/>
              </a:spcBef>
              <a:spcAft>
                <a:spcPts val="0"/>
              </a:spcAft>
              <a:buClr>
                <a:schemeClr val="dk1"/>
              </a:buClr>
              <a:buSzPts val="1100"/>
              <a:buFont typeface="Arial"/>
              <a:buNone/>
            </a:pPr>
            <a:r>
              <a:rPr lang="en-US" sz="1200">
                <a:solidFill>
                  <a:srgbClr val="5B6472"/>
                </a:solidFill>
                <a:latin typeface="DM Sans"/>
                <a:ea typeface="DM Sans"/>
                <a:cs typeface="DM Sans"/>
                <a:sym typeface="DM Sans"/>
              </a:rPr>
              <a:t>% inventory reserved before move-in</a:t>
            </a:r>
            <a:endParaRPr sz="1200">
              <a:solidFill>
                <a:srgbClr val="5B6472"/>
              </a:solidFill>
              <a:latin typeface="DM Sans"/>
              <a:ea typeface="DM Sans"/>
              <a:cs typeface="DM Sans"/>
              <a:sym typeface="DM Sans"/>
            </a:endParaRPr>
          </a:p>
          <a:p>
            <a:pPr indent="0" lvl="0" marL="0" rtl="0" algn="l">
              <a:lnSpc>
                <a:spcPct val="140000"/>
              </a:lnSpc>
              <a:spcBef>
                <a:spcPts val="0"/>
              </a:spcBef>
              <a:spcAft>
                <a:spcPts val="0"/>
              </a:spcAft>
              <a:buClr>
                <a:schemeClr val="dk1"/>
              </a:buClr>
              <a:buSzPts val="1100"/>
              <a:buFont typeface="Arial"/>
              <a:buNone/>
            </a:pPr>
            <a:r>
              <a:rPr lang="en-US" sz="1200">
                <a:solidFill>
                  <a:srgbClr val="5B6472"/>
                </a:solidFill>
                <a:latin typeface="DM Sans"/>
                <a:ea typeface="DM Sans"/>
                <a:cs typeface="DM Sans"/>
                <a:sym typeface="DM Sans"/>
              </a:rPr>
              <a:t>Contribution margin per item</a:t>
            </a:r>
            <a:endParaRPr sz="1200">
              <a:solidFill>
                <a:srgbClr val="5B6472"/>
              </a:solidFill>
              <a:latin typeface="DM Sans"/>
              <a:ea typeface="DM Sans"/>
              <a:cs typeface="DM Sans"/>
              <a:sym typeface="DM Sans"/>
            </a:endParaRPr>
          </a:p>
        </p:txBody>
      </p:sp>
      <p:sp>
        <p:nvSpPr>
          <p:cNvPr id="250" name="Google Shape;250;p14"/>
          <p:cNvSpPr/>
          <p:nvPr/>
        </p:nvSpPr>
        <p:spPr>
          <a:xfrm>
            <a:off x="5084415" y="4186486"/>
            <a:ext cx="2023120" cy="1645989"/>
          </a:xfrm>
          <a:prstGeom prst="roundRect">
            <a:avLst>
              <a:gd fmla="val 5594" name="adj"/>
            </a:avLst>
          </a:prstGeom>
          <a:solidFill>
            <a:srgbClr val="FBF8F1"/>
          </a:solidFill>
          <a:ln cap="flat" cmpd="sng" w="19050">
            <a:solidFill>
              <a:srgbClr val="B84A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4"/>
          <p:cNvSpPr/>
          <p:nvPr/>
        </p:nvSpPr>
        <p:spPr>
          <a:xfrm>
            <a:off x="5166953" y="4241239"/>
            <a:ext cx="1750200" cy="223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4213D"/>
              </a:buClr>
              <a:buSzPts val="1300"/>
              <a:buFont typeface="DM Sans"/>
              <a:buNone/>
            </a:pPr>
            <a:r>
              <a:rPr b="1" i="0" lang="en-US" sz="1300" u="none" cap="none" strike="noStrike">
                <a:solidFill>
                  <a:srgbClr val="14213D"/>
                </a:solidFill>
                <a:latin typeface="DM Sans"/>
                <a:ea typeface="DM Sans"/>
                <a:cs typeface="DM Sans"/>
                <a:sym typeface="DM Sans"/>
              </a:rPr>
              <a:t>Channels</a:t>
            </a:r>
            <a:endParaRPr b="0" i="0" sz="1300" u="none" cap="none" strike="noStrike">
              <a:solidFill>
                <a:schemeClr val="dk1"/>
              </a:solidFill>
              <a:latin typeface="Calibri"/>
              <a:ea typeface="Calibri"/>
              <a:cs typeface="Calibri"/>
              <a:sym typeface="Calibri"/>
            </a:endParaRPr>
          </a:p>
        </p:txBody>
      </p:sp>
      <p:sp>
        <p:nvSpPr>
          <p:cNvPr id="252" name="Google Shape;252;p14"/>
          <p:cNvSpPr/>
          <p:nvPr/>
        </p:nvSpPr>
        <p:spPr>
          <a:xfrm>
            <a:off x="5116381" y="4468333"/>
            <a:ext cx="2136600" cy="4521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chemeClr val="dk1"/>
              </a:buClr>
              <a:buSzPts val="1100"/>
              <a:buFont typeface="Arial"/>
              <a:buNone/>
            </a:pPr>
            <a:r>
              <a:rPr lang="en-US" sz="1100">
                <a:solidFill>
                  <a:srgbClr val="5B6472"/>
                </a:solidFill>
                <a:latin typeface="DM Sans"/>
                <a:ea typeface="DM Sans"/>
                <a:cs typeface="DM Sans"/>
                <a:sym typeface="DM Sans"/>
              </a:rPr>
              <a:t>University housing and move-out emails</a:t>
            </a:r>
            <a:endParaRPr sz="1100">
              <a:solidFill>
                <a:srgbClr val="5B6472"/>
              </a:solidFill>
              <a:latin typeface="DM Sans"/>
              <a:ea typeface="DM Sans"/>
              <a:cs typeface="DM Sans"/>
              <a:sym typeface="DM Sans"/>
            </a:endParaRPr>
          </a:p>
          <a:p>
            <a:pPr indent="0" lvl="0" marL="0" rtl="0" algn="l">
              <a:lnSpc>
                <a:spcPct val="140000"/>
              </a:lnSpc>
              <a:spcBef>
                <a:spcPts val="0"/>
              </a:spcBef>
              <a:spcAft>
                <a:spcPts val="0"/>
              </a:spcAft>
              <a:buClr>
                <a:schemeClr val="dk1"/>
              </a:buClr>
              <a:buSzPts val="1100"/>
              <a:buFont typeface="Arial"/>
              <a:buNone/>
            </a:pPr>
            <a:r>
              <a:rPr lang="en-US" sz="1100">
                <a:solidFill>
                  <a:srgbClr val="5B6472"/>
                </a:solidFill>
                <a:latin typeface="DM Sans"/>
                <a:ea typeface="DM Sans"/>
                <a:cs typeface="DM Sans"/>
                <a:sym typeface="DM Sans"/>
              </a:rPr>
              <a:t>International / transfer orientation</a:t>
            </a:r>
            <a:endParaRPr sz="1100">
              <a:solidFill>
                <a:srgbClr val="5B6472"/>
              </a:solidFill>
              <a:latin typeface="DM Sans"/>
              <a:ea typeface="DM Sans"/>
              <a:cs typeface="DM Sans"/>
              <a:sym typeface="DM Sans"/>
            </a:endParaRPr>
          </a:p>
          <a:p>
            <a:pPr indent="0" lvl="0" marL="0" rtl="0" algn="l">
              <a:lnSpc>
                <a:spcPct val="140000"/>
              </a:lnSpc>
              <a:spcBef>
                <a:spcPts val="0"/>
              </a:spcBef>
              <a:spcAft>
                <a:spcPts val="0"/>
              </a:spcAft>
              <a:buClr>
                <a:schemeClr val="dk1"/>
              </a:buClr>
              <a:buSzPts val="1100"/>
              <a:buFont typeface="Arial"/>
              <a:buNone/>
            </a:pPr>
            <a:r>
              <a:rPr lang="en-US" sz="1100">
                <a:solidFill>
                  <a:srgbClr val="5B6472"/>
                </a:solidFill>
                <a:latin typeface="DM Sans"/>
                <a:ea typeface="DM Sans"/>
                <a:cs typeface="DM Sans"/>
                <a:sym typeface="DM Sans"/>
              </a:rPr>
              <a:t>Residence halls and apartment complexes</a:t>
            </a:r>
            <a:endParaRPr sz="1100">
              <a:solidFill>
                <a:srgbClr val="5B6472"/>
              </a:solidFill>
              <a:latin typeface="DM Sans"/>
              <a:ea typeface="DM Sans"/>
              <a:cs typeface="DM Sans"/>
              <a:sym typeface="DM Sans"/>
            </a:endParaRPr>
          </a:p>
          <a:p>
            <a:pPr indent="0" lvl="0" marL="0" marR="0" rtl="0" algn="l">
              <a:lnSpc>
                <a:spcPct val="140000"/>
              </a:lnSpc>
              <a:spcBef>
                <a:spcPts val="0"/>
              </a:spcBef>
              <a:spcAft>
                <a:spcPts val="0"/>
              </a:spcAft>
              <a:buClr>
                <a:srgbClr val="5B6472"/>
              </a:buClr>
              <a:buSzPts val="1200"/>
              <a:buFont typeface="DM Sans"/>
              <a:buNone/>
            </a:pPr>
            <a:r>
              <a:t/>
            </a:r>
            <a:endParaRPr sz="1100">
              <a:solidFill>
                <a:srgbClr val="5B6472"/>
              </a:solidFill>
              <a:latin typeface="DM Sans"/>
              <a:ea typeface="DM Sans"/>
              <a:cs typeface="DM Sans"/>
              <a:sym typeface="DM Sans"/>
            </a:endParaRPr>
          </a:p>
        </p:txBody>
      </p:sp>
      <p:sp>
        <p:nvSpPr>
          <p:cNvPr id="253" name="Google Shape;253;p14"/>
          <p:cNvSpPr/>
          <p:nvPr/>
        </p:nvSpPr>
        <p:spPr>
          <a:xfrm>
            <a:off x="7225010" y="4183311"/>
            <a:ext cx="2016770" cy="1652339"/>
          </a:xfrm>
          <a:prstGeom prst="roundRect">
            <a:avLst>
              <a:gd fmla="val 5765" name="adj"/>
            </a:avLst>
          </a:prstGeom>
          <a:solidFill>
            <a:srgbClr val="EDE5D3"/>
          </a:solidFill>
          <a:ln cap="flat" cmpd="sng" w="12700">
            <a:solidFill>
              <a:srgbClr val="CFC5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4"/>
          <p:cNvSpPr/>
          <p:nvPr/>
        </p:nvSpPr>
        <p:spPr>
          <a:xfrm>
            <a:off x="7383760" y="4342061"/>
            <a:ext cx="1750248"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300"/>
              <a:buFont typeface="DM Sans"/>
              <a:buNone/>
            </a:pPr>
            <a:r>
              <a:rPr b="1" i="0" lang="en-US" sz="1300" u="none" cap="none" strike="noStrike">
                <a:solidFill>
                  <a:srgbClr val="14213D"/>
                </a:solidFill>
                <a:latin typeface="DM Sans"/>
                <a:ea typeface="DM Sans"/>
                <a:cs typeface="DM Sans"/>
                <a:sym typeface="DM Sans"/>
              </a:rPr>
              <a:t>Costs</a:t>
            </a:r>
            <a:endParaRPr b="0" i="0" sz="1300" u="none" cap="none" strike="noStrike">
              <a:solidFill>
                <a:schemeClr val="dk1"/>
              </a:solidFill>
              <a:latin typeface="Calibri"/>
              <a:ea typeface="Calibri"/>
              <a:cs typeface="Calibri"/>
              <a:sym typeface="Calibri"/>
            </a:endParaRPr>
          </a:p>
        </p:txBody>
      </p:sp>
      <p:sp>
        <p:nvSpPr>
          <p:cNvPr id="255" name="Google Shape;255;p14"/>
          <p:cNvSpPr/>
          <p:nvPr/>
        </p:nvSpPr>
        <p:spPr>
          <a:xfrm>
            <a:off x="7383760" y="4603651"/>
            <a:ext cx="1750248"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472"/>
              </a:buClr>
              <a:buSzPts val="1200"/>
              <a:buFont typeface="DM Sans"/>
              <a:buNone/>
            </a:pPr>
            <a:r>
              <a:rPr b="0" i="0" lang="en-US" sz="1200" u="none" cap="none" strike="noStrike">
                <a:solidFill>
                  <a:srgbClr val="5B6472"/>
                </a:solidFill>
                <a:latin typeface="DM Sans"/>
                <a:ea typeface="DM Sans"/>
                <a:cs typeface="DM Sans"/>
                <a:sym typeface="DM Sans"/>
              </a:rPr>
              <a:t>Storage, pickup, damage</a:t>
            </a:r>
            <a:endParaRPr b="0" i="0" sz="1200" u="none" cap="none" strike="noStrike">
              <a:solidFill>
                <a:schemeClr val="dk1"/>
              </a:solidFill>
              <a:latin typeface="Calibri"/>
              <a:ea typeface="Calibri"/>
              <a:cs typeface="Calibri"/>
              <a:sym typeface="Calibri"/>
            </a:endParaRPr>
          </a:p>
        </p:txBody>
      </p:sp>
      <p:sp>
        <p:nvSpPr>
          <p:cNvPr id="256" name="Google Shape;256;p14"/>
          <p:cNvSpPr/>
          <p:nvPr/>
        </p:nvSpPr>
        <p:spPr>
          <a:xfrm>
            <a:off x="9356080" y="4183311"/>
            <a:ext cx="2016770" cy="1652339"/>
          </a:xfrm>
          <a:prstGeom prst="roundRect">
            <a:avLst>
              <a:gd fmla="val 5765" name="adj"/>
            </a:avLst>
          </a:prstGeom>
          <a:solidFill>
            <a:srgbClr val="EDE5D3"/>
          </a:solidFill>
          <a:ln cap="flat" cmpd="sng" w="12700">
            <a:solidFill>
              <a:srgbClr val="CFC5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4"/>
          <p:cNvSpPr/>
          <p:nvPr/>
        </p:nvSpPr>
        <p:spPr>
          <a:xfrm>
            <a:off x="9514830" y="4342061"/>
            <a:ext cx="1750248"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300"/>
              <a:buFont typeface="DM Sans"/>
              <a:buNone/>
            </a:pPr>
            <a:r>
              <a:rPr b="1" i="0" lang="en-US" sz="1300" u="none" cap="none" strike="noStrike">
                <a:solidFill>
                  <a:srgbClr val="14213D"/>
                </a:solidFill>
                <a:latin typeface="DM Sans"/>
                <a:ea typeface="DM Sans"/>
                <a:cs typeface="DM Sans"/>
                <a:sym typeface="DM Sans"/>
              </a:rPr>
              <a:t>Revenue</a:t>
            </a:r>
            <a:endParaRPr b="0" i="0" sz="1300" u="none" cap="none" strike="noStrike">
              <a:solidFill>
                <a:schemeClr val="dk1"/>
              </a:solidFill>
              <a:latin typeface="Calibri"/>
              <a:ea typeface="Calibri"/>
              <a:cs typeface="Calibri"/>
              <a:sym typeface="Calibri"/>
            </a:endParaRPr>
          </a:p>
        </p:txBody>
      </p:sp>
      <p:sp>
        <p:nvSpPr>
          <p:cNvPr id="258" name="Google Shape;258;p14"/>
          <p:cNvSpPr/>
          <p:nvPr/>
        </p:nvSpPr>
        <p:spPr>
          <a:xfrm>
            <a:off x="9514830" y="4556026"/>
            <a:ext cx="1750200" cy="4521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chemeClr val="dk1"/>
              </a:buClr>
              <a:buSzPts val="1100"/>
              <a:buFont typeface="Arial"/>
              <a:buNone/>
            </a:pPr>
            <a:r>
              <a:rPr lang="en-US" sz="1200">
                <a:solidFill>
                  <a:srgbClr val="5B6472"/>
                </a:solidFill>
                <a:latin typeface="DM Sans"/>
                <a:ea typeface="DM Sans"/>
                <a:cs typeface="DM Sans"/>
                <a:sym typeface="DM Sans"/>
              </a:rPr>
              <a:t>Transaction commission / service fee</a:t>
            </a:r>
            <a:endParaRPr sz="1200">
              <a:solidFill>
                <a:srgbClr val="5B6472"/>
              </a:solidFill>
              <a:latin typeface="DM Sans"/>
              <a:ea typeface="DM Sans"/>
              <a:cs typeface="DM Sans"/>
              <a:sym typeface="DM Sans"/>
            </a:endParaRPr>
          </a:p>
          <a:p>
            <a:pPr indent="0" lvl="0" marL="0" rtl="0" algn="l">
              <a:lnSpc>
                <a:spcPct val="140000"/>
              </a:lnSpc>
              <a:spcBef>
                <a:spcPts val="0"/>
              </a:spcBef>
              <a:spcAft>
                <a:spcPts val="0"/>
              </a:spcAft>
              <a:buClr>
                <a:schemeClr val="dk1"/>
              </a:buClr>
              <a:buSzPts val="1100"/>
              <a:buFont typeface="Arial"/>
              <a:buNone/>
            </a:pPr>
            <a:r>
              <a:rPr lang="en-US" sz="1200">
                <a:solidFill>
                  <a:srgbClr val="5B6472"/>
                </a:solidFill>
                <a:latin typeface="DM Sans"/>
                <a:ea typeface="DM Sans"/>
                <a:cs typeface="DM Sans"/>
                <a:sym typeface="DM Sans"/>
              </a:rPr>
              <a:t>Optional delivery fee</a:t>
            </a:r>
            <a:endParaRPr sz="1200">
              <a:solidFill>
                <a:srgbClr val="5B6472"/>
              </a:solidFill>
              <a:latin typeface="DM Sans"/>
              <a:ea typeface="DM Sans"/>
              <a:cs typeface="DM Sans"/>
              <a:sym typeface="DM Sans"/>
            </a:endParaRPr>
          </a:p>
          <a:p>
            <a:pPr indent="0" lvl="0" marL="0" rtl="0" algn="l">
              <a:lnSpc>
                <a:spcPct val="140000"/>
              </a:lnSpc>
              <a:spcBef>
                <a:spcPts val="0"/>
              </a:spcBef>
              <a:spcAft>
                <a:spcPts val="0"/>
              </a:spcAft>
              <a:buClr>
                <a:schemeClr val="dk1"/>
              </a:buClr>
              <a:buSzPts val="1100"/>
              <a:buFont typeface="Arial"/>
              <a:buNone/>
            </a:pPr>
            <a:r>
              <a:rPr lang="en-US" sz="1200">
                <a:solidFill>
                  <a:srgbClr val="5B6472"/>
                </a:solidFill>
                <a:latin typeface="DM Sans"/>
                <a:ea typeface="DM Sans"/>
                <a:cs typeface="DM Sans"/>
                <a:sym typeface="DM Sans"/>
              </a:rPr>
              <a:t>Optional storage or premium handling fee</a:t>
            </a:r>
            <a:endParaRPr sz="1200">
              <a:solidFill>
                <a:srgbClr val="5B6472"/>
              </a:solidFill>
              <a:latin typeface="DM Sans"/>
              <a:ea typeface="DM Sans"/>
              <a:cs typeface="DM Sans"/>
              <a:sym typeface="DM Sans"/>
            </a:endParaRPr>
          </a:p>
          <a:p>
            <a:pPr indent="0" lvl="0" marL="0" marR="0" rtl="0" algn="l">
              <a:lnSpc>
                <a:spcPct val="140000"/>
              </a:lnSpc>
              <a:spcBef>
                <a:spcPts val="0"/>
              </a:spcBef>
              <a:spcAft>
                <a:spcPts val="0"/>
              </a:spcAft>
              <a:buClr>
                <a:srgbClr val="5B6472"/>
              </a:buClr>
              <a:buSzPts val="1200"/>
              <a:buFont typeface="DM Sans"/>
              <a:buNone/>
            </a:pPr>
            <a:r>
              <a:t/>
            </a:r>
            <a:endParaRPr sz="1200">
              <a:solidFill>
                <a:srgbClr val="5B6472"/>
              </a:solidFill>
              <a:latin typeface="DM Sans"/>
              <a:ea typeface="DM Sans"/>
              <a:cs typeface="DM Sans"/>
              <a:sym typeface="DM Sans"/>
            </a:endParaRPr>
          </a:p>
        </p:txBody>
      </p:sp>
      <p:sp>
        <p:nvSpPr>
          <p:cNvPr id="259" name="Google Shape;259;p14"/>
          <p:cNvSpPr/>
          <p:nvPr/>
        </p:nvSpPr>
        <p:spPr>
          <a:xfrm>
            <a:off x="812800" y="6238280"/>
            <a:ext cx="71945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472"/>
              </a:buClr>
              <a:buSzPts val="1200"/>
              <a:buFont typeface="DM Sans"/>
              <a:buNone/>
            </a:pPr>
            <a:r>
              <a:rPr b="0" i="0" lang="en-US" sz="1200" u="none" cap="none" strike="noStrike">
                <a:solidFill>
                  <a:srgbClr val="5B6472"/>
                </a:solidFill>
                <a:latin typeface="DM Sans"/>
                <a:ea typeface="DM Sans"/>
                <a:cs typeface="DM Sans"/>
                <a:sym typeface="DM Sans"/>
              </a:rPr>
              <a:t>Source: Workbook Part 6 (6B)</a:t>
            </a:r>
            <a:endParaRPr b="0" i="0" sz="1200" u="none" cap="none" strike="noStrike">
              <a:solidFill>
                <a:schemeClr val="dk1"/>
              </a:solidFill>
              <a:latin typeface="Calibri"/>
              <a:ea typeface="Calibri"/>
              <a:cs typeface="Calibri"/>
              <a:sym typeface="Calibri"/>
            </a:endParaRPr>
          </a:p>
        </p:txBody>
      </p:sp>
      <p:sp>
        <p:nvSpPr>
          <p:cNvPr id="260" name="Google Shape;260;p14"/>
          <p:cNvSpPr/>
          <p:nvPr/>
        </p:nvSpPr>
        <p:spPr>
          <a:xfrm>
            <a:off x="8108950" y="6238280"/>
            <a:ext cx="327025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B6472"/>
              </a:buClr>
              <a:buSzPts val="1200"/>
              <a:buFont typeface="DM Sans"/>
              <a:buNone/>
            </a:pPr>
            <a:r>
              <a:rPr b="0" i="0" lang="en-US" sz="1200" u="none" cap="none" strike="noStrike">
                <a:solidFill>
                  <a:srgbClr val="5B6472"/>
                </a:solidFill>
                <a:latin typeface="DM Sans"/>
                <a:ea typeface="DM Sans"/>
                <a:cs typeface="DM Sans"/>
                <a:sym typeface="DM Sans"/>
              </a:rPr>
              <a:t>Relay · 11</a:t>
            </a:r>
            <a:endParaRPr b="0" i="0" sz="1200" u="none" cap="none" strike="noStrike">
              <a:solidFill>
                <a:schemeClr val="dk1"/>
              </a:solidFill>
              <a:latin typeface="Calibri"/>
              <a:ea typeface="Calibri"/>
              <a:cs typeface="Calibri"/>
              <a:sym typeface="Calibri"/>
            </a:endParaRPr>
          </a:p>
        </p:txBody>
      </p:sp>
      <p:sp>
        <p:nvSpPr>
          <p:cNvPr id="261" name="Google Shape;261;p14"/>
          <p:cNvSpPr txBox="1"/>
          <p:nvPr/>
        </p:nvSpPr>
        <p:spPr>
          <a:xfrm>
            <a:off x="3219075" y="214600"/>
            <a:ext cx="5374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t>Original Lean Canvas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