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 name="Google Shape;1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 — ~10 sec]</a:t>
            </a:r>
            <a:br>
              <a:rPr lang="en-US"/>
            </a:br>
            <a:r>
              <a:rPr lang="en-US"/>
              <a:t>Hi, we're Sam, Kush, Shenwei, and Mihir, and this is Relay: sell in May, furnish in August. The easiest way to explain Relay is to follow one desk through a summer.</a:t>
            </a:r>
            <a:endParaRPr/>
          </a:p>
        </p:txBody>
      </p:sp>
      <p:sp>
        <p:nvSpPr>
          <p:cNvPr id="20" name="Google Shape;2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 ~40 sec]</a:t>
            </a:r>
            <a:br>
              <a:rPr lang="en-US"/>
            </a:br>
            <a:r>
              <a:rPr lang="en-US"/>
              <a:t>Here's Relay in one example. On May 1st, a graduating student sells their desk to Relay for 40 dollars. We pick it up, put it in storage, and inspect it and record its condition, so they're done in one visit.</a:t>
            </a:r>
            <a:br>
              <a:rPr lang="en-US"/>
            </a:br>
            <a:r>
              <a:rPr lang="en-US"/>
              <a:t>Over the summer, we hold the desk, keep it in good condition, and market it to students who are moving to Duke in August.</a:t>
            </a:r>
            <a:br>
              <a:rPr lang="en-US"/>
            </a:br>
            <a:br>
              <a:rPr lang="en-US"/>
            </a:br>
            <a:r>
              <a:rPr lang="en-US"/>
              <a:t>[SAM — ~30 sec]</a:t>
            </a:r>
            <a:br>
              <a:rPr lang="en-US"/>
            </a:br>
            <a:r>
              <a:rPr lang="en-US"/>
              <a:t>On August 24th, we sell that desk to an incoming student for 80 dollars and deliver it to their apartment. And we tell that new owner about Relay, so when they move out, their furniture comes back to us. That's how supply renews every year.</a:t>
            </a:r>
            <a:br>
              <a:rPr lang="en-US"/>
            </a:br>
            <a:r>
              <a:rPr lang="en-US"/>
              <a:t>The 40-dollar spread covers pickup, storage, delivery, and our profit. These prices are illustrative, and the rest of our pitch explains why both sides would choose this.</a:t>
            </a:r>
            <a:endParaRPr/>
          </a:p>
        </p:txBody>
      </p:sp>
      <p:sp>
        <p:nvSpPr>
          <p:cNvPr id="38" name="Google Shape;3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[KUSH — ~1 min]</a:t>
            </a:r>
            <a:br>
              <a:rPr lang="en-US"/>
            </a:br>
            <a:r>
              <a:rPr lang="en-US"/>
              <a:t>So what is Relay? A full-stack furniture marketplace: we handle the pickup, the storage, and the delivery.</a:t>
            </a:r>
            <a:br>
              <a:rPr lang="en-US"/>
            </a:br>
            <a:r>
              <a:rPr lang="en-US"/>
              <a:t>For a seller, the app works like this: snap a photo, and our AI pricing engine compares it with similar listings to give an instant offer, and tells you right away whether we'll take the item. Then you book one pickup. That's it.</a:t>
            </a:r>
            <a:br>
              <a:rPr lang="en-US"/>
            </a:br>
            <a:r>
              <a:rPr lang="en-US"/>
              <a:t>For a buyer, you sign in with a .edu email, browse inspected furniture with its condition recorded, reserve it before you arrive, and pick a delivery date.</a:t>
            </a:r>
            <a:br>
              <a:rPr lang="en-US"/>
            </a:br>
            <a:r>
              <a:rPr lang="en-US"/>
              <a:t>Our unique value proposition: for sellers, one pickup and you're paid on the spot. For buyers, your apartment is furnished before you arrive.</a:t>
            </a:r>
            <a:br>
              <a:rPr lang="en-US"/>
            </a:br>
            <a:r>
              <a:rPr lang="en-US"/>
              <a:t>Our target customers are the two early adopters Shenwei described: the Duke student leaving with no car and only days to spare, and the incoming grad student furnishing from out of town.</a:t>
            </a:r>
            <a:br>
              <a:rPr lang="en-US"/>
            </a:br>
            <a:r>
              <a:rPr lang="en-US"/>
              <a:t>(Screens are mockups for illustration.)</a:t>
            </a:r>
            <a:endParaRPr/>
          </a:p>
        </p:txBody>
      </p:sp>
      <p:sp>
        <p:nvSpPr>
          <p:cNvPr id="76" name="Google Shape;7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[MIHIR — ~1 min]</a:t>
            </a:r>
          </a:p>
          <a:p>
            <a:r>
              <a:t>Why is this necessary? Start with money wasted. All three real sellers we interviewed ended up donating, abandoning, or paying to get rid of furniture. Two of them actually paid: one an apartment cleaning fee, one a junk removal service.</a:t>
            </a:r>
          </a:p>
          <a:p>
            <a:r>
              <a:t>Second, lack of cars. Two of those three sellers had no car to move a sofa, and our real buyer, Kevin, had to rely on family and friends to get furniture into his apartment.</a:t>
            </a:r>
          </a:p>
          <a:p>
            <a:r>
              <a:t>Third, the amount of furniture thrown away. The EPA estimates 12.1 million tons of furniture and furnishings were discarded in the US in 2018, and about 80 percent went to landfill.</a:t>
            </a:r>
          </a:p>
          <a:p>
            <a:r>
              <a:t>And it spikes at move-out. At the University of New Hampshire, monthly campus waste roughly quadrupled in May, from about 25 to 105 tons.</a:t>
            </a:r>
          </a:p>
          <a:p>
            <a:r>
              <a:t>(If asked: the UNH number is all campus waste, not just furniture. We use it to show the seasonal spike, not to size our market.)</a:t>
            </a:r>
          </a:p>
        </p:txBody>
      </p:sp>
      <p:sp>
        <p:nvSpPr>
          <p:cNvPr id="114" name="Google Shape;11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[SHENWEI — ~1 min 15 sec]</a:t>
            </a:r>
            <a:br>
              <a:rPr lang="en-US"/>
            </a:br>
            <a:r>
              <a:rPr lang="en-US"/>
              <a:t>Our problem is a timing mismatch. Students moving out in May need to get rid of furniture quickly, while the incoming students who need that furniture often don't arrive until August. That mismatch causes lost value, wasted furniture, and an unnecessary extra burden on both sides.</a:t>
            </a:r>
            <a:br>
              <a:rPr lang="en-US"/>
            </a:br>
            <a:r>
              <a:rPr lang="en-US"/>
              <a:t>Students moving out have finals, graduation, and the end of their lease in the same few days. Most don't have a truck, and May buyers ghost, don't show up, or lowball.</a:t>
            </a:r>
            <a:br>
              <a:rPr lang="en-US"/>
            </a:br>
            <a:r>
              <a:rPr lang="en-US"/>
              <a:t>Students moving in arrive right before classes, often from out of town, with no car, and local sellers want pickup now, while they're still away.</a:t>
            </a:r>
            <a:br>
              <a:rPr lang="en-US"/>
            </a:br>
            <a:r>
              <a:rPr lang="en-US"/>
              <a:t>Today's alternatives are Facebook Marketplace, OfferUp, DormXchange, GathrU, and Duke group chats. Every one of them needs the seller and buyer in town at the same time.</a:t>
            </a:r>
            <a:br>
              <a:rPr lang="en-US"/>
            </a:br>
            <a:r>
              <a:rPr lang="en-US"/>
              <a:t>How will we know we're succeeding? Three initial indicators. First, student adoption grows: we measure it by how many sellers accept our offer and how much inventory buyers reserve before August. Second, we save students time and burden: we measure on-time pickups and a satisfaction rating after the move. Third, Relay earns revenue: because we buy inventory up front, our north-star metric is contribution margin per item.</a:t>
            </a:r>
            <a:endParaRPr/>
          </a:p>
        </p:txBody>
      </p:sp>
      <p:sp>
        <p:nvSpPr>
          <p:cNvPr id="153" name="Google Shape;15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[KUSH — ~1 min]</a:t>
            </a:r>
            <a:br>
              <a:rPr lang="en-US"/>
            </a:br>
            <a:r>
              <a:rPr lang="en-US"/>
              <a:t>How is Relay different? Start with Facebook Marketplace, which is what most students use, along with OfferUp, DormXchange, GathrU, and group chats. It's free and it's at Duke, but the seller does all the work, there's no summer hold, no pickup, and no delivery.</a:t>
            </a:r>
            <a:br>
              <a:rPr lang="en-US"/>
            </a:br>
            <a:r>
              <a:rPr lang="en-US"/>
              <a:t>There are a couple of similar ideas nearby. Campus Swap at UNC picks up, stores, and resells, but sellers only get about 20 percent, and only after the item sells. Campus Reclaimed at Wake Forest collects and stores items, but mostly small ones, and doesn't deliver.</a:t>
            </a:r>
            <a:br>
              <a:rPr lang="en-US"/>
            </a:br>
            <a:r>
              <a:rPr lang="en-US"/>
              <a:t>Storage Scholars is Duke's storage partner and is great at pickup and delivery, but it stores your own things. It doesn't sell anything.</a:t>
            </a:r>
            <a:br>
              <a:rPr lang="en-US"/>
            </a:br>
            <a:r>
              <a:rPr lang="en-US"/>
              <a:t>So three differences: we pay at pickup, we're built for Duke, and we handle big furniture all the way to delivery.</a:t>
            </a:r>
            <a:br>
              <a:rPr lang="en-US"/>
            </a:br>
            <a:r>
              <a:rPr lang="en-US"/>
              <a:t>On unfair advantage, we'll be honest: it's not proven yet. We're building it from density at Duke, .edu trust, and our own pricing data on campus furniture.</a:t>
            </a:r>
            <a:endParaRPr/>
          </a:p>
        </p:txBody>
      </p:sp>
      <p:sp>
        <p:nvSpPr>
          <p:cNvPr id="185" name="Google Shape;18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h4cbf07242e8a3fbf_5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2" name="Google Shape;282;h4cbf07242e8a3fbf_5_10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h4cbf07242e8a3fbf_5_10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[SHENWEI — ~1 min]</a:t>
            </a:r>
            <a:br>
              <a:rPr lang="en-US"/>
            </a:br>
            <a:r>
              <a:rPr lang="en-US"/>
              <a:t>Who are our customers? Our primary market is Duke students and staff in off-campus apartments who move out in May or move in in August.</a:t>
            </a:r>
            <a:br>
              <a:rPr lang="en-US"/>
            </a:br>
            <a:r>
              <a:rPr lang="en-US"/>
              <a:t>Our main sellers are people moving out, plus students moving between apartments. The early adopter is the convenience-first seller: leaving within days of finals, no car, and happy to take less money to avoid hauling a couch. We saw this in real interviews. Jingyu had two to three days, and a Duke PhD candidate paid a junk removal service.</a:t>
            </a:r>
            <a:br>
              <a:rPr lang="en-US"/>
            </a:br>
            <a:r>
              <a:rPr lang="en-US"/>
              <a:t>Our main buyers are incoming students and staff, especially graduate and professional students. The early adopter is the out-of-town grad student who arrives right before classes with no car and an empty apartment, like Kevin. Our buyer evidence is thinner, though: one real buyer plus a simulated interview we still need to validate.</a:t>
            </a:r>
            <a:br>
              <a:rPr lang="en-US"/>
            </a:br>
            <a:r>
              <a:rPr lang="en-US"/>
              <a:t>Why Duke first? Many of our graduate students live near campus on their own, so each of them furnishes a whole apartment. About 63 percent of Duke's students are graduate or professional students, and many are in one- or two-year programs, so furniture turns over every year. And over a thousand new international grad students arrived this fall, the people least able to shop for furniture in person before they land.</a:t>
            </a:r>
            <a:endParaRPr/>
          </a:p>
        </p:txBody>
      </p:sp>
      <p:sp>
        <p:nvSpPr>
          <p:cNvPr id="294" name="Google Shape;29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[MIHIR — ~30 sec]</a:t>
            </a:r>
            <a:br>
              <a:rPr lang="en-US"/>
            </a:br>
            <a:r>
              <a:rPr lang="en-US"/>
              <a:t>These quotes come from our four real interviews. We also ran AI-simulated ones, but none of those are on this slide.</a:t>
            </a:r>
            <a:br>
              <a:rPr lang="en-US"/>
            </a:br>
            <a:r>
              <a:rPr lang="en-US"/>
              <a:t>Jingyu had two to three days to sell everything when he graduated, because his parents had flown in and were paying for a hotel. What he couldn't sell, he left behind and paid the apartment's cleaning fee. A Duke PhD candidate couldn't find buyers and paid a junk removal service.</a:t>
            </a:r>
            <a:br>
              <a:rPr lang="en-US"/>
            </a:br>
            <a:br>
              <a:rPr lang="en-US"/>
            </a:br>
            <a:r>
              <a:rPr lang="en-US"/>
              <a:t>[SAM — ~30 sec]</a:t>
            </a:r>
            <a:br>
              <a:rPr lang="en-US"/>
            </a:br>
            <a:r>
              <a:rPr lang="en-US"/>
              <a:t>A Duke 2025 graduate told Kush buyers all wanted immediate pickup, and holding items until August would have given him time to sell. He also flagged cost, damage, and fees as concerns, which is why we record condition at pickup. And Kevin said the hardest part of moving in was simply getting furniture to his apartment.</a:t>
            </a:r>
            <a:br>
              <a:rPr lang="en-US"/>
            </a:br>
            <a:r>
              <a:rPr lang="en-US"/>
              <a:t>The biggest thing that changed our thinking: we assumed sellers wanted the highest price. Most actually wanted a fast, certain exit, which is why Relay pays at pickup instead of "when it sells."</a:t>
            </a:r>
            <a:endParaRPr/>
          </a:p>
        </p:txBody>
      </p:sp>
      <p:sp>
        <p:nvSpPr>
          <p:cNvPr id="329" name="Google Shape;32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[MIHIR — ~1 min]</a:t>
            </a:r>
            <a:br>
              <a:rPr lang="en-US"/>
            </a:br>
            <a:r>
              <a:rPr lang="en-US"/>
              <a:t>We'll keep the money story high level.</a:t>
            </a:r>
            <a:br>
              <a:rPr lang="en-US"/>
            </a:br>
            <a:r>
              <a:rPr lang="en-US"/>
              <a:t>Our main costs: inventory, since we pay sellers at pickup; pickup and delivery, which we plan to run through partner haulers rather than owning trucks; summer storage space; losses on damaged or unsold items; and the platform and marketing.</a:t>
            </a:r>
            <a:br>
              <a:rPr lang="en-US"/>
            </a:br>
            <a:r>
              <a:rPr lang="en-US"/>
              <a:t>Our main revenue is the resale margin, buying in May and selling in August, like the 40-to-80-dollar desk, plus a delivery fee paid by buyers.</a:t>
            </a:r>
            <a:br>
              <a:rPr lang="en-US"/>
            </a:br>
            <a:r>
              <a:rPr lang="en-US"/>
              <a:t>For pricing, our AI engine sets offers from comparable listings minus our margin, and we keep buyer prices below buying new.</a:t>
            </a:r>
            <a:br>
              <a:rPr lang="en-US"/>
            </a:br>
            <a:r>
              <a:rPr lang="en-US"/>
              <a:t>For channels, we'll reach students where move-out already happens: Duke housing and move-out emails, off-campus apartment complexes, graduate and international orientation, targeted ads to admitted students, and the group chats and Marketplace listings where students already try to sell.</a:t>
            </a:r>
            <a:br>
              <a:rPr lang="en-US"/>
            </a:br>
            <a:r>
              <a:rPr lang="en-US"/>
              <a:t>Note: this is a change from our earlier Lean Canvas, which assumed a commission. Customer discovery pushed us to buy outright, because sellers wanted a certain payout.</a:t>
            </a:r>
            <a:endParaRPr/>
          </a:p>
        </p:txBody>
      </p:sp>
      <p:sp>
        <p:nvSpPr>
          <p:cNvPr id="362" name="Google Shape;36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 — ~45 sec, then Q&amp;A]</a:t>
            </a:r>
            <a:br>
              <a:rPr lang="en-US"/>
            </a:br>
            <a:r>
              <a:rPr lang="en-US"/>
              <a:t>To bring it together, here's our Lean Canvas, updated after our customer interviews.</a:t>
            </a:r>
            <a:br>
              <a:rPr lang="en-US"/>
            </a:br>
            <a:r>
              <a:rPr lang="en-US"/>
              <a:t>The problem: graduating students have days to clear bulky furniture with no car, May buyers are unreliable, and incoming students can't get furniture to their apartments. Our early adopters are the no-car seller leaving right after finals and the out-of-town grad student with an empty apartment.</a:t>
            </a:r>
            <a:br>
              <a:rPr lang="en-US"/>
            </a:br>
            <a:r>
              <a:rPr lang="en-US"/>
              <a:t>Our solution is a full-stack marketplace: an instant offer, one pickup with payment on the spot, summer storage, and August delivery, measured by contribution margin per item.</a:t>
            </a:r>
            <a:br>
              <a:rPr lang="en-US"/>
            </a:br>
            <a:r>
              <a:rPr lang="en-US"/>
              <a:t>Our ask of you: do you agree this is a real problem, worth solving, for a clearly defined group of Duke students? We'd love your questions.</a:t>
            </a:r>
            <a:br>
              <a:rPr lang="en-US"/>
            </a:br>
            <a:br>
              <a:rPr lang="en-US"/>
            </a:br>
            <a:r>
              <a:rPr lang="en-US"/>
              <a:t>--- LIKELY PANEL QUESTIONS (prep) ---</a:t>
            </a:r>
            <a:br>
              <a:rPr lang="en-US"/>
            </a:br>
            <a:r>
              <a:rPr lang="en-US"/>
              <a:t>1. "Why take on inventory risk instead of consignment?" Sellers told us they wanted certainty over price. We limit risk by accepting only items with proven August demand (desks, chairs, dressers, bed frames) and pricing from comparables.</a:t>
            </a:r>
            <a:br>
              <a:rPr lang="en-US"/>
            </a:br>
            <a:r>
              <a:rPr lang="en-US"/>
              <a:t>2. "What if items don't sell?" Sell-through is a tracked metric. Fallbacks: discount in September, sell to the public, or donate. We'll learn which items to stop buying.</a:t>
            </a:r>
            <a:br>
              <a:rPr lang="en-US"/>
            </a:br>
            <a:r>
              <a:rPr lang="en-US"/>
              <a:t>3. "Why can't Storage Scholars just add resale?" They could; they're a threat or a partner. Our edge is the pricing engine and buying in May.</a:t>
            </a:r>
            <a:br>
              <a:rPr lang="en-US"/>
            </a:br>
            <a:r>
              <a:rPr lang="en-US"/>
              <a:t>4. "Your buyer evidence is thin." Agreed. Only Kevin is a real buyer. Next step: interview incoming grad students and test pre-arrival reservations.</a:t>
            </a:r>
            <a:br>
              <a:rPr lang="en-US"/>
            </a:br>
            <a:r>
              <a:rPr lang="en-US"/>
              <a:t>5. "How do you handle damage?" Photos and condition notes at pickup, inspection at handoff. Damage rate is a metric we watch.</a:t>
            </a:r>
            <a:br>
              <a:rPr lang="en-US"/>
            </a:br>
            <a:r>
              <a:rPr lang="en-US"/>
              <a:t>6. "Does $40 actually cover pickup, storage, and delivery?" Not sized yet. That's the business-plan work, and it's why contribution margin is our north-star metric.</a:t>
            </a:r>
            <a:endParaRPr/>
          </a:p>
        </p:txBody>
      </p:sp>
      <p:sp>
        <p:nvSpPr>
          <p:cNvPr id="389" name="Google Shape;38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0E4B4F"/>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12" name="Shape 12"/>
        <p:cNvGrpSpPr/>
        <p:nvPr/>
      </p:nvGrpSpPr>
      <p:grpSpPr>
        <a:xfrm>
          <a:off x="0" y="0"/>
          <a:ext cx="0" cy="0"/>
          <a:chOff x="0" y="0"/>
          <a:chExt cx="0" cy="0"/>
        </a:xfrm>
      </p:grpSpPr>
      <p:sp>
        <p:nvSpPr>
          <p:cNvPr id="13" name="Google Shape;13;p3"/>
          <p:cNvSpPr txBox="1"/>
          <p:nvPr>
            <p:ph type="title"/>
          </p:nvPr>
        </p:nvSpPr>
        <p:spPr>
          <a:xfrm>
            <a:off x="548640" y="320040"/>
            <a:ext cx="11094415" cy="77724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2"/>
              </a:buClr>
              <a:buSzPts val="3000"/>
              <a:buFont typeface="Arial"/>
              <a:buNone/>
              <a:defRPr b="1" i="0" sz="30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3"/>
          <p:cNvSpPr/>
          <p:nvPr/>
        </p:nvSpPr>
        <p:spPr>
          <a:xfrm>
            <a:off x="548640" y="640080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Relay · Team 6</a:t>
            </a:r>
            <a:endParaRPr b="0" i="0" sz="1000" u="none" cap="none" strike="noStrike">
              <a:solidFill>
                <a:schemeClr val="dk1"/>
              </a:solidFill>
              <a:latin typeface="Calibri"/>
              <a:ea typeface="Calibri"/>
              <a:cs typeface="Calibri"/>
              <a:sym typeface="Calibri"/>
            </a:endParaRPr>
          </a:p>
        </p:txBody>
      </p:sp>
      <p:sp>
        <p:nvSpPr>
          <p:cNvPr id="15" name="Google Shape;15;p3"/>
          <p:cNvSpPr txBox="1"/>
          <p:nvPr>
            <p:ph idx="12" type="sldNum"/>
          </p:nvPr>
        </p:nvSpPr>
        <p:spPr>
          <a:xfrm>
            <a:off x="11183112" y="6400800"/>
            <a:ext cx="457200"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chemeClr val="accent6"/>
                </a:solidFill>
                <a:latin typeface="Calibri"/>
                <a:ea typeface="Calibri"/>
                <a:cs typeface="Calibri"/>
                <a:sym typeface="Calibri"/>
              </a:defRPr>
            </a:lvl1pPr>
            <a:lvl2pPr indent="0" lvl="1" marL="0" marR="0" algn="r">
              <a:spcBef>
                <a:spcPts val="0"/>
              </a:spcBef>
              <a:buNone/>
              <a:defRPr b="0" i="0" sz="1000" u="none" cap="none" strike="noStrike">
                <a:solidFill>
                  <a:schemeClr val="accent6"/>
                </a:solidFill>
                <a:latin typeface="Calibri"/>
                <a:ea typeface="Calibri"/>
                <a:cs typeface="Calibri"/>
                <a:sym typeface="Calibri"/>
              </a:defRPr>
            </a:lvl2pPr>
            <a:lvl3pPr indent="0" lvl="2" marL="0" marR="0" algn="r">
              <a:spcBef>
                <a:spcPts val="0"/>
              </a:spcBef>
              <a:buNone/>
              <a:defRPr b="0" i="0" sz="1000" u="none" cap="none" strike="noStrike">
                <a:solidFill>
                  <a:schemeClr val="accent6"/>
                </a:solidFill>
                <a:latin typeface="Calibri"/>
                <a:ea typeface="Calibri"/>
                <a:cs typeface="Calibri"/>
                <a:sym typeface="Calibri"/>
              </a:defRPr>
            </a:lvl3pPr>
            <a:lvl4pPr indent="0" lvl="3" marL="0" marR="0" algn="r">
              <a:spcBef>
                <a:spcPts val="0"/>
              </a:spcBef>
              <a:buNone/>
              <a:defRPr b="0" i="0" sz="1000" u="none" cap="none" strike="noStrike">
                <a:solidFill>
                  <a:schemeClr val="accent6"/>
                </a:solidFill>
                <a:latin typeface="Calibri"/>
                <a:ea typeface="Calibri"/>
                <a:cs typeface="Calibri"/>
                <a:sym typeface="Calibri"/>
              </a:defRPr>
            </a:lvl4pPr>
            <a:lvl5pPr indent="0" lvl="4" marL="0" marR="0" algn="r">
              <a:spcBef>
                <a:spcPts val="0"/>
              </a:spcBef>
              <a:buNone/>
              <a:defRPr b="0" i="0" sz="1000" u="none" cap="none" strike="noStrike">
                <a:solidFill>
                  <a:schemeClr val="accent6"/>
                </a:solidFill>
                <a:latin typeface="Calibri"/>
                <a:ea typeface="Calibri"/>
                <a:cs typeface="Calibri"/>
                <a:sym typeface="Calibri"/>
              </a:defRPr>
            </a:lvl5pPr>
            <a:lvl6pPr indent="0" lvl="5" marL="0" marR="0" algn="r">
              <a:spcBef>
                <a:spcPts val="0"/>
              </a:spcBef>
              <a:buNone/>
              <a:defRPr b="0" i="0" sz="1000" u="none" cap="none" strike="noStrike">
                <a:solidFill>
                  <a:schemeClr val="accent6"/>
                </a:solidFill>
                <a:latin typeface="Calibri"/>
                <a:ea typeface="Calibri"/>
                <a:cs typeface="Calibri"/>
                <a:sym typeface="Calibri"/>
              </a:defRPr>
            </a:lvl6pPr>
            <a:lvl7pPr indent="0" lvl="6" marL="0" marR="0" algn="r">
              <a:spcBef>
                <a:spcPts val="0"/>
              </a:spcBef>
              <a:buNone/>
              <a:defRPr b="0" i="0" sz="1000" u="none" cap="none" strike="noStrike">
                <a:solidFill>
                  <a:schemeClr val="accent6"/>
                </a:solidFill>
                <a:latin typeface="Calibri"/>
                <a:ea typeface="Calibri"/>
                <a:cs typeface="Calibri"/>
                <a:sym typeface="Calibri"/>
              </a:defRPr>
            </a:lvl7pPr>
            <a:lvl8pPr indent="0" lvl="7" marL="0" marR="0" algn="r">
              <a:spcBef>
                <a:spcPts val="0"/>
              </a:spcBef>
              <a:buNone/>
              <a:defRPr b="0" i="0" sz="1000" u="none" cap="none" strike="noStrike">
                <a:solidFill>
                  <a:schemeClr val="accent6"/>
                </a:solidFill>
                <a:latin typeface="Calibri"/>
                <a:ea typeface="Calibri"/>
                <a:cs typeface="Calibri"/>
                <a:sym typeface="Calibri"/>
              </a:defRPr>
            </a:lvl8pPr>
            <a:lvl9pPr indent="0" lvl="8" marL="0" marR="0" algn="r">
              <a:spcBef>
                <a:spcPts val="0"/>
              </a:spcBef>
              <a:buNone/>
              <a:defRPr b="0" i="0" sz="1000" u="none" cap="none" strike="noStrike">
                <a:solidFill>
                  <a:schemeClr val="accent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6" name="Shape 1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183112" y="6400800"/>
            <a:ext cx="457200"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000" u="none" cap="none" strike="noStrike">
                <a:solidFill>
                  <a:schemeClr val="accent6"/>
                </a:solidFill>
                <a:latin typeface="Calibri"/>
                <a:ea typeface="Calibri"/>
                <a:cs typeface="Calibri"/>
                <a:sym typeface="Calibri"/>
              </a:defRPr>
            </a:lvl1pPr>
            <a:lvl2pPr indent="0" lvl="1" marL="0" marR="0" rtl="0" algn="r">
              <a:spcBef>
                <a:spcPts val="0"/>
              </a:spcBef>
              <a:buNone/>
              <a:defRPr b="0" i="0" sz="1000" u="none" cap="none" strike="noStrike">
                <a:solidFill>
                  <a:schemeClr val="accent6"/>
                </a:solidFill>
                <a:latin typeface="Calibri"/>
                <a:ea typeface="Calibri"/>
                <a:cs typeface="Calibri"/>
                <a:sym typeface="Calibri"/>
              </a:defRPr>
            </a:lvl2pPr>
            <a:lvl3pPr indent="0" lvl="2" marL="0" marR="0" rtl="0" algn="r">
              <a:spcBef>
                <a:spcPts val="0"/>
              </a:spcBef>
              <a:buNone/>
              <a:defRPr b="0" i="0" sz="1000" u="none" cap="none" strike="noStrike">
                <a:solidFill>
                  <a:schemeClr val="accent6"/>
                </a:solidFill>
                <a:latin typeface="Calibri"/>
                <a:ea typeface="Calibri"/>
                <a:cs typeface="Calibri"/>
                <a:sym typeface="Calibri"/>
              </a:defRPr>
            </a:lvl3pPr>
            <a:lvl4pPr indent="0" lvl="3" marL="0" marR="0" rtl="0" algn="r">
              <a:spcBef>
                <a:spcPts val="0"/>
              </a:spcBef>
              <a:buNone/>
              <a:defRPr b="0" i="0" sz="1000" u="none" cap="none" strike="noStrike">
                <a:solidFill>
                  <a:schemeClr val="accent6"/>
                </a:solidFill>
                <a:latin typeface="Calibri"/>
                <a:ea typeface="Calibri"/>
                <a:cs typeface="Calibri"/>
                <a:sym typeface="Calibri"/>
              </a:defRPr>
            </a:lvl4pPr>
            <a:lvl5pPr indent="0" lvl="4" marL="0" marR="0" rtl="0" algn="r">
              <a:spcBef>
                <a:spcPts val="0"/>
              </a:spcBef>
              <a:buNone/>
              <a:defRPr b="0" i="0" sz="1000" u="none" cap="none" strike="noStrike">
                <a:solidFill>
                  <a:schemeClr val="accent6"/>
                </a:solidFill>
                <a:latin typeface="Calibri"/>
                <a:ea typeface="Calibri"/>
                <a:cs typeface="Calibri"/>
                <a:sym typeface="Calibri"/>
              </a:defRPr>
            </a:lvl5pPr>
            <a:lvl6pPr indent="0" lvl="5" marL="0" marR="0" rtl="0" algn="r">
              <a:spcBef>
                <a:spcPts val="0"/>
              </a:spcBef>
              <a:buNone/>
              <a:defRPr b="0" i="0" sz="1000" u="none" cap="none" strike="noStrike">
                <a:solidFill>
                  <a:schemeClr val="accent6"/>
                </a:solidFill>
                <a:latin typeface="Calibri"/>
                <a:ea typeface="Calibri"/>
                <a:cs typeface="Calibri"/>
                <a:sym typeface="Calibri"/>
              </a:defRPr>
            </a:lvl6pPr>
            <a:lvl7pPr indent="0" lvl="6" marL="0" marR="0" rtl="0" algn="r">
              <a:spcBef>
                <a:spcPts val="0"/>
              </a:spcBef>
              <a:buNone/>
              <a:defRPr b="0" i="0" sz="1000" u="none" cap="none" strike="noStrike">
                <a:solidFill>
                  <a:schemeClr val="accent6"/>
                </a:solidFill>
                <a:latin typeface="Calibri"/>
                <a:ea typeface="Calibri"/>
                <a:cs typeface="Calibri"/>
                <a:sym typeface="Calibri"/>
              </a:defRPr>
            </a:lvl7pPr>
            <a:lvl8pPr indent="0" lvl="7" marL="0" marR="0" rtl="0" algn="r">
              <a:spcBef>
                <a:spcPts val="0"/>
              </a:spcBef>
              <a:buNone/>
              <a:defRPr b="0" i="0" sz="1000" u="none" cap="none" strike="noStrike">
                <a:solidFill>
                  <a:schemeClr val="accent6"/>
                </a:solidFill>
                <a:latin typeface="Calibri"/>
                <a:ea typeface="Calibri"/>
                <a:cs typeface="Calibri"/>
                <a:sym typeface="Calibri"/>
              </a:defRPr>
            </a:lvl8pPr>
            <a:lvl9pPr indent="0" lvl="8" marL="0" marR="0" rtl="0" algn="r">
              <a:spcBef>
                <a:spcPts val="0"/>
              </a:spcBef>
              <a:buNone/>
              <a:defRPr b="0" i="0" sz="1000" u="none" cap="none" strike="noStrike">
                <a:solidFill>
                  <a:schemeClr val="accent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 Id="rId4" Type="http://schemas.openxmlformats.org/officeDocument/2006/relationships/image" Target="../media/image4.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1.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7.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5.png"/><Relationship Id="rId5" Type="http://schemas.openxmlformats.org/officeDocument/2006/relationships/image" Target="../media/image23.png"/><Relationship Id="rId6"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 name="Shape 21"/>
        <p:cNvGrpSpPr/>
        <p:nvPr/>
      </p:nvGrpSpPr>
      <p:grpSpPr>
        <a:xfrm>
          <a:off x="0" y="0"/>
          <a:ext cx="0" cy="0"/>
          <a:chOff x="0" y="0"/>
          <a:chExt cx="0" cy="0"/>
        </a:xfrm>
      </p:grpSpPr>
      <p:sp>
        <p:nvSpPr>
          <p:cNvPr id="22" name="Google Shape;22;p5"/>
          <p:cNvSpPr txBox="1"/>
          <p:nvPr/>
        </p:nvSpPr>
        <p:spPr>
          <a:xfrm>
            <a:off x="548640" y="2267395"/>
            <a:ext cx="6400800" cy="118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8000"/>
              <a:buFont typeface="Arial"/>
              <a:buNone/>
            </a:pPr>
            <a:r>
              <a:rPr b="1" i="0" lang="en-US" sz="8000" u="none" cap="none" strike="noStrike">
                <a:solidFill>
                  <a:schemeClr val="lt1"/>
                </a:solidFill>
                <a:latin typeface="Arial"/>
                <a:ea typeface="Arial"/>
                <a:cs typeface="Arial"/>
                <a:sym typeface="Arial"/>
              </a:rPr>
              <a:t>Relay</a:t>
            </a:r>
            <a:endParaRPr b="0" i="0" sz="8000" u="none" cap="none" strike="noStrike">
              <a:solidFill>
                <a:schemeClr val="dk1"/>
              </a:solidFill>
              <a:latin typeface="Calibri"/>
              <a:ea typeface="Calibri"/>
              <a:cs typeface="Calibri"/>
              <a:sym typeface="Calibri"/>
            </a:endParaRPr>
          </a:p>
        </p:txBody>
      </p:sp>
      <p:sp>
        <p:nvSpPr>
          <p:cNvPr id="23" name="Google Shape;23;p5"/>
          <p:cNvSpPr txBox="1"/>
          <p:nvPr/>
        </p:nvSpPr>
        <p:spPr>
          <a:xfrm>
            <a:off x="548640" y="2697480"/>
            <a:ext cx="658368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3000"/>
              <a:buFont typeface="Arial"/>
              <a:buNone/>
            </a:pPr>
            <a:r>
              <a:t/>
            </a:r>
            <a:endParaRPr b="0" i="0" sz="3000" u="none" cap="none" strike="noStrike">
              <a:solidFill>
                <a:schemeClr val="dk1"/>
              </a:solidFill>
              <a:latin typeface="Calibri"/>
              <a:ea typeface="Calibri"/>
              <a:cs typeface="Calibri"/>
              <a:sym typeface="Calibri"/>
            </a:endParaRPr>
          </a:p>
        </p:txBody>
      </p:sp>
      <p:sp>
        <p:nvSpPr>
          <p:cNvPr id="24" name="Google Shape;24;p5"/>
          <p:cNvSpPr txBox="1"/>
          <p:nvPr/>
        </p:nvSpPr>
        <p:spPr>
          <a:xfrm>
            <a:off x="548640" y="3520440"/>
            <a:ext cx="60350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2000"/>
              <a:buFont typeface="Calibri"/>
              <a:buNone/>
            </a:pPr>
            <a:r>
              <a:rPr b="0" i="0" lang="en-US" sz="2000" u="none" cap="none" strike="noStrike">
                <a:solidFill>
                  <a:schemeClr val="accent5"/>
                </a:solidFill>
                <a:latin typeface="Calibri"/>
                <a:ea typeface="Calibri"/>
                <a:cs typeface="Calibri"/>
                <a:sym typeface="Calibri"/>
              </a:rPr>
              <a:t>A full-stack student furniture marketplace with pickup, storage, and delivery, starting at Duke.</a:t>
            </a:r>
            <a:endParaRPr b="0" i="0" sz="2000" u="none" cap="none" strike="noStrike">
              <a:solidFill>
                <a:schemeClr val="dk1"/>
              </a:solidFill>
              <a:latin typeface="Calibri"/>
              <a:ea typeface="Calibri"/>
              <a:cs typeface="Calibri"/>
              <a:sym typeface="Calibri"/>
            </a:endParaRPr>
          </a:p>
        </p:txBody>
      </p:sp>
      <p:sp>
        <p:nvSpPr>
          <p:cNvPr id="25" name="Google Shape;25;p5"/>
          <p:cNvSpPr txBox="1"/>
          <p:nvPr/>
        </p:nvSpPr>
        <p:spPr>
          <a:xfrm>
            <a:off x="548640" y="4745460"/>
            <a:ext cx="64008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0" i="0" lang="en-US" sz="1800" u="none" cap="none" strike="noStrike">
                <a:solidFill>
                  <a:schemeClr val="lt1"/>
                </a:solidFill>
                <a:latin typeface="Calibri"/>
                <a:ea typeface="Calibri"/>
                <a:cs typeface="Calibri"/>
                <a:sym typeface="Calibri"/>
              </a:rPr>
              <a:t>Sam  ·  Kush  ·  Shenwei  ·  Mihir</a:t>
            </a:r>
            <a:endParaRPr b="0" i="0" sz="1800" u="none" cap="none" strike="noStrike">
              <a:solidFill>
                <a:schemeClr val="dk1"/>
              </a:solidFill>
              <a:latin typeface="Calibri"/>
              <a:ea typeface="Calibri"/>
              <a:cs typeface="Calibri"/>
              <a:sym typeface="Calibri"/>
            </a:endParaRPr>
          </a:p>
        </p:txBody>
      </p:sp>
      <p:sp>
        <p:nvSpPr>
          <p:cNvPr id="26" name="Google Shape;26;p5"/>
          <p:cNvSpPr/>
          <p:nvPr/>
        </p:nvSpPr>
        <p:spPr>
          <a:xfrm>
            <a:off x="7543800" y="2148840"/>
            <a:ext cx="1554480" cy="155448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 name="Google Shape;27;p5"/>
          <p:cNvPicPr preferRelativeResize="0"/>
          <p:nvPr/>
        </p:nvPicPr>
        <p:blipFill rotWithShape="1">
          <a:blip r:embed="rId3">
            <a:alphaModFix/>
          </a:blip>
          <a:srcRect b="0" l="0" r="0" t="0"/>
          <a:stretch/>
        </p:blipFill>
        <p:spPr>
          <a:xfrm>
            <a:off x="7932420" y="2537460"/>
            <a:ext cx="777240" cy="777240"/>
          </a:xfrm>
          <a:prstGeom prst="rect">
            <a:avLst/>
          </a:prstGeom>
          <a:noFill/>
          <a:ln>
            <a:noFill/>
          </a:ln>
        </p:spPr>
      </p:pic>
      <p:sp>
        <p:nvSpPr>
          <p:cNvPr id="28" name="Google Shape;28;p5"/>
          <p:cNvSpPr/>
          <p:nvPr/>
        </p:nvSpPr>
        <p:spPr>
          <a:xfrm>
            <a:off x="10058400" y="2148840"/>
            <a:ext cx="1554480" cy="155448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5"/>
          <p:cNvPicPr preferRelativeResize="0"/>
          <p:nvPr/>
        </p:nvPicPr>
        <p:blipFill rotWithShape="1">
          <a:blip r:embed="rId4">
            <a:alphaModFix/>
          </a:blip>
          <a:srcRect b="0" l="0" r="0" t="0"/>
          <a:stretch/>
        </p:blipFill>
        <p:spPr>
          <a:xfrm>
            <a:off x="10447020" y="2537460"/>
            <a:ext cx="777240" cy="777240"/>
          </a:xfrm>
          <a:prstGeom prst="rect">
            <a:avLst/>
          </a:prstGeom>
          <a:noFill/>
          <a:ln>
            <a:noFill/>
          </a:ln>
        </p:spPr>
      </p:pic>
      <p:pic>
        <p:nvPicPr>
          <p:cNvPr descr="preencoded.png" id="30" name="Google Shape;30;p5"/>
          <p:cNvPicPr preferRelativeResize="0"/>
          <p:nvPr/>
        </p:nvPicPr>
        <p:blipFill rotWithShape="1">
          <a:blip r:embed="rId5">
            <a:alphaModFix/>
          </a:blip>
          <a:srcRect b="0" l="0" r="0" t="0"/>
          <a:stretch/>
        </p:blipFill>
        <p:spPr>
          <a:xfrm>
            <a:off x="9299448" y="2715768"/>
            <a:ext cx="502920" cy="420624"/>
          </a:xfrm>
          <a:prstGeom prst="rect">
            <a:avLst/>
          </a:prstGeom>
          <a:noFill/>
          <a:ln>
            <a:noFill/>
          </a:ln>
        </p:spPr>
      </p:pic>
      <p:sp>
        <p:nvSpPr>
          <p:cNvPr id="31" name="Google Shape;31;p5"/>
          <p:cNvSpPr txBox="1"/>
          <p:nvPr/>
        </p:nvSpPr>
        <p:spPr>
          <a:xfrm>
            <a:off x="7543800" y="3840480"/>
            <a:ext cx="155448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MAY</a:t>
            </a:r>
            <a:endParaRPr b="0" i="0" sz="1600" u="none" cap="none" strike="noStrike">
              <a:solidFill>
                <a:schemeClr val="dk1"/>
              </a:solidFill>
              <a:latin typeface="Calibri"/>
              <a:ea typeface="Calibri"/>
              <a:cs typeface="Calibri"/>
              <a:sym typeface="Calibri"/>
            </a:endParaRPr>
          </a:p>
        </p:txBody>
      </p:sp>
      <p:sp>
        <p:nvSpPr>
          <p:cNvPr id="32" name="Google Shape;32;p5"/>
          <p:cNvSpPr txBox="1"/>
          <p:nvPr/>
        </p:nvSpPr>
        <p:spPr>
          <a:xfrm>
            <a:off x="10058400" y="3840480"/>
            <a:ext cx="155448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AUGUST</a:t>
            </a:r>
            <a:endParaRPr b="0" i="0" sz="1600" u="none" cap="none" strike="noStrike">
              <a:solidFill>
                <a:schemeClr val="dk1"/>
              </a:solidFill>
              <a:latin typeface="Calibri"/>
              <a:ea typeface="Calibri"/>
              <a:cs typeface="Calibri"/>
              <a:sym typeface="Calibri"/>
            </a:endParaRPr>
          </a:p>
        </p:txBody>
      </p:sp>
      <p:sp>
        <p:nvSpPr>
          <p:cNvPr id="33" name="Google Shape;33;p5"/>
          <p:cNvSpPr txBox="1"/>
          <p:nvPr/>
        </p:nvSpPr>
        <p:spPr>
          <a:xfrm>
            <a:off x="7315200" y="4206240"/>
            <a:ext cx="2011680" cy="320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graduating seller</a:t>
            </a:r>
            <a:endParaRPr b="0" i="0" sz="1400" u="none" cap="none" strike="noStrike">
              <a:solidFill>
                <a:schemeClr val="dk1"/>
              </a:solidFill>
              <a:latin typeface="Calibri"/>
              <a:ea typeface="Calibri"/>
              <a:cs typeface="Calibri"/>
              <a:sym typeface="Calibri"/>
            </a:endParaRPr>
          </a:p>
        </p:txBody>
      </p:sp>
      <p:sp>
        <p:nvSpPr>
          <p:cNvPr id="34" name="Google Shape;34;p5"/>
          <p:cNvSpPr txBox="1"/>
          <p:nvPr/>
        </p:nvSpPr>
        <p:spPr>
          <a:xfrm>
            <a:off x="9829800" y="4206240"/>
            <a:ext cx="2011680" cy="320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incoming buyer</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6"/>
          <p:cNvSpPr txBox="1"/>
          <p:nvPr>
            <p:ph type="title"/>
          </p:nvPr>
        </p:nvSpPr>
        <p:spPr>
          <a:xfrm>
            <a:off x="115082" y="245916"/>
            <a:ext cx="6111000" cy="68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3000"/>
              <a:buFont typeface="Arial"/>
              <a:buNone/>
            </a:pPr>
            <a:r>
              <a:rPr lang="en-US" sz="3400" u="sng"/>
              <a:t>Our Product Story: </a:t>
            </a:r>
            <a:endParaRPr sz="3400" u="sng"/>
          </a:p>
          <a:p>
            <a:pPr indent="0" lvl="0" marL="0" rtl="0" algn="ctr">
              <a:spcBef>
                <a:spcPts val="0"/>
              </a:spcBef>
              <a:spcAft>
                <a:spcPts val="0"/>
              </a:spcAft>
              <a:buClr>
                <a:schemeClr val="dk2"/>
              </a:buClr>
              <a:buSzPts val="3000"/>
              <a:buFont typeface="Arial"/>
              <a:buNone/>
            </a:pPr>
            <a:r>
              <a:rPr b="0" i="1" lang="en-US" sz="2000"/>
              <a:t>Told Through a Prospective Customer: Ricky</a:t>
            </a:r>
            <a:endParaRPr b="0" i="1" sz="2000"/>
          </a:p>
        </p:txBody>
      </p:sp>
      <p:grpSp>
        <p:nvGrpSpPr>
          <p:cNvPr id="41" name="Google Shape;41;p6"/>
          <p:cNvGrpSpPr/>
          <p:nvPr/>
        </p:nvGrpSpPr>
        <p:grpSpPr>
          <a:xfrm>
            <a:off x="123950" y="1351896"/>
            <a:ext cx="2292900" cy="643800"/>
            <a:chOff x="123950" y="640275"/>
            <a:chExt cx="2292900" cy="643800"/>
          </a:xfrm>
        </p:grpSpPr>
        <p:sp>
          <p:nvSpPr>
            <p:cNvPr id="42" name="Google Shape;42;p6"/>
            <p:cNvSpPr/>
            <p:nvPr/>
          </p:nvSpPr>
          <p:spPr>
            <a:xfrm>
              <a:off x="123950" y="640275"/>
              <a:ext cx="2292900" cy="643800"/>
            </a:xfrm>
            <a:prstGeom prst="roundRect">
              <a:avLst>
                <a:gd fmla="val 24000" name="adj"/>
              </a:avLst>
            </a:prstGeom>
            <a:solidFill>
              <a:srgbClr val="BFD6D3"/>
            </a:solidFill>
            <a:ln>
              <a:noFill/>
            </a:ln>
          </p:spPr>
          <p:txBody>
            <a:bodyPr anchorCtr="0" anchor="ctr" bIns="194725" lIns="194725" spcFirstLastPara="1" rIns="194725" wrap="square" tIns="194725">
              <a:noAutofit/>
            </a:bodyPr>
            <a:lstStyle/>
            <a:p>
              <a:pPr indent="0" lvl="0" marL="0" rtl="0" algn="l">
                <a:spcBef>
                  <a:spcPts val="0"/>
                </a:spcBef>
                <a:spcAft>
                  <a:spcPts val="0"/>
                </a:spcAft>
                <a:buNone/>
              </a:pPr>
              <a:r>
                <a:t/>
              </a:r>
              <a:endParaRPr/>
            </a:p>
          </p:txBody>
        </p:sp>
        <p:sp>
          <p:nvSpPr>
            <p:cNvPr id="43" name="Google Shape;43;p6"/>
            <p:cNvSpPr txBox="1"/>
            <p:nvPr/>
          </p:nvSpPr>
          <p:spPr>
            <a:xfrm>
              <a:off x="273649" y="695326"/>
              <a:ext cx="1993500" cy="533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982"/>
                <a:buFont typeface="Arial"/>
                <a:buNone/>
              </a:pPr>
              <a:r>
                <a:rPr b="1" i="0" lang="en-US" sz="2382" u="none" cap="none" strike="noStrike">
                  <a:solidFill>
                    <a:schemeClr val="dk1"/>
                  </a:solidFill>
                  <a:latin typeface="Arial"/>
                  <a:ea typeface="Arial"/>
                  <a:cs typeface="Arial"/>
                  <a:sym typeface="Arial"/>
                </a:rPr>
                <a:t>MAY 16th </a:t>
              </a:r>
              <a:endParaRPr b="0" i="0" sz="2382" u="none" cap="none" strike="noStrike">
                <a:solidFill>
                  <a:schemeClr val="dk1"/>
                </a:solidFill>
                <a:latin typeface="Calibri"/>
                <a:ea typeface="Calibri"/>
                <a:cs typeface="Calibri"/>
                <a:sym typeface="Calibri"/>
              </a:endParaRPr>
            </a:p>
          </p:txBody>
        </p:sp>
      </p:grpSp>
      <p:sp>
        <p:nvSpPr>
          <p:cNvPr id="44" name="Google Shape;44;p6"/>
          <p:cNvSpPr txBox="1"/>
          <p:nvPr/>
        </p:nvSpPr>
        <p:spPr>
          <a:xfrm>
            <a:off x="4211960" y="1848582"/>
            <a:ext cx="6942600" cy="300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500"/>
              <a:buFont typeface="Calibri"/>
              <a:buNone/>
            </a:pPr>
            <a:r>
              <a:rPr lang="en-US" sz="1900">
                <a:solidFill>
                  <a:schemeClr val="dk1"/>
                </a:solidFill>
                <a:latin typeface="Calibri"/>
                <a:ea typeface="Calibri"/>
                <a:cs typeface="Calibri"/>
                <a:sym typeface="Calibri"/>
              </a:rPr>
              <a:t>He is </a:t>
            </a:r>
            <a:r>
              <a:rPr b="1" lang="en-US" sz="1900">
                <a:solidFill>
                  <a:schemeClr val="dk1"/>
                </a:solidFill>
                <a:latin typeface="Calibri"/>
                <a:ea typeface="Calibri"/>
                <a:cs typeface="Calibri"/>
                <a:sym typeface="Calibri"/>
              </a:rPr>
              <a:t>moving out </a:t>
            </a:r>
            <a:r>
              <a:rPr b="1" lang="en-US" sz="1900">
                <a:solidFill>
                  <a:schemeClr val="dk1"/>
                </a:solidFill>
                <a:latin typeface="Calibri"/>
                <a:ea typeface="Calibri"/>
                <a:cs typeface="Calibri"/>
                <a:sym typeface="Calibri"/>
              </a:rPr>
              <a:t>on May 30th</a:t>
            </a:r>
            <a:r>
              <a:rPr lang="en-US" sz="1900">
                <a:solidFill>
                  <a:schemeClr val="dk1"/>
                </a:solidFill>
                <a:latin typeface="Calibri"/>
                <a:ea typeface="Calibri"/>
                <a:cs typeface="Calibri"/>
                <a:sym typeface="Calibri"/>
              </a:rPr>
              <a:t> to start his new job in California </a:t>
            </a:r>
            <a:endParaRPr b="0" i="0" sz="1900" u="none" cap="none" strike="noStrike">
              <a:solidFill>
                <a:schemeClr val="dk1"/>
              </a:solidFill>
              <a:latin typeface="Calibri"/>
              <a:ea typeface="Calibri"/>
              <a:cs typeface="Calibri"/>
              <a:sym typeface="Calibri"/>
            </a:endParaRPr>
          </a:p>
        </p:txBody>
      </p:sp>
      <p:sp>
        <p:nvSpPr>
          <p:cNvPr id="45" name="Google Shape;45;p6"/>
          <p:cNvSpPr txBox="1"/>
          <p:nvPr/>
        </p:nvSpPr>
        <p:spPr>
          <a:xfrm>
            <a:off x="3056562" y="2477019"/>
            <a:ext cx="9120000" cy="300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500"/>
              <a:buFont typeface="Calibri"/>
              <a:buNone/>
            </a:pPr>
            <a:r>
              <a:rPr lang="en-US" sz="1900">
                <a:solidFill>
                  <a:schemeClr val="dk1"/>
                </a:solidFill>
                <a:latin typeface="Calibri"/>
                <a:ea typeface="Calibri"/>
                <a:cs typeface="Calibri"/>
                <a:sym typeface="Calibri"/>
              </a:rPr>
              <a:t>He has </a:t>
            </a:r>
            <a:r>
              <a:rPr b="1" lang="en-US" sz="1900">
                <a:solidFill>
                  <a:schemeClr val="dk1"/>
                </a:solidFill>
                <a:latin typeface="Calibri"/>
                <a:ea typeface="Calibri"/>
                <a:cs typeface="Calibri"/>
                <a:sym typeface="Calibri"/>
              </a:rPr>
              <a:t>no car</a:t>
            </a:r>
            <a:r>
              <a:rPr lang="en-US" sz="1900">
                <a:solidFill>
                  <a:schemeClr val="dk1"/>
                </a:solidFill>
                <a:latin typeface="Calibri"/>
                <a:ea typeface="Calibri"/>
                <a:cs typeface="Calibri"/>
                <a:sym typeface="Calibri"/>
              </a:rPr>
              <a:t> to transport  furniture</a:t>
            </a:r>
            <a:endParaRPr b="0" i="0" sz="1900" u="none" cap="none" strike="noStrike">
              <a:solidFill>
                <a:schemeClr val="dk1"/>
              </a:solidFill>
              <a:latin typeface="Calibri"/>
              <a:ea typeface="Calibri"/>
              <a:cs typeface="Calibri"/>
              <a:sym typeface="Calibri"/>
            </a:endParaRPr>
          </a:p>
        </p:txBody>
      </p:sp>
      <p:sp>
        <p:nvSpPr>
          <p:cNvPr id="46" name="Google Shape;46;p6"/>
          <p:cNvSpPr txBox="1"/>
          <p:nvPr/>
        </p:nvSpPr>
        <p:spPr>
          <a:xfrm>
            <a:off x="3614258" y="2162272"/>
            <a:ext cx="7787700" cy="300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500"/>
              <a:buFont typeface="Calibri"/>
              <a:buNone/>
            </a:pPr>
            <a:r>
              <a:rPr lang="en-US" sz="1900">
                <a:solidFill>
                  <a:schemeClr val="dk1"/>
                </a:solidFill>
                <a:latin typeface="Calibri"/>
                <a:ea typeface="Calibri"/>
                <a:cs typeface="Calibri"/>
                <a:sym typeface="Calibri"/>
              </a:rPr>
              <a:t>He</a:t>
            </a:r>
            <a:r>
              <a:rPr lang="en-US" sz="1900">
                <a:solidFill>
                  <a:schemeClr val="dk1"/>
                </a:solidFill>
                <a:latin typeface="Calibri"/>
                <a:ea typeface="Calibri"/>
                <a:cs typeface="Calibri"/>
                <a:sym typeface="Calibri"/>
              </a:rPr>
              <a:t> w</a:t>
            </a:r>
            <a:r>
              <a:rPr b="1" lang="en-US" sz="1900">
                <a:solidFill>
                  <a:schemeClr val="dk1"/>
                </a:solidFill>
                <a:latin typeface="Calibri"/>
                <a:ea typeface="Calibri"/>
                <a:cs typeface="Calibri"/>
                <a:sym typeface="Calibri"/>
              </a:rPr>
              <a:t>on’t get his first post-grad pay-check</a:t>
            </a:r>
            <a:r>
              <a:rPr lang="en-US" sz="1900">
                <a:solidFill>
                  <a:schemeClr val="dk1"/>
                </a:solidFill>
                <a:latin typeface="Calibri"/>
                <a:ea typeface="Calibri"/>
                <a:cs typeface="Calibri"/>
                <a:sym typeface="Calibri"/>
              </a:rPr>
              <a:t> for one month</a:t>
            </a:r>
            <a:endParaRPr b="0" i="0" sz="1900" u="none" cap="none" strike="noStrike">
              <a:solidFill>
                <a:schemeClr val="dk1"/>
              </a:solidFill>
              <a:latin typeface="Calibri"/>
              <a:ea typeface="Calibri"/>
              <a:cs typeface="Calibri"/>
              <a:sym typeface="Calibri"/>
            </a:endParaRPr>
          </a:p>
        </p:txBody>
      </p:sp>
      <p:grpSp>
        <p:nvGrpSpPr>
          <p:cNvPr id="47" name="Google Shape;47;p6"/>
          <p:cNvGrpSpPr/>
          <p:nvPr/>
        </p:nvGrpSpPr>
        <p:grpSpPr>
          <a:xfrm>
            <a:off x="3573608" y="1351891"/>
            <a:ext cx="8157760" cy="533700"/>
            <a:chOff x="3573607" y="640270"/>
            <a:chExt cx="8157760" cy="533700"/>
          </a:xfrm>
        </p:grpSpPr>
        <p:sp>
          <p:nvSpPr>
            <p:cNvPr id="48" name="Google Shape;48;p6"/>
            <p:cNvSpPr/>
            <p:nvPr/>
          </p:nvSpPr>
          <p:spPr>
            <a:xfrm>
              <a:off x="3573607" y="726270"/>
              <a:ext cx="7973400" cy="4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 name="Google Shape;49;p6"/>
            <p:cNvSpPr txBox="1"/>
            <p:nvPr/>
          </p:nvSpPr>
          <p:spPr>
            <a:xfrm>
              <a:off x="3641268" y="640270"/>
              <a:ext cx="8090100" cy="533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982"/>
                <a:buFont typeface="Arial"/>
                <a:buNone/>
              </a:pPr>
              <a:r>
                <a:rPr b="1" lang="en-US" sz="2382">
                  <a:solidFill>
                    <a:schemeClr val="dk1"/>
                  </a:solidFill>
                </a:rPr>
                <a:t>Ricky Graduates With His MBA! 🎉 </a:t>
              </a:r>
              <a:endParaRPr b="0" i="0" sz="2382" u="none" cap="none" strike="noStrike">
                <a:solidFill>
                  <a:schemeClr val="dk1"/>
                </a:solidFill>
                <a:latin typeface="Calibri"/>
                <a:ea typeface="Calibri"/>
                <a:cs typeface="Calibri"/>
                <a:sym typeface="Calibri"/>
              </a:endParaRPr>
            </a:p>
          </p:txBody>
        </p:sp>
      </p:grpSp>
      <p:grpSp>
        <p:nvGrpSpPr>
          <p:cNvPr id="50" name="Google Shape;50;p6"/>
          <p:cNvGrpSpPr/>
          <p:nvPr/>
        </p:nvGrpSpPr>
        <p:grpSpPr>
          <a:xfrm>
            <a:off x="123950" y="3019298"/>
            <a:ext cx="2292900" cy="551853"/>
            <a:chOff x="123950" y="2559015"/>
            <a:chExt cx="2292900" cy="551853"/>
          </a:xfrm>
        </p:grpSpPr>
        <p:sp>
          <p:nvSpPr>
            <p:cNvPr id="51" name="Google Shape;51;p6"/>
            <p:cNvSpPr/>
            <p:nvPr/>
          </p:nvSpPr>
          <p:spPr>
            <a:xfrm>
              <a:off x="123950" y="2577168"/>
              <a:ext cx="2292900" cy="533700"/>
            </a:xfrm>
            <a:prstGeom prst="roundRect">
              <a:avLst>
                <a:gd fmla="val 24000" name="adj"/>
              </a:avLst>
            </a:prstGeom>
            <a:solidFill>
              <a:srgbClr val="1F8A8A"/>
            </a:solidFill>
            <a:ln>
              <a:noFill/>
            </a:ln>
          </p:spPr>
          <p:txBody>
            <a:bodyPr anchorCtr="0" anchor="ctr" bIns="194725" lIns="194725" spcFirstLastPara="1" rIns="194725" wrap="square" tIns="194725">
              <a:noAutofit/>
            </a:bodyPr>
            <a:lstStyle/>
            <a:p>
              <a:pPr indent="0" lvl="0" marL="0" rtl="0" algn="l">
                <a:spcBef>
                  <a:spcPts val="0"/>
                </a:spcBef>
                <a:spcAft>
                  <a:spcPts val="0"/>
                </a:spcAft>
                <a:buNone/>
              </a:pPr>
              <a:r>
                <a:t/>
              </a:r>
              <a:endParaRPr/>
            </a:p>
          </p:txBody>
        </p:sp>
        <p:sp>
          <p:nvSpPr>
            <p:cNvPr id="52" name="Google Shape;52;p6"/>
            <p:cNvSpPr txBox="1"/>
            <p:nvPr/>
          </p:nvSpPr>
          <p:spPr>
            <a:xfrm>
              <a:off x="273649" y="2559015"/>
              <a:ext cx="1993500" cy="533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982"/>
                <a:buFont typeface="Arial"/>
                <a:buNone/>
              </a:pPr>
              <a:r>
                <a:rPr b="1" i="0" lang="en-US" sz="2382" u="none" cap="none" strike="noStrike">
                  <a:solidFill>
                    <a:schemeClr val="lt1"/>
                  </a:solidFill>
                  <a:latin typeface="Arial"/>
                  <a:ea typeface="Arial"/>
                  <a:cs typeface="Arial"/>
                  <a:sym typeface="Arial"/>
                </a:rPr>
                <a:t>MAY </a:t>
              </a:r>
              <a:r>
                <a:rPr b="1" lang="en-US" sz="2382">
                  <a:solidFill>
                    <a:schemeClr val="lt1"/>
                  </a:solidFill>
                </a:rPr>
                <a:t>20</a:t>
              </a:r>
              <a:r>
                <a:rPr b="1" i="0" lang="en-US" sz="2382" u="none" cap="none" strike="noStrike">
                  <a:solidFill>
                    <a:schemeClr val="lt1"/>
                  </a:solidFill>
                  <a:latin typeface="Arial"/>
                  <a:ea typeface="Arial"/>
                  <a:cs typeface="Arial"/>
                  <a:sym typeface="Arial"/>
                </a:rPr>
                <a:t>th </a:t>
              </a:r>
              <a:endParaRPr b="0" i="0" sz="2382" u="none" cap="none" strike="noStrike">
                <a:solidFill>
                  <a:schemeClr val="dk1"/>
                </a:solidFill>
                <a:latin typeface="Calibri"/>
                <a:ea typeface="Calibri"/>
                <a:cs typeface="Calibri"/>
                <a:sym typeface="Calibri"/>
              </a:endParaRPr>
            </a:p>
          </p:txBody>
        </p:sp>
      </p:grpSp>
      <p:grpSp>
        <p:nvGrpSpPr>
          <p:cNvPr id="53" name="Google Shape;53;p6"/>
          <p:cNvGrpSpPr/>
          <p:nvPr/>
        </p:nvGrpSpPr>
        <p:grpSpPr>
          <a:xfrm>
            <a:off x="3944807" y="2995413"/>
            <a:ext cx="7034100" cy="533700"/>
            <a:chOff x="3944807" y="2535130"/>
            <a:chExt cx="7034100" cy="533700"/>
          </a:xfrm>
        </p:grpSpPr>
        <p:sp>
          <p:nvSpPr>
            <p:cNvPr id="54" name="Google Shape;54;p6"/>
            <p:cNvSpPr/>
            <p:nvPr/>
          </p:nvSpPr>
          <p:spPr>
            <a:xfrm>
              <a:off x="4482500" y="2602500"/>
              <a:ext cx="5913300" cy="4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6"/>
            <p:cNvSpPr txBox="1"/>
            <p:nvPr/>
          </p:nvSpPr>
          <p:spPr>
            <a:xfrm>
              <a:off x="3944807" y="2535130"/>
              <a:ext cx="7034100" cy="533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982"/>
                <a:buFont typeface="Arial"/>
                <a:buNone/>
              </a:pPr>
              <a:r>
                <a:rPr b="1" lang="en-US" sz="2382">
                  <a:solidFill>
                    <a:schemeClr val="dk1"/>
                  </a:solidFill>
                </a:rPr>
                <a:t>He Lists items on Facebook Marketplace </a:t>
              </a:r>
              <a:endParaRPr b="0" i="0" sz="2382" u="none" cap="none" strike="noStrike">
                <a:solidFill>
                  <a:schemeClr val="dk1"/>
                </a:solidFill>
                <a:latin typeface="Calibri"/>
                <a:ea typeface="Calibri"/>
                <a:cs typeface="Calibri"/>
                <a:sym typeface="Calibri"/>
              </a:endParaRPr>
            </a:p>
          </p:txBody>
        </p:sp>
      </p:grpSp>
      <p:sp>
        <p:nvSpPr>
          <p:cNvPr id="56" name="Google Shape;56;p6"/>
          <p:cNvSpPr txBox="1"/>
          <p:nvPr/>
        </p:nvSpPr>
        <p:spPr>
          <a:xfrm>
            <a:off x="3250267" y="3620204"/>
            <a:ext cx="9120000" cy="300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500"/>
              <a:buFont typeface="Calibri"/>
              <a:buNone/>
            </a:pPr>
            <a:r>
              <a:rPr lang="en-US" sz="1900">
                <a:solidFill>
                  <a:schemeClr val="dk1"/>
                </a:solidFill>
                <a:latin typeface="Calibri"/>
                <a:ea typeface="Calibri"/>
                <a:cs typeface="Calibri"/>
                <a:sym typeface="Calibri"/>
              </a:rPr>
              <a:t>But he’s </a:t>
            </a:r>
            <a:r>
              <a:rPr b="1" lang="en-US" sz="1900">
                <a:solidFill>
                  <a:schemeClr val="dk1"/>
                </a:solidFill>
                <a:latin typeface="Calibri"/>
                <a:ea typeface="Calibri"/>
                <a:cs typeface="Calibri"/>
                <a:sym typeface="Calibri"/>
              </a:rPr>
              <a:t>selling in a low demand high supply market</a:t>
            </a:r>
            <a:r>
              <a:rPr lang="en-US" sz="1900">
                <a:solidFill>
                  <a:schemeClr val="dk1"/>
                </a:solidFill>
                <a:latin typeface="Calibri"/>
                <a:ea typeface="Calibri"/>
                <a:cs typeface="Calibri"/>
                <a:sym typeface="Calibri"/>
              </a:rPr>
              <a:t> during grad season</a:t>
            </a:r>
            <a:endParaRPr sz="19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500"/>
              <a:buFont typeface="Calibri"/>
              <a:buNone/>
            </a:pPr>
            <a:r>
              <a:t/>
            </a:r>
            <a:endParaRPr sz="1900">
              <a:solidFill>
                <a:schemeClr val="dk1"/>
              </a:solidFill>
              <a:latin typeface="Calibri"/>
              <a:ea typeface="Calibri"/>
              <a:cs typeface="Calibri"/>
              <a:sym typeface="Calibri"/>
            </a:endParaRPr>
          </a:p>
        </p:txBody>
      </p:sp>
      <p:grpSp>
        <p:nvGrpSpPr>
          <p:cNvPr id="57" name="Google Shape;57;p6"/>
          <p:cNvGrpSpPr/>
          <p:nvPr/>
        </p:nvGrpSpPr>
        <p:grpSpPr>
          <a:xfrm>
            <a:off x="123950" y="4138358"/>
            <a:ext cx="2292900" cy="554158"/>
            <a:chOff x="123950" y="3899693"/>
            <a:chExt cx="2292900" cy="554158"/>
          </a:xfrm>
        </p:grpSpPr>
        <p:sp>
          <p:nvSpPr>
            <p:cNvPr id="58" name="Google Shape;58;p6"/>
            <p:cNvSpPr/>
            <p:nvPr/>
          </p:nvSpPr>
          <p:spPr>
            <a:xfrm>
              <a:off x="123950" y="3901850"/>
              <a:ext cx="2292900" cy="552000"/>
            </a:xfrm>
            <a:prstGeom prst="roundRect">
              <a:avLst>
                <a:gd fmla="val 24000" name="adj"/>
              </a:avLst>
            </a:prstGeom>
            <a:solidFill>
              <a:srgbClr val="0E4B4F"/>
            </a:solidFill>
            <a:ln>
              <a:noFill/>
            </a:ln>
          </p:spPr>
          <p:txBody>
            <a:bodyPr anchorCtr="0" anchor="ctr" bIns="194725" lIns="194725" spcFirstLastPara="1" rIns="194725" wrap="square" tIns="194725">
              <a:noAutofit/>
            </a:bodyPr>
            <a:lstStyle/>
            <a:p>
              <a:pPr indent="0" lvl="0" marL="0" rtl="0" algn="l">
                <a:spcBef>
                  <a:spcPts val="0"/>
                </a:spcBef>
                <a:spcAft>
                  <a:spcPts val="0"/>
                </a:spcAft>
                <a:buNone/>
              </a:pPr>
              <a:r>
                <a:t/>
              </a:r>
              <a:endParaRPr/>
            </a:p>
          </p:txBody>
        </p:sp>
        <p:sp>
          <p:nvSpPr>
            <p:cNvPr id="59" name="Google Shape;59;p6"/>
            <p:cNvSpPr txBox="1"/>
            <p:nvPr/>
          </p:nvSpPr>
          <p:spPr>
            <a:xfrm>
              <a:off x="273649" y="3899693"/>
              <a:ext cx="1993500" cy="533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982"/>
                <a:buFont typeface="Arial"/>
                <a:buNone/>
              </a:pPr>
              <a:r>
                <a:rPr b="1" lang="en-US" sz="2382">
                  <a:solidFill>
                    <a:schemeClr val="lt1"/>
                  </a:solidFill>
                </a:rPr>
                <a:t>May 27th </a:t>
              </a:r>
              <a:endParaRPr b="0" i="0" sz="2382" u="none" cap="none" strike="noStrike">
                <a:solidFill>
                  <a:schemeClr val="dk1"/>
                </a:solidFill>
                <a:latin typeface="Calibri"/>
                <a:ea typeface="Calibri"/>
                <a:cs typeface="Calibri"/>
                <a:sym typeface="Calibri"/>
              </a:endParaRPr>
            </a:p>
          </p:txBody>
        </p:sp>
      </p:grpSp>
      <p:grpSp>
        <p:nvGrpSpPr>
          <p:cNvPr id="60" name="Google Shape;60;p6"/>
          <p:cNvGrpSpPr/>
          <p:nvPr/>
        </p:nvGrpSpPr>
        <p:grpSpPr>
          <a:xfrm>
            <a:off x="4620307" y="4152494"/>
            <a:ext cx="5775600" cy="533700"/>
            <a:chOff x="4620307" y="3975798"/>
            <a:chExt cx="5775600" cy="533700"/>
          </a:xfrm>
        </p:grpSpPr>
        <p:sp>
          <p:nvSpPr>
            <p:cNvPr id="61" name="Google Shape;61;p6"/>
            <p:cNvSpPr/>
            <p:nvPr/>
          </p:nvSpPr>
          <p:spPr>
            <a:xfrm>
              <a:off x="5277775" y="4036100"/>
              <a:ext cx="4379100" cy="4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 name="Google Shape;62;p6"/>
            <p:cNvSpPr txBox="1"/>
            <p:nvPr/>
          </p:nvSpPr>
          <p:spPr>
            <a:xfrm>
              <a:off x="4620307" y="3975798"/>
              <a:ext cx="5775600" cy="533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982"/>
                <a:buFont typeface="Arial"/>
                <a:buNone/>
              </a:pPr>
              <a:r>
                <a:rPr b="1" lang="en-US" sz="2382">
                  <a:solidFill>
                    <a:schemeClr val="dk1"/>
                  </a:solidFill>
                </a:rPr>
                <a:t>Move out is Three Days Away</a:t>
              </a:r>
              <a:endParaRPr b="0" i="0" sz="2382" u="none" cap="none" strike="noStrike">
                <a:solidFill>
                  <a:schemeClr val="dk1"/>
                </a:solidFill>
                <a:latin typeface="Calibri"/>
                <a:ea typeface="Calibri"/>
                <a:cs typeface="Calibri"/>
                <a:sym typeface="Calibri"/>
              </a:endParaRPr>
            </a:p>
          </p:txBody>
        </p:sp>
      </p:grpSp>
      <p:sp>
        <p:nvSpPr>
          <p:cNvPr id="63" name="Google Shape;63;p6"/>
          <p:cNvSpPr txBox="1"/>
          <p:nvPr/>
        </p:nvSpPr>
        <p:spPr>
          <a:xfrm>
            <a:off x="3250268" y="4713577"/>
            <a:ext cx="9120000" cy="300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500"/>
              <a:buFont typeface="Calibri"/>
              <a:buNone/>
            </a:pPr>
            <a:r>
              <a:rPr lang="en-US" sz="1900">
                <a:solidFill>
                  <a:schemeClr val="dk1"/>
                </a:solidFill>
                <a:latin typeface="Calibri"/>
                <a:ea typeface="Calibri"/>
                <a:cs typeface="Calibri"/>
                <a:sym typeface="Calibri"/>
              </a:rPr>
              <a:t>No luck selling his items at asking price on public marketplaces or student group chats</a:t>
            </a:r>
            <a:endParaRPr sz="1900">
              <a:solidFill>
                <a:schemeClr val="dk1"/>
              </a:solidFill>
              <a:latin typeface="Calibri"/>
              <a:ea typeface="Calibri"/>
              <a:cs typeface="Calibri"/>
              <a:sym typeface="Calibri"/>
            </a:endParaRPr>
          </a:p>
          <a:p>
            <a:pPr indent="0" lvl="0" marL="0" marR="0" rtl="0" algn="ctr">
              <a:spcBef>
                <a:spcPts val="0"/>
              </a:spcBef>
              <a:spcAft>
                <a:spcPts val="0"/>
              </a:spcAft>
              <a:buClr>
                <a:schemeClr val="dk1"/>
              </a:buClr>
              <a:buSzPts val="1500"/>
              <a:buFont typeface="Calibri"/>
              <a:buNone/>
            </a:pPr>
            <a:r>
              <a:t/>
            </a:r>
            <a:endParaRPr sz="1900">
              <a:solidFill>
                <a:schemeClr val="dk1"/>
              </a:solidFill>
              <a:latin typeface="Calibri"/>
              <a:ea typeface="Calibri"/>
              <a:cs typeface="Calibri"/>
              <a:sym typeface="Calibri"/>
            </a:endParaRPr>
          </a:p>
        </p:txBody>
      </p:sp>
      <p:sp>
        <p:nvSpPr>
          <p:cNvPr id="64" name="Google Shape;64;p6"/>
          <p:cNvSpPr txBox="1"/>
          <p:nvPr/>
        </p:nvSpPr>
        <p:spPr>
          <a:xfrm>
            <a:off x="3250247" y="5041295"/>
            <a:ext cx="9120000" cy="300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500"/>
              <a:buFont typeface="Calibri"/>
              <a:buNone/>
            </a:pPr>
            <a:r>
              <a:rPr lang="en-US" sz="1900">
                <a:solidFill>
                  <a:schemeClr val="dk1"/>
                </a:solidFill>
                <a:latin typeface="Calibri"/>
                <a:ea typeface="Calibri"/>
                <a:cs typeface="Calibri"/>
                <a:sym typeface="Calibri"/>
              </a:rPr>
              <a:t>He is now </a:t>
            </a:r>
            <a:r>
              <a:rPr b="1" lang="en-US" sz="1900">
                <a:solidFill>
                  <a:schemeClr val="dk1"/>
                </a:solidFill>
                <a:latin typeface="Calibri"/>
                <a:ea typeface="Calibri"/>
                <a:cs typeface="Calibri"/>
                <a:sym typeface="Calibri"/>
              </a:rPr>
              <a:t>considering paying a junk company to throw out his furniture</a:t>
            </a:r>
            <a:r>
              <a:rPr lang="en-US" sz="1900">
                <a:solidFill>
                  <a:schemeClr val="dk1"/>
                </a:solidFill>
                <a:latin typeface="Calibri"/>
                <a:ea typeface="Calibri"/>
                <a:cs typeface="Calibri"/>
                <a:sym typeface="Calibri"/>
              </a:rPr>
              <a:t> </a:t>
            </a:r>
            <a:endParaRPr sz="1900">
              <a:solidFill>
                <a:schemeClr val="dk1"/>
              </a:solidFill>
              <a:latin typeface="Calibri"/>
              <a:ea typeface="Calibri"/>
              <a:cs typeface="Calibri"/>
              <a:sym typeface="Calibri"/>
            </a:endParaRPr>
          </a:p>
        </p:txBody>
      </p:sp>
      <p:sp>
        <p:nvSpPr>
          <p:cNvPr id="65" name="Google Shape;65;p6"/>
          <p:cNvSpPr/>
          <p:nvPr/>
        </p:nvSpPr>
        <p:spPr>
          <a:xfrm>
            <a:off x="1693850" y="5628925"/>
            <a:ext cx="9943200" cy="877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 name="Google Shape;66;p6"/>
          <p:cNvSpPr txBox="1"/>
          <p:nvPr/>
        </p:nvSpPr>
        <p:spPr>
          <a:xfrm>
            <a:off x="2482439" y="5784770"/>
            <a:ext cx="8424600" cy="533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982"/>
              <a:buFont typeface="Arial"/>
              <a:buNone/>
            </a:pPr>
            <a:r>
              <a:rPr b="1" lang="en-US" sz="2382">
                <a:solidFill>
                  <a:srgbClr val="FF0000"/>
                </a:solidFill>
              </a:rPr>
              <a:t>But a Friend Mentions a Service That Will </a:t>
            </a:r>
            <a:endParaRPr b="1" sz="2382">
              <a:solidFill>
                <a:srgbClr val="FF0000"/>
              </a:solidFill>
            </a:endParaRPr>
          </a:p>
          <a:p>
            <a:pPr indent="0" lvl="0" marL="0" marR="0" rtl="0" algn="ctr">
              <a:spcBef>
                <a:spcPts val="0"/>
              </a:spcBef>
              <a:spcAft>
                <a:spcPts val="0"/>
              </a:spcAft>
              <a:buClr>
                <a:schemeClr val="lt1"/>
              </a:buClr>
              <a:buSzPts val="2982"/>
              <a:buFont typeface="Arial"/>
              <a:buNone/>
            </a:pPr>
            <a:r>
              <a:rPr b="1" lang="en-US" sz="2382" u="sng">
                <a:solidFill>
                  <a:srgbClr val="FF0000"/>
                </a:solidFill>
              </a:rPr>
              <a:t>Buy His Furniture on the Spot and Resell It in the Fall</a:t>
            </a:r>
            <a:endParaRPr b="0" i="0" sz="2382" u="sng" cap="none" strike="noStrike">
              <a:solidFill>
                <a:srgbClr val="FF0000"/>
              </a:solidFill>
              <a:latin typeface="Calibri"/>
              <a:ea typeface="Calibri"/>
              <a:cs typeface="Calibri"/>
              <a:sym typeface="Calibri"/>
            </a:endParaRPr>
          </a:p>
        </p:txBody>
      </p:sp>
      <p:sp>
        <p:nvSpPr>
          <p:cNvPr id="67" name="Google Shape;67;p6"/>
          <p:cNvSpPr/>
          <p:nvPr/>
        </p:nvSpPr>
        <p:spPr>
          <a:xfrm>
            <a:off x="2716358" y="1517221"/>
            <a:ext cx="645600" cy="258300"/>
          </a:xfrm>
          <a:prstGeom prst="right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6"/>
          <p:cNvSpPr/>
          <p:nvPr/>
        </p:nvSpPr>
        <p:spPr>
          <a:xfrm>
            <a:off x="2788366" y="3169258"/>
            <a:ext cx="645600" cy="258300"/>
          </a:xfrm>
          <a:prstGeom prst="right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 name="Google Shape;69;p6"/>
          <p:cNvSpPr/>
          <p:nvPr/>
        </p:nvSpPr>
        <p:spPr>
          <a:xfrm>
            <a:off x="2798695" y="4318971"/>
            <a:ext cx="645600" cy="258300"/>
          </a:xfrm>
          <a:prstGeom prst="right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 name="Google Shape;70;p6"/>
          <p:cNvSpPr/>
          <p:nvPr/>
        </p:nvSpPr>
        <p:spPr>
          <a:xfrm>
            <a:off x="6227158" y="438322"/>
            <a:ext cx="645600" cy="258300"/>
          </a:xfrm>
          <a:prstGeom prst="right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1" name="Google Shape;71;p6"/>
          <p:cNvPicPr preferRelativeResize="0"/>
          <p:nvPr/>
        </p:nvPicPr>
        <p:blipFill rotWithShape="1">
          <a:blip r:embed="rId3">
            <a:alphaModFix/>
          </a:blip>
          <a:srcRect b="18679" l="10044" r="6182" t="9999"/>
          <a:stretch/>
        </p:blipFill>
        <p:spPr>
          <a:xfrm>
            <a:off x="7293225" y="53300"/>
            <a:ext cx="1217626" cy="1256200"/>
          </a:xfrm>
          <a:prstGeom prst="rect">
            <a:avLst/>
          </a:prstGeom>
          <a:noFill/>
          <a:ln>
            <a:noFill/>
          </a:ln>
        </p:spPr>
      </p:pic>
      <p:pic>
        <p:nvPicPr>
          <p:cNvPr id="72" name="Google Shape;72;p6"/>
          <p:cNvPicPr preferRelativeResize="0"/>
          <p:nvPr/>
        </p:nvPicPr>
        <p:blipFill rotWithShape="1">
          <a:blip r:embed="rId4">
            <a:alphaModFix/>
          </a:blip>
          <a:srcRect b="0" l="55992" r="0" t="23383"/>
          <a:stretch/>
        </p:blipFill>
        <p:spPr>
          <a:xfrm>
            <a:off x="9053242" y="53300"/>
            <a:ext cx="1081357" cy="1256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7"/>
          <p:cNvSpPr txBox="1"/>
          <p:nvPr>
            <p:ph type="title"/>
          </p:nvPr>
        </p:nvSpPr>
        <p:spPr>
          <a:xfrm>
            <a:off x="548640" y="320040"/>
            <a:ext cx="11094415" cy="77724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3000"/>
              <a:buFont typeface="Arial"/>
              <a:buNone/>
            </a:pPr>
            <a:r>
              <a:rPr lang="en-US"/>
              <a:t>RELAY</a:t>
            </a:r>
            <a:r>
              <a:rPr b="1" lang="en-US" sz="3000">
                <a:solidFill>
                  <a:schemeClr val="dk2"/>
                </a:solidFill>
                <a:latin typeface="Arial"/>
                <a:ea typeface="Arial"/>
                <a:cs typeface="Arial"/>
                <a:sym typeface="Arial"/>
              </a:rPr>
              <a:t>: a </a:t>
            </a:r>
            <a:r>
              <a:rPr lang="en-US"/>
              <a:t>F</a:t>
            </a:r>
            <a:r>
              <a:rPr b="1" lang="en-US" sz="3000">
                <a:solidFill>
                  <a:schemeClr val="dk2"/>
                </a:solidFill>
                <a:latin typeface="Arial"/>
                <a:ea typeface="Arial"/>
                <a:cs typeface="Arial"/>
                <a:sym typeface="Arial"/>
              </a:rPr>
              <a:t>ull-</a:t>
            </a:r>
            <a:r>
              <a:rPr lang="en-US"/>
              <a:t>S</a:t>
            </a:r>
            <a:r>
              <a:rPr b="1" lang="en-US" sz="3000">
                <a:solidFill>
                  <a:schemeClr val="dk2"/>
                </a:solidFill>
                <a:latin typeface="Arial"/>
                <a:ea typeface="Arial"/>
                <a:cs typeface="Arial"/>
                <a:sym typeface="Arial"/>
              </a:rPr>
              <a:t>tack </a:t>
            </a:r>
            <a:r>
              <a:rPr lang="en-US"/>
              <a:t>F</a:t>
            </a:r>
            <a:r>
              <a:rPr b="1" lang="en-US" sz="3000">
                <a:solidFill>
                  <a:schemeClr val="dk2"/>
                </a:solidFill>
                <a:latin typeface="Arial"/>
                <a:ea typeface="Arial"/>
                <a:cs typeface="Arial"/>
                <a:sym typeface="Arial"/>
              </a:rPr>
              <a:t>urniture </a:t>
            </a:r>
            <a:r>
              <a:rPr lang="en-US"/>
              <a:t>M</a:t>
            </a:r>
            <a:r>
              <a:rPr b="1" lang="en-US" sz="3000">
                <a:solidFill>
                  <a:schemeClr val="dk2"/>
                </a:solidFill>
                <a:latin typeface="Arial"/>
                <a:ea typeface="Arial"/>
                <a:cs typeface="Arial"/>
                <a:sym typeface="Arial"/>
              </a:rPr>
              <a:t>arketplace</a:t>
            </a:r>
            <a:endParaRPr sz="3000"/>
          </a:p>
        </p:txBody>
      </p:sp>
      <p:sp>
        <p:nvSpPr>
          <p:cNvPr id="79" name="Google Shape;79;p7"/>
          <p:cNvSpPr/>
          <p:nvPr/>
        </p:nvSpPr>
        <p:spPr>
          <a:xfrm>
            <a:off x="548640" y="1417320"/>
            <a:ext cx="2194560" cy="4343400"/>
          </a:xfrm>
          <a:prstGeom prst="roundRect">
            <a:avLst>
              <a:gd fmla="val 125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7"/>
          <p:cNvSpPr/>
          <p:nvPr/>
        </p:nvSpPr>
        <p:spPr>
          <a:xfrm>
            <a:off x="658368" y="1691640"/>
            <a:ext cx="1975104" cy="3840480"/>
          </a:xfrm>
          <a:prstGeom prst="roundRect">
            <a:avLst>
              <a:gd fmla="val 8333"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7"/>
          <p:cNvSpPr txBox="1"/>
          <p:nvPr/>
        </p:nvSpPr>
        <p:spPr>
          <a:xfrm>
            <a:off x="822960" y="1856232"/>
            <a:ext cx="164592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chemeClr val="accent1"/>
                </a:solidFill>
                <a:latin typeface="Calibri"/>
                <a:ea typeface="Calibri"/>
                <a:cs typeface="Calibri"/>
                <a:sym typeface="Calibri"/>
              </a:rPr>
              <a:t>SELL</a:t>
            </a:r>
            <a:endParaRPr b="0" i="0" sz="1100" u="none" cap="none" strike="noStrike">
              <a:solidFill>
                <a:schemeClr val="dk1"/>
              </a:solidFill>
              <a:latin typeface="Calibri"/>
              <a:ea typeface="Calibri"/>
              <a:cs typeface="Calibri"/>
              <a:sym typeface="Calibri"/>
            </a:endParaRPr>
          </a:p>
        </p:txBody>
      </p:sp>
      <p:sp>
        <p:nvSpPr>
          <p:cNvPr id="82" name="Google Shape;82;p7"/>
          <p:cNvSpPr txBox="1"/>
          <p:nvPr/>
        </p:nvSpPr>
        <p:spPr>
          <a:xfrm>
            <a:off x="822960" y="2103120"/>
            <a:ext cx="16459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Arial"/>
              <a:buNone/>
            </a:pPr>
            <a:r>
              <a:rPr b="1" i="0" lang="en-US" sz="1500" u="none" cap="none" strike="noStrike">
                <a:solidFill>
                  <a:schemeClr val="dk1"/>
                </a:solidFill>
                <a:latin typeface="Arial"/>
                <a:ea typeface="Arial"/>
                <a:cs typeface="Arial"/>
                <a:sym typeface="Arial"/>
              </a:rPr>
              <a:t>Your desk</a:t>
            </a:r>
            <a:endParaRPr b="0" i="0" sz="1500" u="none" cap="none" strike="noStrike">
              <a:solidFill>
                <a:schemeClr val="dk1"/>
              </a:solidFill>
              <a:latin typeface="Calibri"/>
              <a:ea typeface="Calibri"/>
              <a:cs typeface="Calibri"/>
              <a:sym typeface="Calibri"/>
            </a:endParaRPr>
          </a:p>
        </p:txBody>
      </p:sp>
      <p:sp>
        <p:nvSpPr>
          <p:cNvPr id="83" name="Google Shape;83;p7"/>
          <p:cNvSpPr/>
          <p:nvPr/>
        </p:nvSpPr>
        <p:spPr>
          <a:xfrm>
            <a:off x="822960" y="2514600"/>
            <a:ext cx="1645920" cy="1051560"/>
          </a:xfrm>
          <a:prstGeom prst="roundRect">
            <a:avLst>
              <a:gd fmla="val 10435"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4" name="Google Shape;84;p7"/>
          <p:cNvPicPr preferRelativeResize="0"/>
          <p:nvPr/>
        </p:nvPicPr>
        <p:blipFill rotWithShape="1">
          <a:blip r:embed="rId3">
            <a:alphaModFix/>
          </a:blip>
          <a:srcRect b="0" l="0" r="0" t="0"/>
          <a:stretch/>
        </p:blipFill>
        <p:spPr>
          <a:xfrm>
            <a:off x="1371600" y="2761488"/>
            <a:ext cx="548640" cy="548640"/>
          </a:xfrm>
          <a:prstGeom prst="rect">
            <a:avLst/>
          </a:prstGeom>
          <a:noFill/>
          <a:ln>
            <a:noFill/>
          </a:ln>
        </p:spPr>
      </p:pic>
      <p:sp>
        <p:nvSpPr>
          <p:cNvPr id="85" name="Google Shape;85;p7"/>
          <p:cNvSpPr txBox="1"/>
          <p:nvPr/>
        </p:nvSpPr>
        <p:spPr>
          <a:xfrm>
            <a:off x="822960" y="3703320"/>
            <a:ext cx="164592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100"/>
              <a:buFont typeface="Calibri"/>
              <a:buNone/>
            </a:pPr>
            <a:r>
              <a:rPr b="0" i="0" lang="en-US" sz="1100" u="none" cap="none" strike="noStrike">
                <a:solidFill>
                  <a:schemeClr val="accent6"/>
                </a:solidFill>
                <a:latin typeface="Calibri"/>
                <a:ea typeface="Calibri"/>
                <a:cs typeface="Calibri"/>
                <a:sym typeface="Calibri"/>
              </a:rPr>
              <a:t>Instant offer</a:t>
            </a:r>
            <a:endParaRPr b="0" i="0" sz="1100" u="none" cap="none" strike="noStrike">
              <a:solidFill>
                <a:schemeClr val="dk1"/>
              </a:solidFill>
              <a:latin typeface="Calibri"/>
              <a:ea typeface="Calibri"/>
              <a:cs typeface="Calibri"/>
              <a:sym typeface="Calibri"/>
            </a:endParaRPr>
          </a:p>
        </p:txBody>
      </p:sp>
      <p:sp>
        <p:nvSpPr>
          <p:cNvPr id="86" name="Google Shape;86;p7"/>
          <p:cNvSpPr txBox="1"/>
          <p:nvPr/>
        </p:nvSpPr>
        <p:spPr>
          <a:xfrm>
            <a:off x="822960" y="3913632"/>
            <a:ext cx="16459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600"/>
              <a:buFont typeface="Arial"/>
              <a:buNone/>
            </a:pPr>
            <a:r>
              <a:rPr b="1" i="0" lang="en-US" sz="2600" u="none" cap="none" strike="noStrike">
                <a:solidFill>
                  <a:schemeClr val="accent1"/>
                </a:solidFill>
                <a:latin typeface="Arial"/>
                <a:ea typeface="Arial"/>
                <a:cs typeface="Arial"/>
                <a:sym typeface="Arial"/>
              </a:rPr>
              <a:t>$40</a:t>
            </a:r>
            <a:endParaRPr b="0" i="0" sz="2600" u="none" cap="none" strike="noStrike">
              <a:solidFill>
                <a:schemeClr val="dk1"/>
              </a:solidFill>
              <a:latin typeface="Calibri"/>
              <a:ea typeface="Calibri"/>
              <a:cs typeface="Calibri"/>
              <a:sym typeface="Calibri"/>
            </a:endParaRPr>
          </a:p>
        </p:txBody>
      </p:sp>
      <p:sp>
        <p:nvSpPr>
          <p:cNvPr id="87" name="Google Shape;87;p7"/>
          <p:cNvSpPr txBox="1"/>
          <p:nvPr/>
        </p:nvSpPr>
        <p:spPr>
          <a:xfrm>
            <a:off x="822960" y="4416552"/>
            <a:ext cx="16459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0" i="0" lang="en-US" sz="1100" u="none" cap="none" strike="noStrike">
                <a:solidFill>
                  <a:schemeClr val="accent2"/>
                </a:solidFill>
                <a:latin typeface="Calibri"/>
                <a:ea typeface="Calibri"/>
                <a:cs typeface="Calibri"/>
                <a:sym typeface="Calibri"/>
              </a:rPr>
              <a:t>✓ We'll take this item</a:t>
            </a:r>
            <a:endParaRPr b="0" i="0" sz="1100" u="none" cap="none" strike="noStrike">
              <a:solidFill>
                <a:schemeClr val="dk1"/>
              </a:solidFill>
              <a:latin typeface="Calibri"/>
              <a:ea typeface="Calibri"/>
              <a:cs typeface="Calibri"/>
              <a:sym typeface="Calibri"/>
            </a:endParaRPr>
          </a:p>
        </p:txBody>
      </p:sp>
      <p:sp>
        <p:nvSpPr>
          <p:cNvPr id="88" name="Google Shape;88;p7"/>
          <p:cNvSpPr/>
          <p:nvPr/>
        </p:nvSpPr>
        <p:spPr>
          <a:xfrm>
            <a:off x="822960" y="4892040"/>
            <a:ext cx="1645920" cy="411480"/>
          </a:xfrm>
          <a:prstGeom prst="roundRect">
            <a:avLst>
              <a:gd fmla="val 2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7"/>
          <p:cNvSpPr txBox="1"/>
          <p:nvPr/>
        </p:nvSpPr>
        <p:spPr>
          <a:xfrm>
            <a:off x="822960" y="4892040"/>
            <a:ext cx="16459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Book pickup · May 29</a:t>
            </a:r>
            <a:endParaRPr b="0" i="0" sz="1200" u="none" cap="none" strike="noStrike">
              <a:solidFill>
                <a:schemeClr val="dk1"/>
              </a:solidFill>
              <a:latin typeface="Calibri"/>
              <a:ea typeface="Calibri"/>
              <a:cs typeface="Calibri"/>
              <a:sym typeface="Calibri"/>
            </a:endParaRPr>
          </a:p>
        </p:txBody>
      </p:sp>
      <p:sp>
        <p:nvSpPr>
          <p:cNvPr id="90" name="Google Shape;90;p7"/>
          <p:cNvSpPr/>
          <p:nvPr/>
        </p:nvSpPr>
        <p:spPr>
          <a:xfrm>
            <a:off x="3017520" y="1417320"/>
            <a:ext cx="2194560" cy="4343400"/>
          </a:xfrm>
          <a:prstGeom prst="roundRect">
            <a:avLst>
              <a:gd fmla="val 125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p:nvPr/>
        </p:nvSpPr>
        <p:spPr>
          <a:xfrm>
            <a:off x="3127248" y="1691640"/>
            <a:ext cx="1975104" cy="3840480"/>
          </a:xfrm>
          <a:prstGeom prst="roundRect">
            <a:avLst>
              <a:gd fmla="val 8333"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txBox="1"/>
          <p:nvPr/>
        </p:nvSpPr>
        <p:spPr>
          <a:xfrm>
            <a:off x="3291840" y="1856232"/>
            <a:ext cx="164592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1" i="0" lang="en-US" sz="1100" u="none" cap="none" strike="noStrike">
                <a:solidFill>
                  <a:schemeClr val="accent2"/>
                </a:solidFill>
                <a:latin typeface="Calibri"/>
                <a:ea typeface="Calibri"/>
                <a:cs typeface="Calibri"/>
                <a:sym typeface="Calibri"/>
              </a:rPr>
              <a:t>SHOP · .EDU VERIFIED</a:t>
            </a:r>
            <a:endParaRPr b="0" i="0" sz="1100" u="none" cap="none" strike="noStrike">
              <a:solidFill>
                <a:schemeClr val="dk1"/>
              </a:solidFill>
              <a:latin typeface="Calibri"/>
              <a:ea typeface="Calibri"/>
              <a:cs typeface="Calibri"/>
              <a:sym typeface="Calibri"/>
            </a:endParaRPr>
          </a:p>
        </p:txBody>
      </p:sp>
      <p:sp>
        <p:nvSpPr>
          <p:cNvPr id="93" name="Google Shape;93;p7"/>
          <p:cNvSpPr txBox="1"/>
          <p:nvPr/>
        </p:nvSpPr>
        <p:spPr>
          <a:xfrm>
            <a:off x="3291840" y="2103120"/>
            <a:ext cx="16459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Arial"/>
              <a:buNone/>
            </a:pPr>
            <a:r>
              <a:rPr b="1" i="0" lang="en-US" sz="1500" u="none" cap="none" strike="noStrike">
                <a:solidFill>
                  <a:schemeClr val="dk1"/>
                </a:solidFill>
                <a:latin typeface="Arial"/>
                <a:ea typeface="Arial"/>
                <a:cs typeface="Arial"/>
                <a:sym typeface="Arial"/>
              </a:rPr>
              <a:t>Desk · inspected</a:t>
            </a:r>
            <a:endParaRPr b="0" i="0" sz="1500" u="none" cap="none" strike="noStrike">
              <a:solidFill>
                <a:schemeClr val="dk1"/>
              </a:solidFill>
              <a:latin typeface="Calibri"/>
              <a:ea typeface="Calibri"/>
              <a:cs typeface="Calibri"/>
              <a:sym typeface="Calibri"/>
            </a:endParaRPr>
          </a:p>
        </p:txBody>
      </p:sp>
      <p:sp>
        <p:nvSpPr>
          <p:cNvPr id="94" name="Google Shape;94;p7"/>
          <p:cNvSpPr/>
          <p:nvPr/>
        </p:nvSpPr>
        <p:spPr>
          <a:xfrm>
            <a:off x="3291840" y="2514600"/>
            <a:ext cx="1645920" cy="1051560"/>
          </a:xfrm>
          <a:prstGeom prst="roundRect">
            <a:avLst>
              <a:gd fmla="val 10435"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5" name="Google Shape;95;p7"/>
          <p:cNvPicPr preferRelativeResize="0"/>
          <p:nvPr/>
        </p:nvPicPr>
        <p:blipFill rotWithShape="1">
          <a:blip r:embed="rId4">
            <a:alphaModFix/>
          </a:blip>
          <a:srcRect b="0" l="0" r="0" t="0"/>
          <a:stretch/>
        </p:blipFill>
        <p:spPr>
          <a:xfrm>
            <a:off x="3840480" y="2761488"/>
            <a:ext cx="548640" cy="548640"/>
          </a:xfrm>
          <a:prstGeom prst="rect">
            <a:avLst/>
          </a:prstGeom>
          <a:noFill/>
          <a:ln>
            <a:noFill/>
          </a:ln>
        </p:spPr>
      </p:pic>
      <p:sp>
        <p:nvSpPr>
          <p:cNvPr id="96" name="Google Shape;96;p7"/>
          <p:cNvSpPr txBox="1"/>
          <p:nvPr/>
        </p:nvSpPr>
        <p:spPr>
          <a:xfrm>
            <a:off x="3291840" y="3703320"/>
            <a:ext cx="164592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100"/>
              <a:buFont typeface="Calibri"/>
              <a:buNone/>
            </a:pPr>
            <a:r>
              <a:rPr b="0" i="0" lang="en-US" sz="1100" u="none" cap="none" strike="noStrike">
                <a:solidFill>
                  <a:schemeClr val="accent6"/>
                </a:solidFill>
                <a:latin typeface="Calibri"/>
                <a:ea typeface="Calibri"/>
                <a:cs typeface="Calibri"/>
                <a:sym typeface="Calibri"/>
              </a:rPr>
              <a:t>Delivered price</a:t>
            </a:r>
            <a:endParaRPr b="0" i="0" sz="1100" u="none" cap="none" strike="noStrike">
              <a:solidFill>
                <a:schemeClr val="dk1"/>
              </a:solidFill>
              <a:latin typeface="Calibri"/>
              <a:ea typeface="Calibri"/>
              <a:cs typeface="Calibri"/>
              <a:sym typeface="Calibri"/>
            </a:endParaRPr>
          </a:p>
        </p:txBody>
      </p:sp>
      <p:sp>
        <p:nvSpPr>
          <p:cNvPr id="97" name="Google Shape;97;p7"/>
          <p:cNvSpPr txBox="1"/>
          <p:nvPr/>
        </p:nvSpPr>
        <p:spPr>
          <a:xfrm>
            <a:off x="3291840" y="3913632"/>
            <a:ext cx="16459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2600"/>
              <a:buFont typeface="Arial"/>
              <a:buNone/>
            </a:pPr>
            <a:r>
              <a:rPr b="1" i="0" lang="en-US" sz="2600" u="none" cap="none" strike="noStrike">
                <a:solidFill>
                  <a:schemeClr val="accent2"/>
                </a:solidFill>
                <a:latin typeface="Arial"/>
                <a:ea typeface="Arial"/>
                <a:cs typeface="Arial"/>
                <a:sym typeface="Arial"/>
              </a:rPr>
              <a:t>$80</a:t>
            </a:r>
            <a:endParaRPr b="0" i="0" sz="2600" u="none" cap="none" strike="noStrike">
              <a:solidFill>
                <a:schemeClr val="dk1"/>
              </a:solidFill>
              <a:latin typeface="Calibri"/>
              <a:ea typeface="Calibri"/>
              <a:cs typeface="Calibri"/>
              <a:sym typeface="Calibri"/>
            </a:endParaRPr>
          </a:p>
        </p:txBody>
      </p:sp>
      <p:sp>
        <p:nvSpPr>
          <p:cNvPr id="98" name="Google Shape;98;p7"/>
          <p:cNvSpPr txBox="1"/>
          <p:nvPr/>
        </p:nvSpPr>
        <p:spPr>
          <a:xfrm>
            <a:off x="3291840" y="4416552"/>
            <a:ext cx="16459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0" i="0" lang="en-US" sz="1100" u="none" cap="none" strike="noStrike">
                <a:solidFill>
                  <a:schemeClr val="accent2"/>
                </a:solidFill>
                <a:latin typeface="Calibri"/>
                <a:ea typeface="Calibri"/>
                <a:cs typeface="Calibri"/>
                <a:sym typeface="Calibri"/>
              </a:rPr>
              <a:t>✓ Condition recorded</a:t>
            </a:r>
            <a:endParaRPr b="0" i="0" sz="1100" u="none" cap="none" strike="noStrike">
              <a:solidFill>
                <a:schemeClr val="dk1"/>
              </a:solidFill>
              <a:latin typeface="Calibri"/>
              <a:ea typeface="Calibri"/>
              <a:cs typeface="Calibri"/>
              <a:sym typeface="Calibri"/>
            </a:endParaRPr>
          </a:p>
        </p:txBody>
      </p:sp>
      <p:sp>
        <p:nvSpPr>
          <p:cNvPr id="99" name="Google Shape;99;p7"/>
          <p:cNvSpPr/>
          <p:nvPr/>
        </p:nvSpPr>
        <p:spPr>
          <a:xfrm>
            <a:off x="3291840" y="4892040"/>
            <a:ext cx="1645920" cy="411480"/>
          </a:xfrm>
          <a:prstGeom prst="roundRect">
            <a:avLst>
              <a:gd fmla="val 2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7"/>
          <p:cNvSpPr txBox="1"/>
          <p:nvPr/>
        </p:nvSpPr>
        <p:spPr>
          <a:xfrm>
            <a:off x="3291840" y="4892040"/>
            <a:ext cx="164592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Reserve · Aug 24</a:t>
            </a:r>
            <a:endParaRPr b="0" i="0" sz="1200" u="none" cap="none" strike="noStrike">
              <a:solidFill>
                <a:schemeClr val="dk1"/>
              </a:solidFill>
              <a:latin typeface="Calibri"/>
              <a:ea typeface="Calibri"/>
              <a:cs typeface="Calibri"/>
              <a:sym typeface="Calibri"/>
            </a:endParaRPr>
          </a:p>
        </p:txBody>
      </p:sp>
      <p:sp>
        <p:nvSpPr>
          <p:cNvPr id="101" name="Google Shape;101;p7"/>
          <p:cNvSpPr/>
          <p:nvPr/>
        </p:nvSpPr>
        <p:spPr>
          <a:xfrm>
            <a:off x="5532120" y="1417320"/>
            <a:ext cx="6110935" cy="1325880"/>
          </a:xfrm>
          <a:prstGeom prst="roundRect">
            <a:avLst>
              <a:gd fmla="val 8276"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7"/>
          <p:cNvSpPr txBox="1"/>
          <p:nvPr/>
        </p:nvSpPr>
        <p:spPr>
          <a:xfrm>
            <a:off x="5806440" y="1554480"/>
            <a:ext cx="5562295"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200"/>
              <a:buFont typeface="Calibri"/>
              <a:buNone/>
            </a:pPr>
            <a:r>
              <a:rPr b="1" i="0" lang="en-US" sz="1200" u="none" cap="none" strike="noStrike">
                <a:solidFill>
                  <a:schemeClr val="accent1"/>
                </a:solidFill>
                <a:latin typeface="Calibri"/>
                <a:ea typeface="Calibri"/>
                <a:cs typeface="Calibri"/>
                <a:sym typeface="Calibri"/>
              </a:rPr>
              <a:t>UNIQUE VALUE PROPOSITION</a:t>
            </a:r>
            <a:endParaRPr b="0" i="0" sz="1200" u="none" cap="none" strike="noStrike">
              <a:solidFill>
                <a:schemeClr val="dk1"/>
              </a:solidFill>
              <a:latin typeface="Calibri"/>
              <a:ea typeface="Calibri"/>
              <a:cs typeface="Calibri"/>
              <a:sym typeface="Calibri"/>
            </a:endParaRPr>
          </a:p>
        </p:txBody>
      </p:sp>
      <p:sp>
        <p:nvSpPr>
          <p:cNvPr id="103" name="Google Shape;103;p7"/>
          <p:cNvSpPr txBox="1"/>
          <p:nvPr/>
        </p:nvSpPr>
        <p:spPr>
          <a:xfrm>
            <a:off x="5806440" y="1856232"/>
            <a:ext cx="5562295"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100"/>
              <a:buFont typeface="Arial"/>
              <a:buNone/>
            </a:pPr>
            <a:r>
              <a:rPr b="1" i="0" lang="en-US" sz="2100" u="none" cap="none" strike="noStrike">
                <a:solidFill>
                  <a:schemeClr val="lt1"/>
                </a:solidFill>
                <a:latin typeface="Arial"/>
                <a:ea typeface="Arial"/>
                <a:cs typeface="Arial"/>
                <a:sym typeface="Arial"/>
              </a:rPr>
              <a:t>Sellers: one pickup, paid on the spot.</a:t>
            </a:r>
            <a:endParaRPr b="0" i="0" sz="2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2100"/>
              <a:buFont typeface="Arial"/>
              <a:buNone/>
            </a:pPr>
            <a:r>
              <a:rPr b="1" i="0" lang="en-US" sz="2100" u="none" cap="none" strike="noStrike">
                <a:solidFill>
                  <a:schemeClr val="lt1"/>
                </a:solidFill>
                <a:latin typeface="Arial"/>
                <a:ea typeface="Arial"/>
                <a:cs typeface="Arial"/>
                <a:sym typeface="Arial"/>
              </a:rPr>
              <a:t>Buyers: furnished before you arrive.</a:t>
            </a:r>
            <a:endParaRPr b="0" i="0" sz="2100" u="none" cap="none" strike="noStrike">
              <a:solidFill>
                <a:schemeClr val="dk1"/>
              </a:solidFill>
              <a:latin typeface="Calibri"/>
              <a:ea typeface="Calibri"/>
              <a:cs typeface="Calibri"/>
              <a:sym typeface="Calibri"/>
            </a:endParaRPr>
          </a:p>
        </p:txBody>
      </p:sp>
      <p:sp>
        <p:nvSpPr>
          <p:cNvPr id="104" name="Google Shape;104;p7"/>
          <p:cNvSpPr/>
          <p:nvPr/>
        </p:nvSpPr>
        <p:spPr>
          <a:xfrm>
            <a:off x="5532120" y="2926080"/>
            <a:ext cx="6110935" cy="1234440"/>
          </a:xfrm>
          <a:prstGeom prst="roundRect">
            <a:avLst>
              <a:gd fmla="val 888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7"/>
          <p:cNvSpPr txBox="1"/>
          <p:nvPr/>
        </p:nvSpPr>
        <p:spPr>
          <a:xfrm>
            <a:off x="5806440" y="3044952"/>
            <a:ext cx="5562295"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WHO IT'S FOR</a:t>
            </a:r>
            <a:endParaRPr b="0" i="0" sz="1200" u="none" cap="none" strike="noStrike">
              <a:solidFill>
                <a:schemeClr val="dk1"/>
              </a:solidFill>
              <a:latin typeface="Calibri"/>
              <a:ea typeface="Calibri"/>
              <a:cs typeface="Calibri"/>
              <a:sym typeface="Calibri"/>
            </a:endParaRPr>
          </a:p>
        </p:txBody>
      </p:sp>
      <p:sp>
        <p:nvSpPr>
          <p:cNvPr id="106" name="Google Shape;106;p7"/>
          <p:cNvSpPr txBox="1"/>
          <p:nvPr/>
        </p:nvSpPr>
        <p:spPr>
          <a:xfrm>
            <a:off x="5806440" y="3337560"/>
            <a:ext cx="5562295"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07B1F"/>
              </a:buClr>
              <a:buSzPts val="1500"/>
              <a:buFont typeface="Calibri"/>
              <a:buNone/>
            </a:pPr>
            <a:r>
              <a:rPr b="1" i="0" lang="en-US" sz="1500" u="none" cap="none" strike="noStrike">
                <a:solidFill>
                  <a:srgbClr val="E07B1F"/>
                </a:solidFill>
                <a:latin typeface="Calibri"/>
                <a:ea typeface="Calibri"/>
                <a:cs typeface="Calibri"/>
                <a:sym typeface="Calibri"/>
              </a:rPr>
              <a:t>Sellers: </a:t>
            </a:r>
            <a:r>
              <a:rPr b="0" i="0" lang="en-US" sz="1500" u="none" cap="none" strike="noStrike">
                <a:solidFill>
                  <a:schemeClr val="dk1"/>
                </a:solidFill>
                <a:latin typeface="Calibri"/>
                <a:ea typeface="Calibri"/>
                <a:cs typeface="Calibri"/>
                <a:sym typeface="Calibri"/>
              </a:rPr>
              <a:t>Duke students leaving with no car and days to spare</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8A8A"/>
              </a:buClr>
              <a:buSzPts val="1500"/>
              <a:buFont typeface="Calibri"/>
              <a:buNone/>
            </a:pPr>
            <a:r>
              <a:rPr b="1" i="0" lang="en-US" sz="1500" u="none" cap="none" strike="noStrike">
                <a:solidFill>
                  <a:srgbClr val="1F8A8A"/>
                </a:solidFill>
                <a:latin typeface="Calibri"/>
                <a:ea typeface="Calibri"/>
                <a:cs typeface="Calibri"/>
                <a:sym typeface="Calibri"/>
              </a:rPr>
              <a:t>Buyers: </a:t>
            </a:r>
            <a:r>
              <a:rPr b="0" i="0" lang="en-US" sz="1500" u="none" cap="none" strike="noStrike">
                <a:solidFill>
                  <a:schemeClr val="dk1"/>
                </a:solidFill>
                <a:latin typeface="Calibri"/>
                <a:ea typeface="Calibri"/>
                <a:cs typeface="Calibri"/>
                <a:sym typeface="Calibri"/>
              </a:rPr>
              <a:t>incoming grad students furnishing from out of town</a:t>
            </a:r>
            <a:endParaRPr b="0" i="0" sz="1500" u="none" cap="none" strike="noStrike">
              <a:solidFill>
                <a:schemeClr val="dk1"/>
              </a:solidFill>
              <a:latin typeface="Calibri"/>
              <a:ea typeface="Calibri"/>
              <a:cs typeface="Calibri"/>
              <a:sym typeface="Calibri"/>
            </a:endParaRPr>
          </a:p>
        </p:txBody>
      </p:sp>
      <p:sp>
        <p:nvSpPr>
          <p:cNvPr id="107" name="Google Shape;107;p7"/>
          <p:cNvSpPr/>
          <p:nvPr/>
        </p:nvSpPr>
        <p:spPr>
          <a:xfrm>
            <a:off x="5532120" y="4343400"/>
            <a:ext cx="6110935" cy="1417320"/>
          </a:xfrm>
          <a:prstGeom prst="roundRect">
            <a:avLst>
              <a:gd fmla="val 774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txBox="1"/>
          <p:nvPr/>
        </p:nvSpPr>
        <p:spPr>
          <a:xfrm>
            <a:off x="5806440" y="4462272"/>
            <a:ext cx="5562295"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WHAT RELAY HANDLES</a:t>
            </a:r>
            <a:endParaRPr b="0" i="0" sz="1200" u="none" cap="none" strike="noStrike">
              <a:solidFill>
                <a:schemeClr val="dk1"/>
              </a:solidFill>
              <a:latin typeface="Calibri"/>
              <a:ea typeface="Calibri"/>
              <a:cs typeface="Calibri"/>
              <a:sym typeface="Calibri"/>
            </a:endParaRPr>
          </a:p>
        </p:txBody>
      </p:sp>
      <p:sp>
        <p:nvSpPr>
          <p:cNvPr id="109" name="Google Shape;109;p7"/>
          <p:cNvSpPr txBox="1"/>
          <p:nvPr/>
        </p:nvSpPr>
        <p:spPr>
          <a:xfrm>
            <a:off x="5806440" y="4754880"/>
            <a:ext cx="5562295" cy="96012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AI pricing: offers from photos and comparable listings</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Pickup, summer storage, and delivery through partner haulers</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Only .edu-verified students can buy and sell</a:t>
            </a:r>
            <a:endParaRPr b="0" i="0" sz="1500" u="none" cap="none" strike="noStrike">
              <a:solidFill>
                <a:schemeClr val="dk1"/>
              </a:solidFill>
              <a:latin typeface="Calibri"/>
              <a:ea typeface="Calibri"/>
              <a:cs typeface="Calibri"/>
              <a:sym typeface="Calibri"/>
            </a:endParaRPr>
          </a:p>
        </p:txBody>
      </p:sp>
      <p:sp>
        <p:nvSpPr>
          <p:cNvPr id="110" name="Google Shape;110;p7"/>
          <p:cNvSpPr txBox="1"/>
          <p:nvPr>
            <p:ph idx="4294967295" type="sldNum"/>
          </p:nvPr>
        </p:nvSpPr>
        <p:spPr>
          <a:xfrm>
            <a:off x="11183112" y="640080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7" name="Google Shape;117;p8"/>
          <p:cNvSpPr txBox="1"/>
          <p:nvPr>
            <p:ph type="title"/>
          </p:nvPr>
        </p:nvSpPr>
        <p:spPr>
          <a:xfrm>
            <a:off x="548790" y="320040"/>
            <a:ext cx="11094300" cy="777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3000"/>
              <a:buFont typeface="Arial"/>
              <a:buNone/>
            </a:pPr>
            <a:r>
              <a:rPr b="1" lang="en-US" sz="3000">
                <a:solidFill>
                  <a:schemeClr val="dk2"/>
                </a:solidFill>
                <a:latin typeface="Arial"/>
                <a:ea typeface="Arial"/>
                <a:cs typeface="Arial"/>
                <a:sym typeface="Arial"/>
              </a:rPr>
              <a:t>Why this is necessary</a:t>
            </a:r>
            <a:endParaRPr sz="3000"/>
          </a:p>
        </p:txBody>
      </p:sp>
      <p:sp>
        <p:nvSpPr>
          <p:cNvPr id="118" name="Google Shape;118;p8"/>
          <p:cNvSpPr/>
          <p:nvPr/>
        </p:nvSpPr>
        <p:spPr>
          <a:xfrm>
            <a:off x="548640" y="1463040"/>
            <a:ext cx="2567864" cy="4526280"/>
          </a:xfrm>
          <a:prstGeom prst="roundRect">
            <a:avLst>
              <a:gd fmla="val 427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8"/>
          <p:cNvSpPr/>
          <p:nvPr/>
        </p:nvSpPr>
        <p:spPr>
          <a:xfrm>
            <a:off x="822960" y="1783080"/>
            <a:ext cx="685800" cy="685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0" name="Google Shape;120;p8"/>
          <p:cNvPicPr preferRelativeResize="0"/>
          <p:nvPr/>
        </p:nvPicPr>
        <p:blipFill rotWithShape="1">
          <a:blip r:embed="rId3">
            <a:alphaModFix/>
          </a:blip>
          <a:srcRect b="0" l="0" r="0" t="0"/>
          <a:stretch/>
        </p:blipFill>
        <p:spPr>
          <a:xfrm>
            <a:off x="994410" y="1954530"/>
            <a:ext cx="342900" cy="342900"/>
          </a:xfrm>
          <a:prstGeom prst="rect">
            <a:avLst/>
          </a:prstGeom>
          <a:noFill/>
          <a:ln>
            <a:noFill/>
          </a:ln>
        </p:spPr>
      </p:pic>
      <p:sp>
        <p:nvSpPr>
          <p:cNvPr id="121" name="Google Shape;121;p8"/>
          <p:cNvSpPr txBox="1"/>
          <p:nvPr/>
        </p:nvSpPr>
        <p:spPr>
          <a:xfrm>
            <a:off x="822960" y="2651760"/>
            <a:ext cx="201922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200"/>
              <a:buFont typeface="Calibri"/>
              <a:buNone/>
            </a:pPr>
            <a:r>
              <a:rPr b="1" i="0" lang="en-US" sz="1200" u="none" cap="none" strike="noStrike">
                <a:solidFill>
                  <a:schemeClr val="accent1"/>
                </a:solidFill>
                <a:latin typeface="Calibri"/>
                <a:ea typeface="Calibri"/>
                <a:cs typeface="Calibri"/>
                <a:sym typeface="Calibri"/>
              </a:rPr>
              <a:t>MONEY WASTED</a:t>
            </a:r>
            <a:endParaRPr b="0" i="0" sz="1200" u="none" cap="none" strike="noStrike">
              <a:solidFill>
                <a:schemeClr val="dk1"/>
              </a:solidFill>
              <a:latin typeface="Calibri"/>
              <a:ea typeface="Calibri"/>
              <a:cs typeface="Calibri"/>
              <a:sym typeface="Calibri"/>
            </a:endParaRPr>
          </a:p>
        </p:txBody>
      </p:sp>
      <p:sp>
        <p:nvSpPr>
          <p:cNvPr id="122" name="Google Shape;122;p8"/>
          <p:cNvSpPr txBox="1"/>
          <p:nvPr/>
        </p:nvSpPr>
        <p:spPr>
          <a:xfrm>
            <a:off x="822960" y="2926080"/>
            <a:ext cx="2019224"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4400"/>
              <a:buFont typeface="Arial"/>
              <a:buNone/>
            </a:pPr>
            <a:r>
              <a:rPr b="1" lang="en-US" sz="4400">
                <a:solidFill>
                  <a:schemeClr val="dk2"/>
                </a:solidFill>
              </a:rPr>
              <a:t>3 of 3</a:t>
            </a:r>
            <a:endParaRPr b="0" i="0" sz="4400" u="none" cap="none" strike="noStrike">
              <a:solidFill>
                <a:schemeClr val="dk1"/>
              </a:solidFill>
              <a:latin typeface="Calibri"/>
              <a:ea typeface="Calibri"/>
              <a:cs typeface="Calibri"/>
              <a:sym typeface="Calibri"/>
            </a:endParaRPr>
          </a:p>
        </p:txBody>
      </p:sp>
      <p:sp>
        <p:nvSpPr>
          <p:cNvPr id="123" name="Google Shape;123;p8"/>
          <p:cNvSpPr txBox="1"/>
          <p:nvPr/>
        </p:nvSpPr>
        <p:spPr>
          <a:xfrm>
            <a:off x="822960" y="3840480"/>
            <a:ext cx="2019224"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lang="en-US" sz="1600" b="0">
                <a:solidFill>
                  <a:schemeClr val="dk1"/>
                </a:solidFill>
                <a:latin typeface="Calibri"/>
                <a:ea typeface="Calibri"/>
                <a:cs typeface="Calibri"/>
                <a:sym typeface="Calibri"/>
              </a:rPr>
              <a:t>real sellers we interviewed donated, abandoned, or paid to get rid of furniture they couldn't sell</a:t>
            </a:r>
            <a:endParaRPr b="1" i="0" sz="1600" u="none" cap="none" strike="noStrike">
              <a:solidFill>
                <a:schemeClr val="dk1"/>
              </a:solidFill>
              <a:latin typeface="Calibri"/>
              <a:ea typeface="Calibri"/>
              <a:cs typeface="Calibri"/>
              <a:sym typeface="Calibri"/>
            </a:endParaRPr>
          </a:p>
        </p:txBody>
      </p:sp>
      <p:sp>
        <p:nvSpPr>
          <p:cNvPr id="124" name="Google Shape;124;p8"/>
          <p:cNvSpPr txBox="1"/>
          <p:nvPr/>
        </p:nvSpPr>
        <p:spPr>
          <a:xfrm>
            <a:off x="822960" y="5349240"/>
            <a:ext cx="2019224"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100"/>
              <a:buFont typeface="Calibri"/>
              <a:buNone/>
            </a:pPr>
            <a:r>
              <a:rPr b="0" i="1" lang="en-US" sz="1100" u="none" cap="none" strike="noStrike">
                <a:solidFill>
                  <a:schemeClr val="accent6"/>
                </a:solidFill>
                <a:latin typeface="Calibri"/>
                <a:ea typeface="Calibri"/>
                <a:cs typeface="Calibri"/>
                <a:sym typeface="Calibri"/>
              </a:rPr>
              <a:t>Team 6 customer discovery</a:t>
            </a:r>
            <a:endParaRPr b="0" i="0" sz="1100" u="none" cap="none" strike="noStrike">
              <a:solidFill>
                <a:schemeClr val="dk1"/>
              </a:solidFill>
              <a:latin typeface="Calibri"/>
              <a:ea typeface="Calibri"/>
              <a:cs typeface="Calibri"/>
              <a:sym typeface="Calibri"/>
            </a:endParaRPr>
          </a:p>
        </p:txBody>
      </p:sp>
      <p:sp>
        <p:nvSpPr>
          <p:cNvPr id="125" name="Google Shape;125;p8"/>
          <p:cNvSpPr/>
          <p:nvPr/>
        </p:nvSpPr>
        <p:spPr>
          <a:xfrm>
            <a:off x="3390824" y="1463040"/>
            <a:ext cx="2567864" cy="4526280"/>
          </a:xfrm>
          <a:prstGeom prst="roundRect">
            <a:avLst>
              <a:gd fmla="val 427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
          <p:cNvSpPr/>
          <p:nvPr/>
        </p:nvSpPr>
        <p:spPr>
          <a:xfrm>
            <a:off x="3665144" y="1783080"/>
            <a:ext cx="685800" cy="685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7" name="Google Shape;127;p8"/>
          <p:cNvPicPr preferRelativeResize="0"/>
          <p:nvPr/>
        </p:nvPicPr>
        <p:blipFill rotWithShape="1">
          <a:blip r:embed="rId4">
            <a:alphaModFix/>
          </a:blip>
          <a:srcRect b="0" l="0" r="0" t="0"/>
          <a:stretch/>
        </p:blipFill>
        <p:spPr>
          <a:xfrm>
            <a:off x="3836594" y="1954530"/>
            <a:ext cx="342900" cy="342900"/>
          </a:xfrm>
          <a:prstGeom prst="rect">
            <a:avLst/>
          </a:prstGeom>
          <a:noFill/>
          <a:ln>
            <a:noFill/>
          </a:ln>
        </p:spPr>
      </p:pic>
      <p:sp>
        <p:nvSpPr>
          <p:cNvPr id="128" name="Google Shape;128;p8"/>
          <p:cNvSpPr txBox="1"/>
          <p:nvPr/>
        </p:nvSpPr>
        <p:spPr>
          <a:xfrm>
            <a:off x="3665144" y="2651760"/>
            <a:ext cx="201922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LACK OF CARS</a:t>
            </a:r>
            <a:endParaRPr b="0" i="0" sz="1200" u="none" cap="none" strike="noStrike">
              <a:solidFill>
                <a:schemeClr val="dk1"/>
              </a:solidFill>
              <a:latin typeface="Calibri"/>
              <a:ea typeface="Calibri"/>
              <a:cs typeface="Calibri"/>
              <a:sym typeface="Calibri"/>
            </a:endParaRPr>
          </a:p>
        </p:txBody>
      </p:sp>
      <p:sp>
        <p:nvSpPr>
          <p:cNvPr id="129" name="Google Shape;129;p8"/>
          <p:cNvSpPr txBox="1"/>
          <p:nvPr/>
        </p:nvSpPr>
        <p:spPr>
          <a:xfrm>
            <a:off x="3665144" y="2926080"/>
            <a:ext cx="2019224"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4400"/>
              <a:buFont typeface="Arial"/>
              <a:buNone/>
            </a:pPr>
            <a:r>
              <a:rPr b="1" lang="en-US" sz="4400">
                <a:solidFill>
                  <a:schemeClr val="dk2"/>
                </a:solidFill>
              </a:rPr>
              <a:t>2 of 3</a:t>
            </a:r>
            <a:endParaRPr b="0" i="0" sz="4400" u="none" cap="none" strike="noStrike">
              <a:solidFill>
                <a:schemeClr val="dk1"/>
              </a:solidFill>
              <a:latin typeface="Calibri"/>
              <a:ea typeface="Calibri"/>
              <a:cs typeface="Calibri"/>
              <a:sym typeface="Calibri"/>
            </a:endParaRPr>
          </a:p>
        </p:txBody>
      </p:sp>
      <p:sp>
        <p:nvSpPr>
          <p:cNvPr id="130" name="Google Shape;130;p8"/>
          <p:cNvSpPr txBox="1"/>
          <p:nvPr/>
        </p:nvSpPr>
        <p:spPr>
          <a:xfrm>
            <a:off x="3665144" y="3840480"/>
            <a:ext cx="2019224"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lang="en-US" sz="1600" b="0">
                <a:solidFill>
                  <a:schemeClr val="dk1"/>
                </a:solidFill>
                <a:latin typeface="Calibri"/>
                <a:ea typeface="Calibri"/>
                <a:cs typeface="Calibri"/>
                <a:sym typeface="Calibri"/>
              </a:rPr>
              <a:t>real sellers had no car to move bulky items; our real buyer relied on family and friends</a:t>
            </a:r>
            <a:endParaRPr b="1" i="0" sz="1600" u="none" cap="none" strike="noStrike">
              <a:solidFill>
                <a:schemeClr val="dk1"/>
              </a:solidFill>
              <a:latin typeface="Calibri"/>
              <a:ea typeface="Calibri"/>
              <a:cs typeface="Calibri"/>
              <a:sym typeface="Calibri"/>
            </a:endParaRPr>
          </a:p>
        </p:txBody>
      </p:sp>
      <p:sp>
        <p:nvSpPr>
          <p:cNvPr id="131" name="Google Shape;131;p8"/>
          <p:cNvSpPr txBox="1"/>
          <p:nvPr/>
        </p:nvSpPr>
        <p:spPr>
          <a:xfrm>
            <a:off x="3665144" y="5349240"/>
            <a:ext cx="2019224"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100"/>
              <a:buFont typeface="Calibri"/>
              <a:buNone/>
            </a:pPr>
            <a:r>
              <a:rPr b="0" i="1" lang="en-US" sz="1100" u="none" cap="none" strike="noStrike">
                <a:solidFill>
                  <a:schemeClr val="accent6"/>
                </a:solidFill>
                <a:latin typeface="Calibri"/>
                <a:ea typeface="Calibri"/>
                <a:cs typeface="Calibri"/>
                <a:sym typeface="Calibri"/>
              </a:rPr>
              <a:t>Team 6 customer discovery</a:t>
            </a:r>
            <a:endParaRPr b="0" i="0" sz="1100" u="none" cap="none" strike="noStrike">
              <a:solidFill>
                <a:schemeClr val="dk1"/>
              </a:solidFill>
              <a:latin typeface="Calibri"/>
              <a:ea typeface="Calibri"/>
              <a:cs typeface="Calibri"/>
              <a:sym typeface="Calibri"/>
            </a:endParaRPr>
          </a:p>
        </p:txBody>
      </p:sp>
      <p:sp>
        <p:nvSpPr>
          <p:cNvPr id="132" name="Google Shape;132;p8"/>
          <p:cNvSpPr/>
          <p:nvPr/>
        </p:nvSpPr>
        <p:spPr>
          <a:xfrm>
            <a:off x="6233008" y="1463040"/>
            <a:ext cx="2567864" cy="4526280"/>
          </a:xfrm>
          <a:prstGeom prst="roundRect">
            <a:avLst>
              <a:gd fmla="val 427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
          <p:cNvSpPr/>
          <p:nvPr/>
        </p:nvSpPr>
        <p:spPr>
          <a:xfrm>
            <a:off x="6507328" y="1783080"/>
            <a:ext cx="685800" cy="685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4" name="Google Shape;134;p8"/>
          <p:cNvPicPr preferRelativeResize="0"/>
          <p:nvPr/>
        </p:nvPicPr>
        <p:blipFill rotWithShape="1">
          <a:blip r:embed="rId5">
            <a:alphaModFix/>
          </a:blip>
          <a:srcRect b="0" l="0" r="0" t="0"/>
          <a:stretch/>
        </p:blipFill>
        <p:spPr>
          <a:xfrm>
            <a:off x="6678778" y="1954530"/>
            <a:ext cx="342900" cy="342900"/>
          </a:xfrm>
          <a:prstGeom prst="rect">
            <a:avLst/>
          </a:prstGeom>
          <a:noFill/>
          <a:ln>
            <a:noFill/>
          </a:ln>
        </p:spPr>
      </p:pic>
      <p:sp>
        <p:nvSpPr>
          <p:cNvPr id="135" name="Google Shape;135;p8"/>
          <p:cNvSpPr txBox="1"/>
          <p:nvPr/>
        </p:nvSpPr>
        <p:spPr>
          <a:xfrm>
            <a:off x="6507328" y="2651760"/>
            <a:ext cx="201922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1" i="0" lang="en-US" sz="1200" u="none" cap="none" strike="noStrike">
                <a:solidFill>
                  <a:schemeClr val="dk2"/>
                </a:solidFill>
                <a:latin typeface="Calibri"/>
                <a:ea typeface="Calibri"/>
                <a:cs typeface="Calibri"/>
                <a:sym typeface="Calibri"/>
              </a:rPr>
              <a:t>FURNITURE TOSSED</a:t>
            </a:r>
            <a:endParaRPr b="0" i="0" sz="1200" u="none" cap="none" strike="noStrike">
              <a:solidFill>
                <a:schemeClr val="dk1"/>
              </a:solidFill>
              <a:latin typeface="Calibri"/>
              <a:ea typeface="Calibri"/>
              <a:cs typeface="Calibri"/>
              <a:sym typeface="Calibri"/>
            </a:endParaRPr>
          </a:p>
        </p:txBody>
      </p:sp>
      <p:sp>
        <p:nvSpPr>
          <p:cNvPr id="136" name="Google Shape;136;p8"/>
          <p:cNvSpPr txBox="1"/>
          <p:nvPr/>
        </p:nvSpPr>
        <p:spPr>
          <a:xfrm>
            <a:off x="6507328" y="2926080"/>
            <a:ext cx="2019224"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4400"/>
              <a:buFont typeface="Arial"/>
              <a:buNone/>
            </a:pPr>
            <a:r>
              <a:rPr b="1" i="0" lang="en-US" sz="4400" u="none" cap="none" strike="noStrike">
                <a:solidFill>
                  <a:schemeClr val="dk2"/>
                </a:solidFill>
                <a:latin typeface="Arial"/>
                <a:ea typeface="Arial"/>
                <a:cs typeface="Arial"/>
                <a:sym typeface="Arial"/>
              </a:rPr>
              <a:t>12.1M</a:t>
            </a:r>
            <a:endParaRPr b="0" i="0" sz="4400" u="none" cap="none" strike="noStrike">
              <a:solidFill>
                <a:schemeClr val="dk1"/>
              </a:solidFill>
              <a:latin typeface="Calibri"/>
              <a:ea typeface="Calibri"/>
              <a:cs typeface="Calibri"/>
              <a:sym typeface="Calibri"/>
            </a:endParaRPr>
          </a:p>
        </p:txBody>
      </p:sp>
      <p:sp>
        <p:nvSpPr>
          <p:cNvPr id="137" name="Google Shape;137;p8"/>
          <p:cNvSpPr txBox="1"/>
          <p:nvPr/>
        </p:nvSpPr>
        <p:spPr>
          <a:xfrm>
            <a:off x="6507328" y="3840480"/>
            <a:ext cx="2019224"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tons of US furniture and furnishings discarded in 2018; 80% went to landfill</a:t>
            </a:r>
            <a:endParaRPr b="0" i="0" sz="1600" u="none" cap="none" strike="noStrike">
              <a:solidFill>
                <a:schemeClr val="dk1"/>
              </a:solidFill>
              <a:latin typeface="Calibri"/>
              <a:ea typeface="Calibri"/>
              <a:cs typeface="Calibri"/>
              <a:sym typeface="Calibri"/>
            </a:endParaRPr>
          </a:p>
        </p:txBody>
      </p:sp>
      <p:sp>
        <p:nvSpPr>
          <p:cNvPr id="138" name="Google Shape;138;p8"/>
          <p:cNvSpPr txBox="1"/>
          <p:nvPr/>
        </p:nvSpPr>
        <p:spPr>
          <a:xfrm>
            <a:off x="6507328" y="5349240"/>
            <a:ext cx="2019224"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100"/>
              <a:buFont typeface="Calibri"/>
              <a:buNone/>
            </a:pPr>
            <a:r>
              <a:rPr b="0" i="1" lang="en-US" sz="1100" u="none" cap="none" strike="noStrike">
                <a:solidFill>
                  <a:schemeClr val="accent6"/>
                </a:solidFill>
                <a:latin typeface="Calibri"/>
                <a:ea typeface="Calibri"/>
                <a:cs typeface="Calibri"/>
                <a:sym typeface="Calibri"/>
              </a:rPr>
              <a:t>EPA, Advancing Sustainable Materials Management</a:t>
            </a:r>
            <a:endParaRPr b="0" i="0" sz="1100" u="none" cap="none" strike="noStrike">
              <a:solidFill>
                <a:schemeClr val="dk1"/>
              </a:solidFill>
              <a:latin typeface="Calibri"/>
              <a:ea typeface="Calibri"/>
              <a:cs typeface="Calibri"/>
              <a:sym typeface="Calibri"/>
            </a:endParaRPr>
          </a:p>
        </p:txBody>
      </p:sp>
      <p:sp>
        <p:nvSpPr>
          <p:cNvPr id="139" name="Google Shape;139;p8"/>
          <p:cNvSpPr/>
          <p:nvPr/>
        </p:nvSpPr>
        <p:spPr>
          <a:xfrm>
            <a:off x="9075191" y="1463040"/>
            <a:ext cx="2567864" cy="4526280"/>
          </a:xfrm>
          <a:prstGeom prst="roundRect">
            <a:avLst>
              <a:gd fmla="val 427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9349511" y="1783080"/>
            <a:ext cx="685800" cy="685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1" name="Google Shape;141;p8"/>
          <p:cNvPicPr preferRelativeResize="0"/>
          <p:nvPr/>
        </p:nvPicPr>
        <p:blipFill rotWithShape="1">
          <a:blip r:embed="rId6">
            <a:alphaModFix/>
          </a:blip>
          <a:srcRect b="0" l="0" r="0" t="0"/>
          <a:stretch/>
        </p:blipFill>
        <p:spPr>
          <a:xfrm>
            <a:off x="9520961" y="1954530"/>
            <a:ext cx="342900" cy="342900"/>
          </a:xfrm>
          <a:prstGeom prst="rect">
            <a:avLst/>
          </a:prstGeom>
          <a:noFill/>
          <a:ln>
            <a:noFill/>
          </a:ln>
        </p:spPr>
      </p:pic>
      <p:sp>
        <p:nvSpPr>
          <p:cNvPr id="142" name="Google Shape;142;p8"/>
          <p:cNvSpPr txBox="1"/>
          <p:nvPr/>
        </p:nvSpPr>
        <p:spPr>
          <a:xfrm>
            <a:off x="9349511" y="2651760"/>
            <a:ext cx="2019224"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200"/>
              <a:buFont typeface="Calibri"/>
              <a:buNone/>
            </a:pPr>
            <a:r>
              <a:rPr b="1" i="0" lang="en-US" sz="1200" u="none" cap="none" strike="noStrike">
                <a:solidFill>
                  <a:schemeClr val="accent1"/>
                </a:solidFill>
                <a:latin typeface="Calibri"/>
                <a:ea typeface="Calibri"/>
                <a:cs typeface="Calibri"/>
                <a:sym typeface="Calibri"/>
              </a:rPr>
              <a:t>MOVE-OUT SPIKE</a:t>
            </a:r>
            <a:endParaRPr b="0" i="0" sz="1200" u="none" cap="none" strike="noStrike">
              <a:solidFill>
                <a:schemeClr val="dk1"/>
              </a:solidFill>
              <a:latin typeface="Calibri"/>
              <a:ea typeface="Calibri"/>
              <a:cs typeface="Calibri"/>
              <a:sym typeface="Calibri"/>
            </a:endParaRPr>
          </a:p>
        </p:txBody>
      </p:sp>
      <p:sp>
        <p:nvSpPr>
          <p:cNvPr id="143" name="Google Shape;143;p8"/>
          <p:cNvSpPr txBox="1"/>
          <p:nvPr/>
        </p:nvSpPr>
        <p:spPr>
          <a:xfrm>
            <a:off x="9349511" y="2926080"/>
            <a:ext cx="2019224"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4400"/>
              <a:buFont typeface="Arial"/>
              <a:buNone/>
            </a:pPr>
            <a:r>
              <a:rPr b="1" i="0" lang="en-US" sz="4400" u="none" cap="none" strike="noStrike">
                <a:solidFill>
                  <a:schemeClr val="dk2"/>
                </a:solidFill>
                <a:latin typeface="Arial"/>
                <a:ea typeface="Arial"/>
                <a:cs typeface="Arial"/>
                <a:sym typeface="Arial"/>
              </a:rPr>
              <a:t>4×</a:t>
            </a:r>
            <a:endParaRPr b="0" i="0" sz="4400" u="none" cap="none" strike="noStrike">
              <a:solidFill>
                <a:schemeClr val="dk1"/>
              </a:solidFill>
              <a:latin typeface="Calibri"/>
              <a:ea typeface="Calibri"/>
              <a:cs typeface="Calibri"/>
              <a:sym typeface="Calibri"/>
            </a:endParaRPr>
          </a:p>
        </p:txBody>
      </p:sp>
      <p:sp>
        <p:nvSpPr>
          <p:cNvPr id="144" name="Google Shape;144;p8"/>
          <p:cNvSpPr txBox="1"/>
          <p:nvPr/>
        </p:nvSpPr>
        <p:spPr>
          <a:xfrm>
            <a:off x="9349511" y="3840480"/>
            <a:ext cx="2019224"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jump in UNH's monthly campus waste during May move-out (about 25 → 105 tons)</a:t>
            </a:r>
            <a:endParaRPr b="0" i="0" sz="1600" u="none" cap="none" strike="noStrike">
              <a:solidFill>
                <a:schemeClr val="dk1"/>
              </a:solidFill>
              <a:latin typeface="Calibri"/>
              <a:ea typeface="Calibri"/>
              <a:cs typeface="Calibri"/>
              <a:sym typeface="Calibri"/>
            </a:endParaRPr>
          </a:p>
        </p:txBody>
      </p:sp>
      <p:sp>
        <p:nvSpPr>
          <p:cNvPr id="145" name="Google Shape;145;p8"/>
          <p:cNvSpPr txBox="1"/>
          <p:nvPr/>
        </p:nvSpPr>
        <p:spPr>
          <a:xfrm>
            <a:off x="9349511" y="5349240"/>
            <a:ext cx="2019224"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100"/>
              <a:buFont typeface="Calibri"/>
              <a:buNone/>
            </a:pPr>
            <a:r>
              <a:rPr b="0" i="1" lang="en-US" sz="1100" u="none" cap="none" strike="noStrike">
                <a:solidFill>
                  <a:schemeClr val="accent6"/>
                </a:solidFill>
                <a:latin typeface="Calibri"/>
                <a:ea typeface="Calibri"/>
                <a:cs typeface="Calibri"/>
                <a:sym typeface="Calibri"/>
              </a:rPr>
              <a:t>Resource Recycling, June 2026</a:t>
            </a:r>
            <a:endParaRPr b="0" i="0" sz="1100" u="none" cap="none" strike="noStrike">
              <a:solidFill>
                <a:schemeClr val="dk1"/>
              </a:solidFill>
              <a:latin typeface="Calibri"/>
              <a:ea typeface="Calibri"/>
              <a:cs typeface="Calibri"/>
              <a:sym typeface="Calibri"/>
            </a:endParaRPr>
          </a:p>
        </p:txBody>
      </p:sp>
      <p:sp>
        <p:nvSpPr>
          <p:cNvPr id="146" name="Google Shape;146;p8"/>
          <p:cNvSpPr txBox="1"/>
          <p:nvPr>
            <p:ph idx="4294967295" type="sldNum"/>
          </p:nvPr>
        </p:nvSpPr>
        <p:spPr>
          <a:xfrm>
            <a:off x="11183112" y="640080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9"/>
          <p:cNvSpPr txBox="1"/>
          <p:nvPr>
            <p:ph type="title"/>
          </p:nvPr>
        </p:nvSpPr>
        <p:spPr>
          <a:xfrm>
            <a:off x="548640" y="320040"/>
            <a:ext cx="11094300" cy="777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3000"/>
              <a:buFont typeface="Arial"/>
              <a:buNone/>
            </a:pPr>
            <a:r>
              <a:rPr b="1" lang="en-US" sz="3000">
                <a:solidFill>
                  <a:schemeClr val="dk2"/>
                </a:solidFill>
                <a:latin typeface="Arial"/>
                <a:ea typeface="Arial"/>
                <a:cs typeface="Arial"/>
                <a:sym typeface="Arial"/>
              </a:rPr>
              <a:t>Problem: the May-to-August timing mismatch</a:t>
            </a:r>
            <a:endParaRPr sz="3000"/>
          </a:p>
        </p:txBody>
      </p:sp>
      <p:sp>
        <p:nvSpPr>
          <p:cNvPr id="156" name="Google Shape;156;p9"/>
          <p:cNvSpPr/>
          <p:nvPr/>
        </p:nvSpPr>
        <p:spPr>
          <a:xfrm>
            <a:off x="548650" y="1345200"/>
            <a:ext cx="4716600" cy="1632300"/>
          </a:xfrm>
          <a:prstGeom prst="roundRect">
            <a:avLst>
              <a:gd fmla="val 5455"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9"/>
          <p:cNvSpPr/>
          <p:nvPr/>
        </p:nvSpPr>
        <p:spPr>
          <a:xfrm>
            <a:off x="734062" y="1469077"/>
            <a:ext cx="445200" cy="548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8" name="Google Shape;158;p9"/>
          <p:cNvPicPr preferRelativeResize="0"/>
          <p:nvPr/>
        </p:nvPicPr>
        <p:blipFill rotWithShape="1">
          <a:blip r:embed="rId3">
            <a:alphaModFix/>
          </a:blip>
          <a:srcRect b="0" l="0" r="0" t="0"/>
          <a:stretch/>
        </p:blipFill>
        <p:spPr>
          <a:xfrm>
            <a:off x="845310" y="1606237"/>
            <a:ext cx="222495" cy="274319"/>
          </a:xfrm>
          <a:prstGeom prst="rect">
            <a:avLst/>
          </a:prstGeom>
          <a:noFill/>
          <a:ln>
            <a:noFill/>
          </a:ln>
        </p:spPr>
      </p:pic>
      <p:sp>
        <p:nvSpPr>
          <p:cNvPr id="159" name="Google Shape;159;p9"/>
          <p:cNvSpPr txBox="1"/>
          <p:nvPr/>
        </p:nvSpPr>
        <p:spPr>
          <a:xfrm>
            <a:off x="1290300" y="1469077"/>
            <a:ext cx="34980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900"/>
              <a:buFont typeface="Arial"/>
              <a:buNone/>
            </a:pPr>
            <a:r>
              <a:rPr b="1" i="0" lang="en-US" sz="1900" u="none" cap="none" strike="noStrike">
                <a:solidFill>
                  <a:schemeClr val="dk1"/>
                </a:solidFill>
                <a:latin typeface="Arial"/>
                <a:ea typeface="Arial"/>
                <a:cs typeface="Arial"/>
                <a:sym typeface="Arial"/>
              </a:rPr>
              <a:t>Students moving </a:t>
            </a:r>
            <a:r>
              <a:rPr b="1" i="0" lang="en-US" sz="1900" u="sng" cap="none" strike="noStrike">
                <a:solidFill>
                  <a:schemeClr val="dk1"/>
                </a:solidFill>
                <a:latin typeface="Arial"/>
                <a:ea typeface="Arial"/>
                <a:cs typeface="Arial"/>
                <a:sym typeface="Arial"/>
              </a:rPr>
              <a:t>out</a:t>
            </a:r>
            <a:r>
              <a:rPr b="1" i="0" lang="en-US" sz="1900" u="none" cap="none" strike="noStrike">
                <a:solidFill>
                  <a:schemeClr val="dk1"/>
                </a:solidFill>
                <a:latin typeface="Arial"/>
                <a:ea typeface="Arial"/>
                <a:cs typeface="Arial"/>
                <a:sym typeface="Arial"/>
              </a:rPr>
              <a:t> (May)</a:t>
            </a:r>
            <a:endParaRPr b="0" i="0" sz="1900" u="none" cap="none" strike="noStrike">
              <a:solidFill>
                <a:schemeClr val="dk1"/>
              </a:solidFill>
              <a:latin typeface="Calibri"/>
              <a:ea typeface="Calibri"/>
              <a:cs typeface="Calibri"/>
              <a:sym typeface="Calibri"/>
            </a:endParaRPr>
          </a:p>
        </p:txBody>
      </p:sp>
      <p:sp>
        <p:nvSpPr>
          <p:cNvPr id="160" name="Google Shape;160;p9"/>
          <p:cNvSpPr txBox="1"/>
          <p:nvPr/>
        </p:nvSpPr>
        <p:spPr>
          <a:xfrm>
            <a:off x="637625" y="2100035"/>
            <a:ext cx="4627500" cy="819600"/>
          </a:xfrm>
          <a:prstGeom prst="rect">
            <a:avLst/>
          </a:prstGeom>
          <a:noFill/>
          <a:ln>
            <a:noFill/>
          </a:ln>
        </p:spPr>
        <p:txBody>
          <a:bodyPr anchorCtr="0" anchor="t" bIns="0" lIns="0" spcFirstLastPara="1" rIns="0" wrap="square" tIns="0">
            <a:noAutofit/>
          </a:bodyPr>
          <a:lstStyle/>
          <a:p>
            <a:pPr indent="-209550" lvl="0" marL="203200" marR="0" rtl="0" algn="l">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Finals, graduation, and leases ending</a:t>
            </a:r>
            <a:endParaRPr sz="1600">
              <a:solidFill>
                <a:schemeClr val="dk1"/>
              </a:solidFill>
              <a:latin typeface="Calibri"/>
              <a:ea typeface="Calibri"/>
              <a:cs typeface="Calibri"/>
              <a:sym typeface="Calibri"/>
            </a:endParaRPr>
          </a:p>
          <a:p>
            <a:pPr indent="-209550" lvl="0" marL="203200" marR="0" rtl="0" algn="l">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High Supply Low demand market</a:t>
            </a:r>
            <a:endParaRPr sz="1600">
              <a:solidFill>
                <a:schemeClr val="dk1"/>
              </a:solidFill>
              <a:latin typeface="Calibri"/>
              <a:ea typeface="Calibri"/>
              <a:cs typeface="Calibri"/>
              <a:sym typeface="Calibri"/>
            </a:endParaRPr>
          </a:p>
          <a:p>
            <a:pPr indent="-209550" lvl="0" marL="203200" marR="0" rtl="0" algn="l">
              <a:spcBef>
                <a:spcPts val="0"/>
              </a:spcBef>
              <a:spcAft>
                <a:spcPts val="0"/>
              </a:spcAft>
              <a:buClr>
                <a:schemeClr val="dk1"/>
              </a:buClr>
              <a:buSzPts val="1600"/>
              <a:buFont typeface="Calibri"/>
              <a:buChar char="•"/>
            </a:pPr>
            <a:r>
              <a:rPr lang="en-US" sz="1500">
                <a:solidFill>
                  <a:schemeClr val="dk1"/>
                </a:solidFill>
                <a:latin typeface="Calibri"/>
                <a:ea typeface="Calibri"/>
                <a:cs typeface="Calibri"/>
                <a:sym typeface="Calibri"/>
              </a:rPr>
              <a:t>Local sellers want pickup now, while buyers are still away</a:t>
            </a:r>
            <a:endParaRPr sz="1600">
              <a:solidFill>
                <a:schemeClr val="dk1"/>
              </a:solidFill>
              <a:latin typeface="Calibri"/>
              <a:ea typeface="Calibri"/>
              <a:cs typeface="Calibri"/>
              <a:sym typeface="Calibri"/>
            </a:endParaRPr>
          </a:p>
        </p:txBody>
      </p:sp>
      <p:sp>
        <p:nvSpPr>
          <p:cNvPr id="161" name="Google Shape;161;p9"/>
          <p:cNvSpPr/>
          <p:nvPr/>
        </p:nvSpPr>
        <p:spPr>
          <a:xfrm>
            <a:off x="6414800" y="1345200"/>
            <a:ext cx="5228100" cy="1632300"/>
          </a:xfrm>
          <a:prstGeom prst="roundRect">
            <a:avLst>
              <a:gd fmla="val 5455"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6616964" y="1447719"/>
            <a:ext cx="485100" cy="411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3" name="Google Shape;163;p9"/>
          <p:cNvPicPr preferRelativeResize="0"/>
          <p:nvPr/>
        </p:nvPicPr>
        <p:blipFill rotWithShape="1">
          <a:blip r:embed="rId4">
            <a:alphaModFix/>
          </a:blip>
          <a:srcRect b="0" l="0" r="0" t="0"/>
          <a:stretch/>
        </p:blipFill>
        <p:spPr>
          <a:xfrm>
            <a:off x="6738238" y="1486373"/>
            <a:ext cx="242567" cy="274320"/>
          </a:xfrm>
          <a:prstGeom prst="rect">
            <a:avLst/>
          </a:prstGeom>
          <a:noFill/>
          <a:ln>
            <a:noFill/>
          </a:ln>
        </p:spPr>
      </p:pic>
      <p:sp>
        <p:nvSpPr>
          <p:cNvPr id="164" name="Google Shape;164;p9"/>
          <p:cNvSpPr txBox="1"/>
          <p:nvPr/>
        </p:nvSpPr>
        <p:spPr>
          <a:xfrm>
            <a:off x="7223373" y="1349213"/>
            <a:ext cx="3813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900"/>
              <a:buFont typeface="Arial"/>
              <a:buNone/>
            </a:pPr>
            <a:r>
              <a:rPr b="1" i="0" lang="en-US" sz="1900" u="none" cap="none" strike="noStrike">
                <a:solidFill>
                  <a:schemeClr val="dk1"/>
                </a:solidFill>
                <a:latin typeface="Arial"/>
                <a:ea typeface="Arial"/>
                <a:cs typeface="Arial"/>
                <a:sym typeface="Arial"/>
              </a:rPr>
              <a:t>Students moving </a:t>
            </a:r>
            <a:r>
              <a:rPr b="1" i="0" lang="en-US" sz="1900" u="sng" cap="none" strike="noStrike">
                <a:solidFill>
                  <a:schemeClr val="dk1"/>
                </a:solidFill>
                <a:latin typeface="Arial"/>
                <a:ea typeface="Arial"/>
                <a:cs typeface="Arial"/>
                <a:sym typeface="Arial"/>
              </a:rPr>
              <a:t>in</a:t>
            </a:r>
            <a:r>
              <a:rPr b="1" i="0" lang="en-US" sz="1900" u="none" cap="none" strike="noStrike">
                <a:solidFill>
                  <a:schemeClr val="dk1"/>
                </a:solidFill>
                <a:latin typeface="Arial"/>
                <a:ea typeface="Arial"/>
                <a:cs typeface="Arial"/>
                <a:sym typeface="Arial"/>
              </a:rPr>
              <a:t> (August)</a:t>
            </a:r>
            <a:endParaRPr b="0" i="0" sz="1900" u="none" cap="none" strike="noStrike">
              <a:solidFill>
                <a:schemeClr val="dk1"/>
              </a:solidFill>
              <a:latin typeface="Calibri"/>
              <a:ea typeface="Calibri"/>
              <a:cs typeface="Calibri"/>
              <a:sym typeface="Calibri"/>
            </a:endParaRPr>
          </a:p>
        </p:txBody>
      </p:sp>
      <p:sp>
        <p:nvSpPr>
          <p:cNvPr id="165" name="Google Shape;165;p9"/>
          <p:cNvSpPr txBox="1"/>
          <p:nvPr/>
        </p:nvSpPr>
        <p:spPr>
          <a:xfrm>
            <a:off x="6738225" y="1921975"/>
            <a:ext cx="4627500" cy="1051500"/>
          </a:xfrm>
          <a:prstGeom prst="rect">
            <a:avLst/>
          </a:prstGeom>
          <a:noFill/>
          <a:ln>
            <a:noFill/>
          </a:ln>
        </p:spPr>
        <p:txBody>
          <a:bodyPr anchorCtr="0" anchor="t" bIns="0" lIns="0" spcFirstLastPara="1" rIns="0" wrap="square" tIns="0">
            <a:noAutofit/>
          </a:bodyPr>
          <a:lstStyle/>
          <a:p>
            <a:pPr indent="-209550" lvl="0" marL="203200" marR="0" rtl="0" algn="l">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Arrive shortly before classes, often from out of town</a:t>
            </a:r>
            <a:endParaRPr b="0" i="0" sz="1600" u="none" cap="none" strike="noStrike">
              <a:solidFill>
                <a:schemeClr val="dk1"/>
              </a:solidFill>
              <a:latin typeface="Calibri"/>
              <a:ea typeface="Calibri"/>
              <a:cs typeface="Calibri"/>
              <a:sym typeface="Calibri"/>
            </a:endParaRPr>
          </a:p>
          <a:p>
            <a:pPr indent="-209550" lvl="0" marL="203200" marR="0" rtl="0" algn="l">
              <a:spcBef>
                <a:spcPts val="60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No vehicle to collect bulky item</a:t>
            </a:r>
            <a:r>
              <a:rPr lang="en-US" sz="1600">
                <a:solidFill>
                  <a:schemeClr val="dk1"/>
                </a:solidFill>
                <a:latin typeface="Calibri"/>
                <a:ea typeface="Calibri"/>
                <a:cs typeface="Calibri"/>
                <a:sym typeface="Calibri"/>
              </a:rPr>
              <a:t>s</a:t>
            </a:r>
            <a:endParaRPr sz="1600">
              <a:solidFill>
                <a:schemeClr val="dk1"/>
              </a:solidFill>
              <a:latin typeface="Calibri"/>
              <a:ea typeface="Calibri"/>
              <a:cs typeface="Calibri"/>
              <a:sym typeface="Calibri"/>
            </a:endParaRPr>
          </a:p>
          <a:p>
            <a:pPr indent="-209550" lvl="0" marL="203200" marR="0" rtl="0" algn="l">
              <a:spcBef>
                <a:spcPts val="60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New to the Area</a:t>
            </a:r>
            <a:endParaRPr sz="1600">
              <a:solidFill>
                <a:schemeClr val="dk1"/>
              </a:solidFill>
              <a:latin typeface="Calibri"/>
              <a:ea typeface="Calibri"/>
              <a:cs typeface="Calibri"/>
              <a:sym typeface="Calibri"/>
            </a:endParaRPr>
          </a:p>
        </p:txBody>
      </p:sp>
      <p:sp>
        <p:nvSpPr>
          <p:cNvPr id="166" name="Google Shape;166;p9"/>
          <p:cNvSpPr/>
          <p:nvPr/>
        </p:nvSpPr>
        <p:spPr>
          <a:xfrm>
            <a:off x="3234365" y="3401935"/>
            <a:ext cx="5409900" cy="2606100"/>
          </a:xfrm>
          <a:prstGeom prst="roundRect">
            <a:avLst>
              <a:gd fmla="val 421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
          <p:cNvSpPr txBox="1"/>
          <p:nvPr/>
        </p:nvSpPr>
        <p:spPr>
          <a:xfrm>
            <a:off x="3508685" y="3603103"/>
            <a:ext cx="4861500" cy="274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200"/>
              <a:buFont typeface="Calibri"/>
              <a:buNone/>
            </a:pPr>
            <a:r>
              <a:rPr b="1" i="0" lang="en-US" u="none" cap="none" strike="noStrike">
                <a:solidFill>
                  <a:schemeClr val="dk2"/>
                </a:solidFill>
                <a:latin typeface="Calibri"/>
                <a:ea typeface="Calibri"/>
                <a:cs typeface="Calibri"/>
                <a:sym typeface="Calibri"/>
              </a:rPr>
              <a:t>EXISTING ALTERNATIVES</a:t>
            </a:r>
            <a:endParaRPr b="0" i="0" u="none" cap="none" strike="noStrike">
              <a:solidFill>
                <a:schemeClr val="dk1"/>
              </a:solidFill>
              <a:latin typeface="Calibri"/>
              <a:ea typeface="Calibri"/>
              <a:cs typeface="Calibri"/>
              <a:sym typeface="Calibri"/>
            </a:endParaRPr>
          </a:p>
        </p:txBody>
      </p:sp>
      <p:sp>
        <p:nvSpPr>
          <p:cNvPr id="168" name="Google Shape;168;p9"/>
          <p:cNvSpPr/>
          <p:nvPr/>
        </p:nvSpPr>
        <p:spPr>
          <a:xfrm>
            <a:off x="3508685" y="3968863"/>
            <a:ext cx="2293500" cy="384000"/>
          </a:xfrm>
          <a:prstGeom prst="roundRect">
            <a:avLst>
              <a:gd fmla="val 28571" name="adj"/>
            </a:avLst>
          </a:prstGeom>
          <a:solidFill>
            <a:schemeClr val="lt1"/>
          </a:solidFill>
          <a:ln cap="flat" cmpd="sng" w="12700">
            <a:solidFill>
              <a:srgbClr val="BFD6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
          <p:cNvSpPr txBox="1"/>
          <p:nvPr/>
        </p:nvSpPr>
        <p:spPr>
          <a:xfrm>
            <a:off x="3508685" y="3968863"/>
            <a:ext cx="22935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Facebook Marketplace</a:t>
            </a:r>
            <a:endParaRPr b="0" i="0" sz="1400" u="none" cap="none" strike="noStrike">
              <a:solidFill>
                <a:schemeClr val="dk1"/>
              </a:solidFill>
              <a:latin typeface="Calibri"/>
              <a:ea typeface="Calibri"/>
              <a:cs typeface="Calibri"/>
              <a:sym typeface="Calibri"/>
            </a:endParaRPr>
          </a:p>
        </p:txBody>
      </p:sp>
      <p:sp>
        <p:nvSpPr>
          <p:cNvPr id="170" name="Google Shape;170;p9"/>
          <p:cNvSpPr/>
          <p:nvPr/>
        </p:nvSpPr>
        <p:spPr>
          <a:xfrm>
            <a:off x="6076549" y="3968863"/>
            <a:ext cx="2293500" cy="384000"/>
          </a:xfrm>
          <a:prstGeom prst="roundRect">
            <a:avLst>
              <a:gd fmla="val 28571" name="adj"/>
            </a:avLst>
          </a:prstGeom>
          <a:solidFill>
            <a:schemeClr val="lt1"/>
          </a:solidFill>
          <a:ln cap="flat" cmpd="sng" w="12700">
            <a:solidFill>
              <a:srgbClr val="BFD6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
          <p:cNvSpPr txBox="1"/>
          <p:nvPr/>
        </p:nvSpPr>
        <p:spPr>
          <a:xfrm>
            <a:off x="6076549" y="3968863"/>
            <a:ext cx="22935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OfferUp</a:t>
            </a:r>
            <a:endParaRPr b="0" i="0" sz="1400" u="none" cap="none" strike="noStrike">
              <a:solidFill>
                <a:schemeClr val="dk1"/>
              </a:solidFill>
              <a:latin typeface="Calibri"/>
              <a:ea typeface="Calibri"/>
              <a:cs typeface="Calibri"/>
              <a:sym typeface="Calibri"/>
            </a:endParaRPr>
          </a:p>
        </p:txBody>
      </p:sp>
      <p:sp>
        <p:nvSpPr>
          <p:cNvPr id="172" name="Google Shape;172;p9"/>
          <p:cNvSpPr/>
          <p:nvPr/>
        </p:nvSpPr>
        <p:spPr>
          <a:xfrm>
            <a:off x="3508685" y="4426063"/>
            <a:ext cx="2293500" cy="384000"/>
          </a:xfrm>
          <a:prstGeom prst="roundRect">
            <a:avLst>
              <a:gd fmla="val 28571" name="adj"/>
            </a:avLst>
          </a:prstGeom>
          <a:solidFill>
            <a:schemeClr val="lt1"/>
          </a:solidFill>
          <a:ln cap="flat" cmpd="sng" w="12700">
            <a:solidFill>
              <a:srgbClr val="BFD6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9"/>
          <p:cNvSpPr txBox="1"/>
          <p:nvPr/>
        </p:nvSpPr>
        <p:spPr>
          <a:xfrm>
            <a:off x="3508685" y="4426063"/>
            <a:ext cx="22935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DormXchange</a:t>
            </a:r>
            <a:endParaRPr b="0" i="0" sz="1400" u="none" cap="none" strike="noStrike">
              <a:solidFill>
                <a:schemeClr val="dk1"/>
              </a:solidFill>
              <a:latin typeface="Calibri"/>
              <a:ea typeface="Calibri"/>
              <a:cs typeface="Calibri"/>
              <a:sym typeface="Calibri"/>
            </a:endParaRPr>
          </a:p>
        </p:txBody>
      </p:sp>
      <p:sp>
        <p:nvSpPr>
          <p:cNvPr id="174" name="Google Shape;174;p9"/>
          <p:cNvSpPr/>
          <p:nvPr/>
        </p:nvSpPr>
        <p:spPr>
          <a:xfrm>
            <a:off x="6076549" y="4426063"/>
            <a:ext cx="2293500" cy="384000"/>
          </a:xfrm>
          <a:prstGeom prst="roundRect">
            <a:avLst>
              <a:gd fmla="val 28571" name="adj"/>
            </a:avLst>
          </a:prstGeom>
          <a:solidFill>
            <a:schemeClr val="lt1"/>
          </a:solidFill>
          <a:ln cap="flat" cmpd="sng" w="12700">
            <a:solidFill>
              <a:srgbClr val="BFD6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9"/>
          <p:cNvSpPr txBox="1"/>
          <p:nvPr/>
        </p:nvSpPr>
        <p:spPr>
          <a:xfrm>
            <a:off x="6076549" y="4426063"/>
            <a:ext cx="22935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GathrU</a:t>
            </a:r>
            <a:endParaRPr b="0" i="0" sz="1400" u="none" cap="none" strike="noStrike">
              <a:solidFill>
                <a:schemeClr val="dk1"/>
              </a:solidFill>
              <a:latin typeface="Calibri"/>
              <a:ea typeface="Calibri"/>
              <a:cs typeface="Calibri"/>
              <a:sym typeface="Calibri"/>
            </a:endParaRPr>
          </a:p>
        </p:txBody>
      </p:sp>
      <p:sp>
        <p:nvSpPr>
          <p:cNvPr id="176" name="Google Shape;176;p9"/>
          <p:cNvSpPr/>
          <p:nvPr/>
        </p:nvSpPr>
        <p:spPr>
          <a:xfrm>
            <a:off x="3508685" y="4883263"/>
            <a:ext cx="2293500" cy="384000"/>
          </a:xfrm>
          <a:prstGeom prst="roundRect">
            <a:avLst>
              <a:gd fmla="val 28571" name="adj"/>
            </a:avLst>
          </a:prstGeom>
          <a:solidFill>
            <a:schemeClr val="lt1"/>
          </a:solidFill>
          <a:ln cap="flat" cmpd="sng" w="12700">
            <a:solidFill>
              <a:srgbClr val="BFD6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txBox="1"/>
          <p:nvPr/>
        </p:nvSpPr>
        <p:spPr>
          <a:xfrm>
            <a:off x="3508685" y="4883263"/>
            <a:ext cx="22935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Duke student group chats</a:t>
            </a:r>
            <a:endParaRPr b="0" i="0" sz="1400" u="none" cap="none" strike="noStrike">
              <a:solidFill>
                <a:schemeClr val="dk1"/>
              </a:solidFill>
              <a:latin typeface="Calibri"/>
              <a:ea typeface="Calibri"/>
              <a:cs typeface="Calibri"/>
              <a:sym typeface="Calibri"/>
            </a:endParaRPr>
          </a:p>
        </p:txBody>
      </p:sp>
      <p:sp>
        <p:nvSpPr>
          <p:cNvPr id="178" name="Google Shape;178;p9"/>
          <p:cNvSpPr/>
          <p:nvPr/>
        </p:nvSpPr>
        <p:spPr>
          <a:xfrm>
            <a:off x="6076549" y="4883263"/>
            <a:ext cx="2293500" cy="384000"/>
          </a:xfrm>
          <a:prstGeom prst="roundRect">
            <a:avLst>
              <a:gd fmla="val 28571" name="adj"/>
            </a:avLst>
          </a:prstGeom>
          <a:solidFill>
            <a:schemeClr val="lt1"/>
          </a:solidFill>
          <a:ln cap="flat" cmpd="sng" w="12700">
            <a:solidFill>
              <a:srgbClr val="BFD6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9"/>
          <p:cNvSpPr txBox="1"/>
          <p:nvPr/>
        </p:nvSpPr>
        <p:spPr>
          <a:xfrm>
            <a:off x="6076549" y="4883263"/>
            <a:ext cx="22935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Junk removal / curb</a:t>
            </a:r>
            <a:endParaRPr b="0" i="0" sz="1400" u="none" cap="none" strike="noStrike">
              <a:solidFill>
                <a:schemeClr val="dk1"/>
              </a:solidFill>
              <a:latin typeface="Calibri"/>
              <a:ea typeface="Calibri"/>
              <a:cs typeface="Calibri"/>
              <a:sym typeface="Calibri"/>
            </a:endParaRPr>
          </a:p>
        </p:txBody>
      </p:sp>
      <p:sp>
        <p:nvSpPr>
          <p:cNvPr id="180" name="Google Shape;180;p9"/>
          <p:cNvSpPr txBox="1"/>
          <p:nvPr/>
        </p:nvSpPr>
        <p:spPr>
          <a:xfrm>
            <a:off x="3508685" y="5386183"/>
            <a:ext cx="4861500" cy="502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1" lang="en-US" sz="1400" u="none" cap="none" strike="noStrike">
                <a:solidFill>
                  <a:schemeClr val="accent6"/>
                </a:solidFill>
                <a:latin typeface="Calibri"/>
                <a:ea typeface="Calibri"/>
                <a:cs typeface="Calibri"/>
                <a:sym typeface="Calibri"/>
              </a:rPr>
              <a:t>Each one needs seller and buyer in town at the same time, so value is lost, furniture is wasted, and students carry extra burden.</a:t>
            </a:r>
            <a:endParaRPr b="0" i="0" sz="1400" u="none" cap="none" strike="noStrike">
              <a:solidFill>
                <a:schemeClr val="dk1"/>
              </a:solidFill>
              <a:latin typeface="Calibri"/>
              <a:ea typeface="Calibri"/>
              <a:cs typeface="Calibri"/>
              <a:sym typeface="Calibri"/>
            </a:endParaRPr>
          </a:p>
        </p:txBody>
      </p:sp>
      <p:sp>
        <p:nvSpPr>
          <p:cNvPr id="181" name="Google Shape;181;p9"/>
          <p:cNvSpPr txBox="1"/>
          <p:nvPr>
            <p:ph idx="4294967295" type="sldNum"/>
          </p:nvPr>
        </p:nvSpPr>
        <p:spPr>
          <a:xfrm>
            <a:off x="11183112" y="640080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0"/>
          <p:cNvSpPr txBox="1"/>
          <p:nvPr>
            <p:ph type="title"/>
          </p:nvPr>
        </p:nvSpPr>
        <p:spPr>
          <a:xfrm>
            <a:off x="548640" y="320040"/>
            <a:ext cx="11094415" cy="77724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3000"/>
              <a:buFont typeface="Arial"/>
              <a:buNone/>
            </a:pPr>
            <a:r>
              <a:rPr b="1" lang="en-US" sz="3000">
                <a:solidFill>
                  <a:schemeClr val="dk2"/>
                </a:solidFill>
                <a:latin typeface="Arial"/>
                <a:ea typeface="Arial"/>
                <a:cs typeface="Arial"/>
                <a:sym typeface="Arial"/>
              </a:rPr>
              <a:t>Competitors: how Relay is different</a:t>
            </a:r>
            <a:endParaRPr sz="3000"/>
          </a:p>
        </p:txBody>
      </p:sp>
      <p:sp>
        <p:nvSpPr>
          <p:cNvPr id="188" name="Google Shape;188;p10"/>
          <p:cNvSpPr txBox="1"/>
          <p:nvPr/>
        </p:nvSpPr>
        <p:spPr>
          <a:xfrm>
            <a:off x="3154680" y="1371600"/>
            <a:ext cx="731520" cy="73152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US" sz="1100" u="none" cap="none" strike="noStrike">
                <a:solidFill>
                  <a:schemeClr val="dk2"/>
                </a:solidFill>
                <a:latin typeface="Calibri"/>
                <a:ea typeface="Calibri"/>
                <a:cs typeface="Calibri"/>
                <a:sym typeface="Calibri"/>
              </a:rPr>
              <a:t>Money back to seller</a:t>
            </a:r>
            <a:endParaRPr b="0" i="0" sz="1100" u="none" cap="none" strike="noStrike">
              <a:solidFill>
                <a:schemeClr val="dk1"/>
              </a:solidFill>
              <a:latin typeface="Calibri"/>
              <a:ea typeface="Calibri"/>
              <a:cs typeface="Calibri"/>
              <a:sym typeface="Calibri"/>
            </a:endParaRPr>
          </a:p>
        </p:txBody>
      </p:sp>
      <p:sp>
        <p:nvSpPr>
          <p:cNvPr id="189" name="Google Shape;189;p10"/>
          <p:cNvSpPr txBox="1"/>
          <p:nvPr/>
        </p:nvSpPr>
        <p:spPr>
          <a:xfrm>
            <a:off x="3886200" y="1371600"/>
            <a:ext cx="731520" cy="73152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US" sz="1100" u="none" cap="none" strike="noStrike">
                <a:solidFill>
                  <a:schemeClr val="dk2"/>
                </a:solidFill>
                <a:latin typeface="Calibri"/>
                <a:ea typeface="Calibri"/>
                <a:cs typeface="Calibri"/>
                <a:sym typeface="Calibri"/>
              </a:rPr>
              <a:t>Payment certainty</a:t>
            </a:r>
            <a:endParaRPr b="0" i="0" sz="1100" u="none" cap="none" strike="noStrike">
              <a:solidFill>
                <a:schemeClr val="dk1"/>
              </a:solidFill>
              <a:latin typeface="Calibri"/>
              <a:ea typeface="Calibri"/>
              <a:cs typeface="Calibri"/>
              <a:sym typeface="Calibri"/>
            </a:endParaRPr>
          </a:p>
        </p:txBody>
      </p:sp>
      <p:sp>
        <p:nvSpPr>
          <p:cNvPr id="190" name="Google Shape;190;p10"/>
          <p:cNvSpPr txBox="1"/>
          <p:nvPr/>
        </p:nvSpPr>
        <p:spPr>
          <a:xfrm>
            <a:off x="4617720" y="1371600"/>
            <a:ext cx="731520" cy="73152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US" sz="1100" u="none" cap="none" strike="noStrike">
                <a:solidFill>
                  <a:schemeClr val="dk2"/>
                </a:solidFill>
                <a:latin typeface="Calibri"/>
                <a:ea typeface="Calibri"/>
                <a:cs typeface="Calibri"/>
                <a:sym typeface="Calibri"/>
              </a:rPr>
              <a:t>Ease to sell</a:t>
            </a:r>
            <a:endParaRPr b="0" i="0" sz="1100" u="none" cap="none" strike="noStrike">
              <a:solidFill>
                <a:schemeClr val="dk1"/>
              </a:solidFill>
              <a:latin typeface="Calibri"/>
              <a:ea typeface="Calibri"/>
              <a:cs typeface="Calibri"/>
              <a:sym typeface="Calibri"/>
            </a:endParaRPr>
          </a:p>
        </p:txBody>
      </p:sp>
      <p:sp>
        <p:nvSpPr>
          <p:cNvPr id="191" name="Google Shape;191;p10"/>
          <p:cNvSpPr txBox="1"/>
          <p:nvPr/>
        </p:nvSpPr>
        <p:spPr>
          <a:xfrm>
            <a:off x="5349240" y="1371600"/>
            <a:ext cx="731520" cy="73152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US" sz="1100" u="none" cap="none" strike="noStrike">
                <a:solidFill>
                  <a:schemeClr val="dk2"/>
                </a:solidFill>
                <a:latin typeface="Calibri"/>
                <a:ea typeface="Calibri"/>
                <a:cs typeface="Calibri"/>
                <a:sym typeface="Calibri"/>
              </a:rPr>
              <a:t>Summer hold</a:t>
            </a:r>
            <a:endParaRPr b="0" i="0" sz="1100" u="none" cap="none" strike="noStrike">
              <a:solidFill>
                <a:schemeClr val="dk1"/>
              </a:solidFill>
              <a:latin typeface="Calibri"/>
              <a:ea typeface="Calibri"/>
              <a:cs typeface="Calibri"/>
              <a:sym typeface="Calibri"/>
            </a:endParaRPr>
          </a:p>
        </p:txBody>
      </p:sp>
      <p:sp>
        <p:nvSpPr>
          <p:cNvPr id="192" name="Google Shape;192;p10"/>
          <p:cNvSpPr txBox="1"/>
          <p:nvPr/>
        </p:nvSpPr>
        <p:spPr>
          <a:xfrm>
            <a:off x="6080760" y="1371600"/>
            <a:ext cx="731520" cy="73152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US" sz="1100" u="none" cap="none" strike="noStrike">
                <a:solidFill>
                  <a:schemeClr val="dk2"/>
                </a:solidFill>
                <a:latin typeface="Calibri"/>
                <a:ea typeface="Calibri"/>
                <a:cs typeface="Calibri"/>
                <a:sym typeface="Calibri"/>
              </a:rPr>
              <a:t>Pickup</a:t>
            </a:r>
            <a:endParaRPr b="0" i="0" sz="1100" u="none" cap="none" strike="noStrike">
              <a:solidFill>
                <a:schemeClr val="dk1"/>
              </a:solidFill>
              <a:latin typeface="Calibri"/>
              <a:ea typeface="Calibri"/>
              <a:cs typeface="Calibri"/>
              <a:sym typeface="Calibri"/>
            </a:endParaRPr>
          </a:p>
        </p:txBody>
      </p:sp>
      <p:sp>
        <p:nvSpPr>
          <p:cNvPr id="193" name="Google Shape;193;p10"/>
          <p:cNvSpPr txBox="1"/>
          <p:nvPr/>
        </p:nvSpPr>
        <p:spPr>
          <a:xfrm>
            <a:off x="6812280" y="1371600"/>
            <a:ext cx="731520" cy="73152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US" sz="1100" u="none" cap="none" strike="noStrike">
                <a:solidFill>
                  <a:schemeClr val="dk2"/>
                </a:solidFill>
                <a:latin typeface="Calibri"/>
                <a:ea typeface="Calibri"/>
                <a:cs typeface="Calibri"/>
                <a:sym typeface="Calibri"/>
              </a:rPr>
              <a:t>Delivery</a:t>
            </a:r>
            <a:endParaRPr b="0" i="0" sz="1100" u="none" cap="none" strike="noStrike">
              <a:solidFill>
                <a:schemeClr val="dk1"/>
              </a:solidFill>
              <a:latin typeface="Calibri"/>
              <a:ea typeface="Calibri"/>
              <a:cs typeface="Calibri"/>
              <a:sym typeface="Calibri"/>
            </a:endParaRPr>
          </a:p>
        </p:txBody>
      </p:sp>
      <p:sp>
        <p:nvSpPr>
          <p:cNvPr id="194" name="Google Shape;194;p10"/>
          <p:cNvSpPr txBox="1"/>
          <p:nvPr/>
        </p:nvSpPr>
        <p:spPr>
          <a:xfrm>
            <a:off x="7543800" y="1371600"/>
            <a:ext cx="731520" cy="73152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US" sz="1100" u="none" cap="none" strike="noStrike">
                <a:solidFill>
                  <a:schemeClr val="dk2"/>
                </a:solidFill>
                <a:latin typeface="Calibri"/>
                <a:ea typeface="Calibri"/>
                <a:cs typeface="Calibri"/>
                <a:sym typeface="Calibri"/>
              </a:rPr>
              <a:t>At Duke</a:t>
            </a:r>
            <a:endParaRPr b="0" i="0" sz="1100" u="none" cap="none" strike="noStrike">
              <a:solidFill>
                <a:schemeClr val="dk1"/>
              </a:solidFill>
              <a:latin typeface="Calibri"/>
              <a:ea typeface="Calibri"/>
              <a:cs typeface="Calibri"/>
              <a:sym typeface="Calibri"/>
            </a:endParaRPr>
          </a:p>
        </p:txBody>
      </p:sp>
      <p:sp>
        <p:nvSpPr>
          <p:cNvPr id="195" name="Google Shape;195;p10"/>
          <p:cNvSpPr/>
          <p:nvPr/>
        </p:nvSpPr>
        <p:spPr>
          <a:xfrm>
            <a:off x="548640" y="2176272"/>
            <a:ext cx="7726680" cy="54864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0"/>
          <p:cNvSpPr txBox="1"/>
          <p:nvPr/>
        </p:nvSpPr>
        <p:spPr>
          <a:xfrm>
            <a:off x="685800" y="2231136"/>
            <a:ext cx="24231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Facebook Marketplace</a:t>
            </a:r>
            <a:endParaRPr b="0" i="0" sz="1500" u="none" cap="none" strike="noStrike">
              <a:solidFill>
                <a:schemeClr val="dk1"/>
              </a:solidFill>
              <a:latin typeface="Calibri"/>
              <a:ea typeface="Calibri"/>
              <a:cs typeface="Calibri"/>
              <a:sym typeface="Calibri"/>
            </a:endParaRPr>
          </a:p>
        </p:txBody>
      </p:sp>
      <p:sp>
        <p:nvSpPr>
          <p:cNvPr id="197" name="Google Shape;197;p10"/>
          <p:cNvSpPr txBox="1"/>
          <p:nvPr/>
        </p:nvSpPr>
        <p:spPr>
          <a:xfrm>
            <a:off x="685800" y="2487168"/>
            <a:ext cx="242316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 OfferUp, DormXchange, GathrU, group chats</a:t>
            </a:r>
            <a:endParaRPr b="0" i="0" sz="1000" u="none" cap="none" strike="noStrike">
              <a:solidFill>
                <a:schemeClr val="dk1"/>
              </a:solidFill>
              <a:latin typeface="Calibri"/>
              <a:ea typeface="Calibri"/>
              <a:cs typeface="Calibri"/>
              <a:sym typeface="Calibri"/>
            </a:endParaRPr>
          </a:p>
        </p:txBody>
      </p:sp>
      <p:sp>
        <p:nvSpPr>
          <p:cNvPr id="198" name="Google Shape;198;p10"/>
          <p:cNvSpPr/>
          <p:nvPr/>
        </p:nvSpPr>
        <p:spPr>
          <a:xfrm>
            <a:off x="3374136" y="2304288"/>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0"/>
          <p:cNvSpPr/>
          <p:nvPr/>
        </p:nvSpPr>
        <p:spPr>
          <a:xfrm>
            <a:off x="3374136" y="2304288"/>
            <a:ext cx="292608" cy="292608"/>
          </a:xfrm>
          <a:prstGeom prst="pie">
            <a:avLst>
              <a:gd fmla="val 1620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0"/>
          <p:cNvSpPr/>
          <p:nvPr/>
        </p:nvSpPr>
        <p:spPr>
          <a:xfrm>
            <a:off x="4105656" y="2304288"/>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
          <p:cNvSpPr/>
          <p:nvPr/>
        </p:nvSpPr>
        <p:spPr>
          <a:xfrm>
            <a:off x="4105656" y="2304288"/>
            <a:ext cx="292608" cy="292608"/>
          </a:xfrm>
          <a:prstGeom prst="pie">
            <a:avLst>
              <a:gd fmla="val 1620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0"/>
          <p:cNvSpPr/>
          <p:nvPr/>
        </p:nvSpPr>
        <p:spPr>
          <a:xfrm>
            <a:off x="4837176" y="2304288"/>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0"/>
          <p:cNvSpPr/>
          <p:nvPr/>
        </p:nvSpPr>
        <p:spPr>
          <a:xfrm>
            <a:off x="4837176" y="2304288"/>
            <a:ext cx="292608" cy="292608"/>
          </a:xfrm>
          <a:prstGeom prst="pie">
            <a:avLst>
              <a:gd fmla="val 1620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0"/>
          <p:cNvSpPr/>
          <p:nvPr/>
        </p:nvSpPr>
        <p:spPr>
          <a:xfrm>
            <a:off x="5568696" y="2304288"/>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0"/>
          <p:cNvSpPr/>
          <p:nvPr/>
        </p:nvSpPr>
        <p:spPr>
          <a:xfrm>
            <a:off x="6300216" y="2304288"/>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0"/>
          <p:cNvSpPr/>
          <p:nvPr/>
        </p:nvSpPr>
        <p:spPr>
          <a:xfrm>
            <a:off x="7031736" y="2304288"/>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
          <p:cNvSpPr/>
          <p:nvPr/>
        </p:nvSpPr>
        <p:spPr>
          <a:xfrm>
            <a:off x="7763256" y="2304288"/>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0"/>
          <p:cNvSpPr/>
          <p:nvPr/>
        </p:nvSpPr>
        <p:spPr>
          <a:xfrm>
            <a:off x="7763256" y="2304288"/>
            <a:ext cx="292608" cy="292608"/>
          </a:xfrm>
          <a:prstGeom prst="ellipse">
            <a:avLst/>
          </a:prstGeom>
          <a:solidFill>
            <a:schemeClr val="dk2"/>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0"/>
          <p:cNvSpPr/>
          <p:nvPr/>
        </p:nvSpPr>
        <p:spPr>
          <a:xfrm>
            <a:off x="548640" y="2779776"/>
            <a:ext cx="7726680" cy="5486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
          <p:cNvSpPr txBox="1"/>
          <p:nvPr/>
        </p:nvSpPr>
        <p:spPr>
          <a:xfrm>
            <a:off x="685800" y="2834640"/>
            <a:ext cx="24231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Campus Swap</a:t>
            </a:r>
            <a:endParaRPr b="0" i="0" sz="1500" u="none" cap="none" strike="noStrike">
              <a:solidFill>
                <a:schemeClr val="dk1"/>
              </a:solidFill>
              <a:latin typeface="Calibri"/>
              <a:ea typeface="Calibri"/>
              <a:cs typeface="Calibri"/>
              <a:sym typeface="Calibri"/>
            </a:endParaRPr>
          </a:p>
        </p:txBody>
      </p:sp>
      <p:sp>
        <p:nvSpPr>
          <p:cNvPr id="211" name="Google Shape;211;p10"/>
          <p:cNvSpPr txBox="1"/>
          <p:nvPr/>
        </p:nvSpPr>
        <p:spPr>
          <a:xfrm>
            <a:off x="685800" y="3090672"/>
            <a:ext cx="242316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UNC Chapel Hill</a:t>
            </a:r>
            <a:endParaRPr b="0" i="0" sz="1000" u="none" cap="none" strike="noStrike">
              <a:solidFill>
                <a:schemeClr val="dk1"/>
              </a:solidFill>
              <a:latin typeface="Calibri"/>
              <a:ea typeface="Calibri"/>
              <a:cs typeface="Calibri"/>
              <a:sym typeface="Calibri"/>
            </a:endParaRPr>
          </a:p>
        </p:txBody>
      </p:sp>
      <p:sp>
        <p:nvSpPr>
          <p:cNvPr id="212" name="Google Shape;212;p10"/>
          <p:cNvSpPr/>
          <p:nvPr/>
        </p:nvSpPr>
        <p:spPr>
          <a:xfrm>
            <a:off x="3374136" y="2907792"/>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0"/>
          <p:cNvSpPr/>
          <p:nvPr/>
        </p:nvSpPr>
        <p:spPr>
          <a:xfrm>
            <a:off x="3374136" y="2907792"/>
            <a:ext cx="292608" cy="292608"/>
          </a:xfrm>
          <a:prstGeom prst="pie">
            <a:avLst>
              <a:gd fmla="val 1620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0"/>
          <p:cNvSpPr/>
          <p:nvPr/>
        </p:nvSpPr>
        <p:spPr>
          <a:xfrm>
            <a:off x="4105656" y="2907792"/>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0"/>
          <p:cNvSpPr/>
          <p:nvPr/>
        </p:nvSpPr>
        <p:spPr>
          <a:xfrm>
            <a:off x="4105656" y="2907792"/>
            <a:ext cx="292608" cy="292608"/>
          </a:xfrm>
          <a:prstGeom prst="pie">
            <a:avLst>
              <a:gd fmla="val 16200000" name="adj1"/>
              <a:gd fmla="val 540000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
          <p:cNvSpPr/>
          <p:nvPr/>
        </p:nvSpPr>
        <p:spPr>
          <a:xfrm>
            <a:off x="4837176" y="2907792"/>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p:nvPr/>
        </p:nvSpPr>
        <p:spPr>
          <a:xfrm>
            <a:off x="4837176" y="2907792"/>
            <a:ext cx="292608" cy="292608"/>
          </a:xfrm>
          <a:prstGeom prst="ellipse">
            <a:avLst/>
          </a:prstGeom>
          <a:solidFill>
            <a:schemeClr val="dk2"/>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0"/>
          <p:cNvSpPr/>
          <p:nvPr/>
        </p:nvSpPr>
        <p:spPr>
          <a:xfrm>
            <a:off x="5568696" y="2907792"/>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0"/>
          <p:cNvSpPr/>
          <p:nvPr/>
        </p:nvSpPr>
        <p:spPr>
          <a:xfrm>
            <a:off x="5568696" y="2907792"/>
            <a:ext cx="292608" cy="292608"/>
          </a:xfrm>
          <a:prstGeom prst="ellipse">
            <a:avLst/>
          </a:prstGeom>
          <a:solidFill>
            <a:schemeClr val="dk2"/>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
          <p:cNvSpPr/>
          <p:nvPr/>
        </p:nvSpPr>
        <p:spPr>
          <a:xfrm>
            <a:off x="6300216" y="2907792"/>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0"/>
          <p:cNvSpPr/>
          <p:nvPr/>
        </p:nvSpPr>
        <p:spPr>
          <a:xfrm>
            <a:off x="6300216" y="2907792"/>
            <a:ext cx="292608" cy="292608"/>
          </a:xfrm>
          <a:prstGeom prst="ellipse">
            <a:avLst/>
          </a:prstGeom>
          <a:solidFill>
            <a:schemeClr val="dk2"/>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0"/>
          <p:cNvSpPr/>
          <p:nvPr/>
        </p:nvSpPr>
        <p:spPr>
          <a:xfrm>
            <a:off x="7031736" y="2907792"/>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0"/>
          <p:cNvSpPr/>
          <p:nvPr/>
        </p:nvSpPr>
        <p:spPr>
          <a:xfrm>
            <a:off x="7031736" y="2907792"/>
            <a:ext cx="292608" cy="292608"/>
          </a:xfrm>
          <a:prstGeom prst="pie">
            <a:avLst>
              <a:gd fmla="val 16200000" name="adj1"/>
              <a:gd fmla="val 540000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0"/>
          <p:cNvSpPr/>
          <p:nvPr/>
        </p:nvSpPr>
        <p:spPr>
          <a:xfrm>
            <a:off x="7763256" y="2907792"/>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0"/>
          <p:cNvSpPr/>
          <p:nvPr/>
        </p:nvSpPr>
        <p:spPr>
          <a:xfrm>
            <a:off x="548640" y="3383280"/>
            <a:ext cx="7726680" cy="54864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0"/>
          <p:cNvSpPr txBox="1"/>
          <p:nvPr/>
        </p:nvSpPr>
        <p:spPr>
          <a:xfrm>
            <a:off x="685800" y="3438144"/>
            <a:ext cx="24231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Campus Reclaimed</a:t>
            </a:r>
            <a:endParaRPr b="0" i="0" sz="1500" u="none" cap="none" strike="noStrike">
              <a:solidFill>
                <a:schemeClr val="dk1"/>
              </a:solidFill>
              <a:latin typeface="Calibri"/>
              <a:ea typeface="Calibri"/>
              <a:cs typeface="Calibri"/>
              <a:sym typeface="Calibri"/>
            </a:endParaRPr>
          </a:p>
        </p:txBody>
      </p:sp>
      <p:sp>
        <p:nvSpPr>
          <p:cNvPr id="227" name="Google Shape;227;p10"/>
          <p:cNvSpPr txBox="1"/>
          <p:nvPr/>
        </p:nvSpPr>
        <p:spPr>
          <a:xfrm>
            <a:off x="685800" y="3694176"/>
            <a:ext cx="242316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Wake Forest</a:t>
            </a:r>
            <a:endParaRPr b="0" i="0" sz="1000" u="none" cap="none" strike="noStrike">
              <a:solidFill>
                <a:schemeClr val="dk1"/>
              </a:solidFill>
              <a:latin typeface="Calibri"/>
              <a:ea typeface="Calibri"/>
              <a:cs typeface="Calibri"/>
              <a:sym typeface="Calibri"/>
            </a:endParaRPr>
          </a:p>
        </p:txBody>
      </p:sp>
      <p:sp>
        <p:nvSpPr>
          <p:cNvPr id="228" name="Google Shape;228;p10"/>
          <p:cNvSpPr/>
          <p:nvPr/>
        </p:nvSpPr>
        <p:spPr>
          <a:xfrm>
            <a:off x="3374136" y="3511296"/>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
          <p:cNvSpPr/>
          <p:nvPr/>
        </p:nvSpPr>
        <p:spPr>
          <a:xfrm>
            <a:off x="3374136" y="3511296"/>
            <a:ext cx="292608" cy="292608"/>
          </a:xfrm>
          <a:prstGeom prst="pie">
            <a:avLst>
              <a:gd fmla="val 1620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0"/>
          <p:cNvSpPr/>
          <p:nvPr/>
        </p:nvSpPr>
        <p:spPr>
          <a:xfrm>
            <a:off x="4105656" y="3511296"/>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0"/>
          <p:cNvSpPr/>
          <p:nvPr/>
        </p:nvSpPr>
        <p:spPr>
          <a:xfrm>
            <a:off x="4105656" y="3511296"/>
            <a:ext cx="292608" cy="292608"/>
          </a:xfrm>
          <a:prstGeom prst="pie">
            <a:avLst>
              <a:gd fmla="val 1620000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0"/>
          <p:cNvSpPr/>
          <p:nvPr/>
        </p:nvSpPr>
        <p:spPr>
          <a:xfrm>
            <a:off x="4837176" y="3511296"/>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0"/>
          <p:cNvSpPr/>
          <p:nvPr/>
        </p:nvSpPr>
        <p:spPr>
          <a:xfrm>
            <a:off x="4837176" y="3511296"/>
            <a:ext cx="292608" cy="292608"/>
          </a:xfrm>
          <a:prstGeom prst="pie">
            <a:avLst>
              <a:gd fmla="val 16200000" name="adj1"/>
              <a:gd fmla="val 1080000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0"/>
          <p:cNvSpPr/>
          <p:nvPr/>
        </p:nvSpPr>
        <p:spPr>
          <a:xfrm>
            <a:off x="5568696" y="3511296"/>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0"/>
          <p:cNvSpPr/>
          <p:nvPr/>
        </p:nvSpPr>
        <p:spPr>
          <a:xfrm>
            <a:off x="5568696" y="3511296"/>
            <a:ext cx="292608" cy="292608"/>
          </a:xfrm>
          <a:prstGeom prst="pie">
            <a:avLst>
              <a:gd fmla="val 16200000" name="adj1"/>
              <a:gd fmla="val 1080000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0"/>
          <p:cNvSpPr/>
          <p:nvPr/>
        </p:nvSpPr>
        <p:spPr>
          <a:xfrm>
            <a:off x="6300216" y="3511296"/>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0"/>
          <p:cNvSpPr/>
          <p:nvPr/>
        </p:nvSpPr>
        <p:spPr>
          <a:xfrm>
            <a:off x="6300216" y="3511296"/>
            <a:ext cx="292608" cy="292608"/>
          </a:xfrm>
          <a:prstGeom prst="pie">
            <a:avLst>
              <a:gd fmla="val 16200000" name="adj1"/>
              <a:gd fmla="val 5400000" name="adj2"/>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0"/>
          <p:cNvSpPr/>
          <p:nvPr/>
        </p:nvSpPr>
        <p:spPr>
          <a:xfrm>
            <a:off x="7031736" y="3511296"/>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0"/>
          <p:cNvSpPr/>
          <p:nvPr/>
        </p:nvSpPr>
        <p:spPr>
          <a:xfrm>
            <a:off x="7763256" y="3511296"/>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0"/>
          <p:cNvSpPr/>
          <p:nvPr/>
        </p:nvSpPr>
        <p:spPr>
          <a:xfrm>
            <a:off x="548640" y="3986784"/>
            <a:ext cx="7726680" cy="5486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0"/>
          <p:cNvSpPr txBox="1"/>
          <p:nvPr/>
        </p:nvSpPr>
        <p:spPr>
          <a:xfrm>
            <a:off x="685800" y="4041648"/>
            <a:ext cx="24231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Storage Scholars</a:t>
            </a:r>
            <a:endParaRPr b="0" i="0" sz="1500" u="none" cap="none" strike="noStrike">
              <a:solidFill>
                <a:schemeClr val="dk1"/>
              </a:solidFill>
              <a:latin typeface="Calibri"/>
              <a:ea typeface="Calibri"/>
              <a:cs typeface="Calibri"/>
              <a:sym typeface="Calibri"/>
            </a:endParaRPr>
          </a:p>
        </p:txBody>
      </p:sp>
      <p:sp>
        <p:nvSpPr>
          <p:cNvPr id="242" name="Google Shape;242;p10"/>
          <p:cNvSpPr txBox="1"/>
          <p:nvPr/>
        </p:nvSpPr>
        <p:spPr>
          <a:xfrm>
            <a:off x="685800" y="4297680"/>
            <a:ext cx="242316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Duke's storage partner</a:t>
            </a:r>
            <a:endParaRPr b="0" i="0" sz="1000" u="none" cap="none" strike="noStrike">
              <a:solidFill>
                <a:schemeClr val="dk1"/>
              </a:solidFill>
              <a:latin typeface="Calibri"/>
              <a:ea typeface="Calibri"/>
              <a:cs typeface="Calibri"/>
              <a:sym typeface="Calibri"/>
            </a:endParaRPr>
          </a:p>
        </p:txBody>
      </p:sp>
      <p:sp>
        <p:nvSpPr>
          <p:cNvPr id="243" name="Google Shape;243;p10"/>
          <p:cNvSpPr/>
          <p:nvPr/>
        </p:nvSpPr>
        <p:spPr>
          <a:xfrm>
            <a:off x="3374136" y="4114800"/>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0"/>
          <p:cNvSpPr/>
          <p:nvPr/>
        </p:nvSpPr>
        <p:spPr>
          <a:xfrm>
            <a:off x="4105656" y="4114800"/>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0"/>
          <p:cNvSpPr/>
          <p:nvPr/>
        </p:nvSpPr>
        <p:spPr>
          <a:xfrm>
            <a:off x="4837176" y="4114800"/>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0"/>
          <p:cNvSpPr/>
          <p:nvPr/>
        </p:nvSpPr>
        <p:spPr>
          <a:xfrm>
            <a:off x="5568696" y="4114800"/>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0"/>
          <p:cNvSpPr/>
          <p:nvPr/>
        </p:nvSpPr>
        <p:spPr>
          <a:xfrm>
            <a:off x="5568696" y="4114800"/>
            <a:ext cx="292608" cy="292608"/>
          </a:xfrm>
          <a:prstGeom prst="ellipse">
            <a:avLst/>
          </a:prstGeom>
          <a:solidFill>
            <a:schemeClr val="dk2"/>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0"/>
          <p:cNvSpPr/>
          <p:nvPr/>
        </p:nvSpPr>
        <p:spPr>
          <a:xfrm>
            <a:off x="6300216" y="4114800"/>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0"/>
          <p:cNvSpPr/>
          <p:nvPr/>
        </p:nvSpPr>
        <p:spPr>
          <a:xfrm>
            <a:off x="6300216" y="4114800"/>
            <a:ext cx="292608" cy="292608"/>
          </a:xfrm>
          <a:prstGeom prst="ellipse">
            <a:avLst/>
          </a:prstGeom>
          <a:solidFill>
            <a:schemeClr val="dk2"/>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0"/>
          <p:cNvSpPr/>
          <p:nvPr/>
        </p:nvSpPr>
        <p:spPr>
          <a:xfrm>
            <a:off x="7031736" y="4114800"/>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0"/>
          <p:cNvSpPr/>
          <p:nvPr/>
        </p:nvSpPr>
        <p:spPr>
          <a:xfrm>
            <a:off x="7031736" y="4114800"/>
            <a:ext cx="292608" cy="292608"/>
          </a:xfrm>
          <a:prstGeom prst="ellipse">
            <a:avLst/>
          </a:prstGeom>
          <a:solidFill>
            <a:schemeClr val="dk2"/>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0"/>
          <p:cNvSpPr/>
          <p:nvPr/>
        </p:nvSpPr>
        <p:spPr>
          <a:xfrm>
            <a:off x="7763256" y="4114800"/>
            <a:ext cx="292608" cy="292608"/>
          </a:xfrm>
          <a:prstGeom prst="ellipse">
            <a:avLst/>
          </a:prstGeom>
          <a:solidFill>
            <a:schemeClr val="lt1"/>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0"/>
          <p:cNvSpPr/>
          <p:nvPr/>
        </p:nvSpPr>
        <p:spPr>
          <a:xfrm>
            <a:off x="7763256" y="4114800"/>
            <a:ext cx="292608" cy="292608"/>
          </a:xfrm>
          <a:prstGeom prst="ellipse">
            <a:avLst/>
          </a:prstGeom>
          <a:solidFill>
            <a:schemeClr val="dk2"/>
          </a:solidFill>
          <a:ln cap="flat" cmpd="sng" w="158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0"/>
          <p:cNvSpPr/>
          <p:nvPr/>
        </p:nvSpPr>
        <p:spPr>
          <a:xfrm>
            <a:off x="548640" y="4590288"/>
            <a:ext cx="7726680" cy="54864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0"/>
          <p:cNvSpPr txBox="1"/>
          <p:nvPr/>
        </p:nvSpPr>
        <p:spPr>
          <a:xfrm>
            <a:off x="685800" y="4645152"/>
            <a:ext cx="24231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1" i="0" lang="en-US" sz="1500" u="none" cap="none" strike="noStrike">
                <a:solidFill>
                  <a:schemeClr val="dk1"/>
                </a:solidFill>
                <a:latin typeface="Calibri"/>
                <a:ea typeface="Calibri"/>
                <a:cs typeface="Calibri"/>
                <a:sym typeface="Calibri"/>
              </a:rPr>
              <a:t>Relay (goal)</a:t>
            </a:r>
            <a:endParaRPr b="0" i="0" sz="1500" u="none" cap="none" strike="noStrike">
              <a:solidFill>
                <a:schemeClr val="dk1"/>
              </a:solidFill>
              <a:latin typeface="Calibri"/>
              <a:ea typeface="Calibri"/>
              <a:cs typeface="Calibri"/>
              <a:sym typeface="Calibri"/>
            </a:endParaRPr>
          </a:p>
        </p:txBody>
      </p:sp>
      <p:sp>
        <p:nvSpPr>
          <p:cNvPr id="256" name="Google Shape;256;p10"/>
          <p:cNvSpPr txBox="1"/>
          <p:nvPr/>
        </p:nvSpPr>
        <p:spPr>
          <a:xfrm>
            <a:off x="685800" y="4901184"/>
            <a:ext cx="2423160" cy="219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Not yet built</a:t>
            </a:r>
            <a:endParaRPr b="0" i="0" sz="1000" u="none" cap="none" strike="noStrike">
              <a:solidFill>
                <a:schemeClr val="dk1"/>
              </a:solidFill>
              <a:latin typeface="Calibri"/>
              <a:ea typeface="Calibri"/>
              <a:cs typeface="Calibri"/>
              <a:sym typeface="Calibri"/>
            </a:endParaRPr>
          </a:p>
        </p:txBody>
      </p:sp>
      <p:sp>
        <p:nvSpPr>
          <p:cNvPr id="257" name="Google Shape;257;p10"/>
          <p:cNvSpPr/>
          <p:nvPr/>
        </p:nvSpPr>
        <p:spPr>
          <a:xfrm>
            <a:off x="3374136" y="4718304"/>
            <a:ext cx="292608" cy="292608"/>
          </a:xfrm>
          <a:prstGeom prst="ellipse">
            <a:avLst/>
          </a:prstGeom>
          <a:solidFill>
            <a:schemeClr val="lt1"/>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0"/>
          <p:cNvSpPr/>
          <p:nvPr/>
        </p:nvSpPr>
        <p:spPr>
          <a:xfrm>
            <a:off x="3374136" y="4718304"/>
            <a:ext cx="292608" cy="292608"/>
          </a:xfrm>
          <a:prstGeom prst="pie">
            <a:avLst>
              <a:gd fmla="val 16200000" name="adj1"/>
              <a:gd fmla="val 1080000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0"/>
          <p:cNvSpPr/>
          <p:nvPr/>
        </p:nvSpPr>
        <p:spPr>
          <a:xfrm>
            <a:off x="4105656" y="4718304"/>
            <a:ext cx="292608" cy="292608"/>
          </a:xfrm>
          <a:prstGeom prst="ellipse">
            <a:avLst/>
          </a:prstGeom>
          <a:solidFill>
            <a:schemeClr val="lt1"/>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0"/>
          <p:cNvSpPr/>
          <p:nvPr/>
        </p:nvSpPr>
        <p:spPr>
          <a:xfrm>
            <a:off x="4105656" y="4718304"/>
            <a:ext cx="292608" cy="292608"/>
          </a:xfrm>
          <a:prstGeom prst="pie">
            <a:avLst>
              <a:gd fmla="val 16200000" name="adj1"/>
              <a:gd fmla="val 1080000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0"/>
          <p:cNvSpPr/>
          <p:nvPr/>
        </p:nvSpPr>
        <p:spPr>
          <a:xfrm>
            <a:off x="4837176" y="4718304"/>
            <a:ext cx="292608" cy="292608"/>
          </a:xfrm>
          <a:prstGeom prst="ellipse">
            <a:avLst/>
          </a:prstGeom>
          <a:solidFill>
            <a:schemeClr val="lt1"/>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0"/>
          <p:cNvSpPr/>
          <p:nvPr/>
        </p:nvSpPr>
        <p:spPr>
          <a:xfrm>
            <a:off x="4837176" y="4718304"/>
            <a:ext cx="292608" cy="292608"/>
          </a:xfrm>
          <a:prstGeom prst="ellipse">
            <a:avLst/>
          </a:prstGeom>
          <a:solidFill>
            <a:schemeClr val="accent1"/>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0"/>
          <p:cNvSpPr/>
          <p:nvPr/>
        </p:nvSpPr>
        <p:spPr>
          <a:xfrm>
            <a:off x="5568696" y="4718304"/>
            <a:ext cx="292608" cy="292608"/>
          </a:xfrm>
          <a:prstGeom prst="ellipse">
            <a:avLst/>
          </a:prstGeom>
          <a:solidFill>
            <a:schemeClr val="lt1"/>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0"/>
          <p:cNvSpPr/>
          <p:nvPr/>
        </p:nvSpPr>
        <p:spPr>
          <a:xfrm>
            <a:off x="5568696" y="4718304"/>
            <a:ext cx="292608" cy="292608"/>
          </a:xfrm>
          <a:prstGeom prst="ellipse">
            <a:avLst/>
          </a:prstGeom>
          <a:solidFill>
            <a:schemeClr val="accent1"/>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0"/>
          <p:cNvSpPr/>
          <p:nvPr/>
        </p:nvSpPr>
        <p:spPr>
          <a:xfrm>
            <a:off x="6300216" y="4718304"/>
            <a:ext cx="292608" cy="292608"/>
          </a:xfrm>
          <a:prstGeom prst="ellipse">
            <a:avLst/>
          </a:prstGeom>
          <a:solidFill>
            <a:schemeClr val="lt1"/>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0"/>
          <p:cNvSpPr/>
          <p:nvPr/>
        </p:nvSpPr>
        <p:spPr>
          <a:xfrm>
            <a:off x="6300216" y="4718304"/>
            <a:ext cx="292608" cy="292608"/>
          </a:xfrm>
          <a:prstGeom prst="ellipse">
            <a:avLst/>
          </a:prstGeom>
          <a:solidFill>
            <a:schemeClr val="accent1"/>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0"/>
          <p:cNvSpPr/>
          <p:nvPr/>
        </p:nvSpPr>
        <p:spPr>
          <a:xfrm>
            <a:off x="7031736" y="4718304"/>
            <a:ext cx="292608" cy="292608"/>
          </a:xfrm>
          <a:prstGeom prst="ellipse">
            <a:avLst/>
          </a:prstGeom>
          <a:solidFill>
            <a:schemeClr val="lt1"/>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0"/>
          <p:cNvSpPr/>
          <p:nvPr/>
        </p:nvSpPr>
        <p:spPr>
          <a:xfrm>
            <a:off x="7031736" y="4718304"/>
            <a:ext cx="292608" cy="292608"/>
          </a:xfrm>
          <a:prstGeom prst="ellipse">
            <a:avLst/>
          </a:prstGeom>
          <a:solidFill>
            <a:schemeClr val="accent1"/>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0"/>
          <p:cNvSpPr/>
          <p:nvPr/>
        </p:nvSpPr>
        <p:spPr>
          <a:xfrm>
            <a:off x="7763256" y="4718304"/>
            <a:ext cx="292608" cy="292608"/>
          </a:xfrm>
          <a:prstGeom prst="ellipse">
            <a:avLst/>
          </a:prstGeom>
          <a:solidFill>
            <a:schemeClr val="lt1"/>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0"/>
          <p:cNvSpPr/>
          <p:nvPr/>
        </p:nvSpPr>
        <p:spPr>
          <a:xfrm>
            <a:off x="7763256" y="4718304"/>
            <a:ext cx="292608" cy="292608"/>
          </a:xfrm>
          <a:prstGeom prst="pie">
            <a:avLst>
              <a:gd fmla="val 16200000" name="adj1"/>
              <a:gd fmla="val 1080000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0"/>
          <p:cNvSpPr txBox="1"/>
          <p:nvPr/>
        </p:nvSpPr>
        <p:spPr>
          <a:xfrm>
            <a:off x="548640" y="5239512"/>
            <a:ext cx="77266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 strong   ◕ moderate-high   ◐ moderate-low   ◔ low   ○ none  ·  Scores from our competitive landscape analysis</a:t>
            </a:r>
            <a:endParaRPr b="0" i="0" sz="1000" u="none" cap="none" strike="noStrike">
              <a:solidFill>
                <a:schemeClr val="dk1"/>
              </a:solidFill>
              <a:latin typeface="Calibri"/>
              <a:ea typeface="Calibri"/>
              <a:cs typeface="Calibri"/>
              <a:sym typeface="Calibri"/>
            </a:endParaRPr>
          </a:p>
        </p:txBody>
      </p:sp>
      <p:sp>
        <p:nvSpPr>
          <p:cNvPr id="272" name="Google Shape;272;p10"/>
          <p:cNvSpPr/>
          <p:nvPr/>
        </p:nvSpPr>
        <p:spPr>
          <a:xfrm>
            <a:off x="8595360" y="1371600"/>
            <a:ext cx="3047695" cy="4114800"/>
          </a:xfrm>
          <a:prstGeom prst="roundRect">
            <a:avLst>
              <a:gd fmla="val 36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0"/>
          <p:cNvSpPr txBox="1"/>
          <p:nvPr/>
        </p:nvSpPr>
        <p:spPr>
          <a:xfrm>
            <a:off x="8869680" y="1554480"/>
            <a:ext cx="2499055"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200"/>
              <a:buFont typeface="Calibri"/>
              <a:buNone/>
            </a:pPr>
            <a:r>
              <a:rPr b="1" i="0" lang="en-US" sz="1200" u="none" cap="none" strike="noStrike">
                <a:solidFill>
                  <a:schemeClr val="accent1"/>
                </a:solidFill>
                <a:latin typeface="Calibri"/>
                <a:ea typeface="Calibri"/>
                <a:cs typeface="Calibri"/>
                <a:sym typeface="Calibri"/>
              </a:rPr>
              <a:t>HOW WE'RE DIFFERENT</a:t>
            </a:r>
            <a:endParaRPr b="0" i="0" sz="1200" u="none" cap="none" strike="noStrike">
              <a:solidFill>
                <a:schemeClr val="dk1"/>
              </a:solidFill>
              <a:latin typeface="Calibri"/>
              <a:ea typeface="Calibri"/>
              <a:cs typeface="Calibri"/>
              <a:sym typeface="Calibri"/>
            </a:endParaRPr>
          </a:p>
        </p:txBody>
      </p:sp>
      <p:sp>
        <p:nvSpPr>
          <p:cNvPr id="274" name="Google Shape;274;p10"/>
          <p:cNvSpPr txBox="1"/>
          <p:nvPr/>
        </p:nvSpPr>
        <p:spPr>
          <a:xfrm>
            <a:off x="8869680" y="1920240"/>
            <a:ext cx="2499055" cy="1051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Paid at pickup</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Campus Swap pays sellers ~20% only after an item sells</a:t>
            </a:r>
            <a:endParaRPr b="0" i="0" sz="1600" u="none" cap="none" strike="noStrike">
              <a:solidFill>
                <a:schemeClr val="dk1"/>
              </a:solidFill>
              <a:latin typeface="Calibri"/>
              <a:ea typeface="Calibri"/>
              <a:cs typeface="Calibri"/>
              <a:sym typeface="Calibri"/>
            </a:endParaRPr>
          </a:p>
        </p:txBody>
      </p:sp>
      <p:sp>
        <p:nvSpPr>
          <p:cNvPr id="275" name="Google Shape;275;p10"/>
          <p:cNvSpPr txBox="1"/>
          <p:nvPr/>
        </p:nvSpPr>
        <p:spPr>
          <a:xfrm>
            <a:off x="8869680" y="3063240"/>
            <a:ext cx="2499055" cy="1051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Built for Duke</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Campus Swap is at UNC; Campus Reclaimed is at Wake Forest</a:t>
            </a:r>
            <a:endParaRPr b="0" i="0" sz="1600" u="none" cap="none" strike="noStrike">
              <a:solidFill>
                <a:schemeClr val="dk1"/>
              </a:solidFill>
              <a:latin typeface="Calibri"/>
              <a:ea typeface="Calibri"/>
              <a:cs typeface="Calibri"/>
              <a:sym typeface="Calibri"/>
            </a:endParaRPr>
          </a:p>
        </p:txBody>
      </p:sp>
      <p:sp>
        <p:nvSpPr>
          <p:cNvPr id="276" name="Google Shape;276;p10"/>
          <p:cNvSpPr txBox="1"/>
          <p:nvPr/>
        </p:nvSpPr>
        <p:spPr>
          <a:xfrm>
            <a:off x="8869680" y="4206240"/>
            <a:ext cx="2499055" cy="1051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Big furniture, delivered</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accent5"/>
              </a:buClr>
              <a:buSzPts val="1400"/>
              <a:buFont typeface="Calibri"/>
              <a:buNone/>
            </a:pPr>
            <a:r>
              <a:rPr b="0" i="0" lang="en-US" sz="1400" u="none" cap="none" strike="noStrike">
                <a:solidFill>
                  <a:schemeClr val="accent5"/>
                </a:solidFill>
                <a:latin typeface="Calibri"/>
                <a:ea typeface="Calibri"/>
                <a:cs typeface="Calibri"/>
                <a:sym typeface="Calibri"/>
              </a:rPr>
              <a:t>Campus Reclaimed sells mostly small items (top furniture price $99) and doesn't deliver</a:t>
            </a:r>
            <a:endParaRPr b="0" i="0" sz="1600" u="none" cap="none" strike="noStrike">
              <a:solidFill>
                <a:schemeClr val="dk1"/>
              </a:solidFill>
              <a:latin typeface="Calibri"/>
              <a:ea typeface="Calibri"/>
              <a:cs typeface="Calibri"/>
              <a:sym typeface="Calibri"/>
            </a:endParaRPr>
          </a:p>
        </p:txBody>
      </p:sp>
      <p:sp>
        <p:nvSpPr>
          <p:cNvPr id="277" name="Google Shape;277;p10"/>
          <p:cNvSpPr/>
          <p:nvPr/>
        </p:nvSpPr>
        <p:spPr>
          <a:xfrm>
            <a:off x="548640" y="5577840"/>
            <a:ext cx="11094415" cy="594360"/>
          </a:xfrm>
          <a:prstGeom prst="roundRect">
            <a:avLst>
              <a:gd fmla="val 18462" name="adj"/>
            </a:avLst>
          </a:prstGeom>
          <a:solidFill>
            <a:schemeClr val="lt1"/>
          </a:solidFill>
          <a:ln cap="flat" cmpd="sng" w="12700">
            <a:solidFill>
              <a:srgbClr val="BFD6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0"/>
          <p:cNvSpPr txBox="1"/>
          <p:nvPr/>
        </p:nvSpPr>
        <p:spPr>
          <a:xfrm>
            <a:off x="822960" y="5577840"/>
            <a:ext cx="10545775"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500"/>
              <a:buFont typeface="Calibri"/>
              <a:buNone/>
            </a:pPr>
            <a:r>
              <a:rPr b="1" i="0" lang="en-US" sz="1500" u="none" cap="none" strike="noStrike">
                <a:solidFill>
                  <a:schemeClr val="accent1"/>
                </a:solidFill>
                <a:latin typeface="Calibri"/>
                <a:ea typeface="Calibri"/>
                <a:cs typeface="Calibri"/>
                <a:sym typeface="Calibri"/>
              </a:rPr>
              <a:t>Unfair advantage, honestly:  </a:t>
            </a:r>
            <a:r>
              <a:rPr b="0" i="0" lang="en-US" sz="1500" u="none" cap="none" strike="noStrike">
                <a:solidFill>
                  <a:schemeClr val="dk1"/>
                </a:solidFill>
                <a:latin typeface="Calibri"/>
                <a:ea typeface="Calibri"/>
                <a:cs typeface="Calibri"/>
                <a:sym typeface="Calibri"/>
              </a:rPr>
              <a:t>not proven yet. We're building it from Duke-first density, .edu trust, and our own campus pricing data.</a:t>
            </a:r>
            <a:endParaRPr b="0" i="0" sz="1500" u="none" cap="none" strike="noStrike">
              <a:solidFill>
                <a:schemeClr val="dk1"/>
              </a:solidFill>
              <a:latin typeface="Calibri"/>
              <a:ea typeface="Calibri"/>
              <a:cs typeface="Calibri"/>
              <a:sym typeface="Calibri"/>
            </a:endParaRPr>
          </a:p>
        </p:txBody>
      </p:sp>
      <p:sp>
        <p:nvSpPr>
          <p:cNvPr id="279" name="Google Shape;279;p10"/>
          <p:cNvSpPr txBox="1"/>
          <p:nvPr>
            <p:ph idx="4294967295" type="sldNum"/>
          </p:nvPr>
        </p:nvSpPr>
        <p:spPr>
          <a:xfrm>
            <a:off x="11183112" y="640080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1"/>
          <p:cNvSpPr txBox="1"/>
          <p:nvPr>
            <p:ph type="title"/>
          </p:nvPr>
        </p:nvSpPr>
        <p:spPr>
          <a:xfrm>
            <a:off x="548847" y="271761"/>
            <a:ext cx="11094300" cy="7773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sz="3300"/>
              <a:t>Initial Success Metrics</a:t>
            </a:r>
            <a:endParaRPr sz="3300"/>
          </a:p>
        </p:txBody>
      </p:sp>
      <p:sp>
        <p:nvSpPr>
          <p:cNvPr id="286" name="Google Shape;286;p11"/>
          <p:cNvSpPr/>
          <p:nvPr/>
        </p:nvSpPr>
        <p:spPr>
          <a:xfrm>
            <a:off x="2047999" y="1399951"/>
            <a:ext cx="8424300" cy="4058100"/>
          </a:xfrm>
          <a:prstGeom prst="roundRect">
            <a:avLst>
              <a:gd fmla="val 4211" name="adj"/>
            </a:avLst>
          </a:prstGeom>
          <a:solidFill>
            <a:schemeClr val="dk2"/>
          </a:solidFill>
          <a:ln>
            <a:noFill/>
          </a:ln>
        </p:spPr>
        <p:txBody>
          <a:bodyPr anchorCtr="0" anchor="ctr" bIns="142375" lIns="142375" spcFirstLastPara="1" rIns="142375" wrap="square" tIns="142375">
            <a:noAutofit/>
          </a:bodyPr>
          <a:lstStyle/>
          <a:p>
            <a:pPr indent="0" lvl="0" marL="0" rtl="0" algn="l">
              <a:spcBef>
                <a:spcPts val="0"/>
              </a:spcBef>
              <a:spcAft>
                <a:spcPts val="0"/>
              </a:spcAft>
              <a:buNone/>
            </a:pPr>
            <a:r>
              <a:t/>
            </a:r>
            <a:endParaRPr/>
          </a:p>
        </p:txBody>
      </p:sp>
      <p:sp>
        <p:nvSpPr>
          <p:cNvPr id="287" name="Google Shape;287;p11"/>
          <p:cNvSpPr txBox="1"/>
          <p:nvPr/>
        </p:nvSpPr>
        <p:spPr>
          <a:xfrm>
            <a:off x="2475169" y="1713207"/>
            <a:ext cx="7570200" cy="42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1"/>
              </a:buClr>
              <a:buSzPts val="1869"/>
              <a:buFont typeface="Calibri"/>
              <a:buNone/>
            </a:pPr>
            <a:r>
              <a:rPr b="1" i="0" lang="en-US" sz="1869" u="none" cap="none" strike="noStrike">
                <a:solidFill>
                  <a:schemeClr val="accent1"/>
                </a:solidFill>
                <a:latin typeface="Calibri"/>
                <a:ea typeface="Calibri"/>
                <a:cs typeface="Calibri"/>
                <a:sym typeface="Calibri"/>
              </a:rPr>
              <a:t>INITIAL SUCCESS INDICATORS  →  HOW WE'LL MEASURE THEM</a:t>
            </a:r>
            <a:endParaRPr b="0" i="0" sz="1869" u="none" cap="none" strike="noStrike">
              <a:solidFill>
                <a:schemeClr val="dk1"/>
              </a:solidFill>
              <a:latin typeface="Calibri"/>
              <a:ea typeface="Calibri"/>
              <a:cs typeface="Calibri"/>
              <a:sym typeface="Calibri"/>
            </a:endParaRPr>
          </a:p>
        </p:txBody>
      </p:sp>
      <p:sp>
        <p:nvSpPr>
          <p:cNvPr id="288" name="Google Shape;288;p11"/>
          <p:cNvSpPr txBox="1"/>
          <p:nvPr/>
        </p:nvSpPr>
        <p:spPr>
          <a:xfrm>
            <a:off x="2475169" y="2325482"/>
            <a:ext cx="7570200" cy="939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492"/>
              <a:buFont typeface="Calibri"/>
              <a:buNone/>
            </a:pPr>
            <a:r>
              <a:rPr b="1" i="0" lang="en-US" sz="2492" u="none" cap="none" strike="noStrike">
                <a:solidFill>
                  <a:schemeClr val="lt1"/>
                </a:solidFill>
                <a:latin typeface="Calibri"/>
                <a:ea typeface="Calibri"/>
                <a:cs typeface="Calibri"/>
                <a:sym typeface="Calibri"/>
              </a:rPr>
              <a:t>Student adoption grows</a:t>
            </a:r>
            <a:endParaRPr b="0" i="0" sz="2492"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accent5"/>
              </a:buClr>
              <a:buSzPts val="2180"/>
              <a:buFont typeface="Calibri"/>
              <a:buNone/>
            </a:pPr>
            <a:r>
              <a:rPr b="0" i="0" lang="en-US" sz="2180" u="none" cap="none" strike="noStrike">
                <a:solidFill>
                  <a:schemeClr val="accent5"/>
                </a:solidFill>
                <a:latin typeface="Calibri"/>
                <a:ea typeface="Calibri"/>
                <a:cs typeface="Calibri"/>
                <a:sym typeface="Calibri"/>
              </a:rPr>
              <a:t>offer acceptance rate</a:t>
            </a:r>
            <a:r>
              <a:rPr lang="en-US" sz="2180">
                <a:solidFill>
                  <a:schemeClr val="accent5"/>
                </a:solidFill>
                <a:latin typeface="Calibri"/>
                <a:ea typeface="Calibri"/>
                <a:cs typeface="Calibri"/>
                <a:sym typeface="Calibri"/>
              </a:rPr>
              <a:t> +</a:t>
            </a:r>
            <a:r>
              <a:rPr b="0" i="0" lang="en-US" sz="2180" u="none" cap="none" strike="noStrike">
                <a:solidFill>
                  <a:schemeClr val="accent5"/>
                </a:solidFill>
                <a:latin typeface="Calibri"/>
                <a:ea typeface="Calibri"/>
                <a:cs typeface="Calibri"/>
                <a:sym typeface="Calibri"/>
              </a:rPr>
              <a:t> </a:t>
            </a:r>
            <a:r>
              <a:rPr b="0" i="0" lang="en-US" sz="2180" u="none" cap="none" strike="noStrike">
                <a:solidFill>
                  <a:schemeClr val="accent5"/>
                </a:solidFill>
                <a:latin typeface="Calibri"/>
                <a:ea typeface="Calibri"/>
                <a:cs typeface="Calibri"/>
                <a:sym typeface="Calibri"/>
              </a:rPr>
              <a:t>inventory reserved before August</a:t>
            </a:r>
            <a:endParaRPr b="0" i="0" sz="2492" u="none" cap="none" strike="noStrike">
              <a:solidFill>
                <a:schemeClr val="dk1"/>
              </a:solidFill>
              <a:latin typeface="Calibri"/>
              <a:ea typeface="Calibri"/>
              <a:cs typeface="Calibri"/>
              <a:sym typeface="Calibri"/>
            </a:endParaRPr>
          </a:p>
        </p:txBody>
      </p:sp>
      <p:sp>
        <p:nvSpPr>
          <p:cNvPr id="289" name="Google Shape;289;p11"/>
          <p:cNvSpPr txBox="1"/>
          <p:nvPr/>
        </p:nvSpPr>
        <p:spPr>
          <a:xfrm>
            <a:off x="2475169" y="3322209"/>
            <a:ext cx="7570200" cy="939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492"/>
              <a:buFont typeface="Calibri"/>
              <a:buNone/>
            </a:pPr>
            <a:r>
              <a:rPr b="1" i="0" lang="en-US" sz="2492" u="none" cap="none" strike="noStrike">
                <a:solidFill>
                  <a:schemeClr val="lt1"/>
                </a:solidFill>
                <a:latin typeface="Calibri"/>
                <a:ea typeface="Calibri"/>
                <a:cs typeface="Calibri"/>
                <a:sym typeface="Calibri"/>
              </a:rPr>
              <a:t>Time and burden saved</a:t>
            </a:r>
            <a:endParaRPr b="0" i="0" sz="2492"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accent5"/>
              </a:buClr>
              <a:buSzPts val="2180"/>
              <a:buFont typeface="Calibri"/>
              <a:buNone/>
            </a:pPr>
            <a:r>
              <a:rPr b="0" i="0" lang="en-US" sz="2180" u="none" cap="none" strike="noStrike">
                <a:solidFill>
                  <a:schemeClr val="accent5"/>
                </a:solidFill>
                <a:latin typeface="Calibri"/>
                <a:ea typeface="Calibri"/>
                <a:cs typeface="Calibri"/>
                <a:sym typeface="Calibri"/>
              </a:rPr>
              <a:t>on-time pickup rate</a:t>
            </a:r>
            <a:r>
              <a:rPr lang="en-US" sz="2180">
                <a:solidFill>
                  <a:schemeClr val="accent5"/>
                </a:solidFill>
                <a:latin typeface="Calibri"/>
                <a:ea typeface="Calibri"/>
                <a:cs typeface="Calibri"/>
                <a:sym typeface="Calibri"/>
              </a:rPr>
              <a:t> +</a:t>
            </a:r>
            <a:r>
              <a:rPr b="0" i="0" lang="en-US" sz="2180" u="none" cap="none" strike="noStrike">
                <a:solidFill>
                  <a:schemeClr val="accent5"/>
                </a:solidFill>
                <a:latin typeface="Calibri"/>
                <a:ea typeface="Calibri"/>
                <a:cs typeface="Calibri"/>
                <a:sym typeface="Calibri"/>
              </a:rPr>
              <a:t> post-move satisfaction rating</a:t>
            </a:r>
            <a:endParaRPr b="0" i="0" sz="2492" u="none" cap="none" strike="noStrike">
              <a:solidFill>
                <a:schemeClr val="dk1"/>
              </a:solidFill>
              <a:latin typeface="Calibri"/>
              <a:ea typeface="Calibri"/>
              <a:cs typeface="Calibri"/>
              <a:sym typeface="Calibri"/>
            </a:endParaRPr>
          </a:p>
        </p:txBody>
      </p:sp>
      <p:sp>
        <p:nvSpPr>
          <p:cNvPr id="290" name="Google Shape;290;p11"/>
          <p:cNvSpPr txBox="1"/>
          <p:nvPr/>
        </p:nvSpPr>
        <p:spPr>
          <a:xfrm>
            <a:off x="2475169" y="4318935"/>
            <a:ext cx="7570200" cy="939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492"/>
              <a:buFont typeface="Calibri"/>
              <a:buNone/>
            </a:pPr>
            <a:r>
              <a:rPr b="1" i="0" lang="en-US" sz="2492" u="none" cap="none" strike="noStrike">
                <a:solidFill>
                  <a:schemeClr val="lt1"/>
                </a:solidFill>
                <a:latin typeface="Calibri"/>
                <a:ea typeface="Calibri"/>
                <a:cs typeface="Calibri"/>
                <a:sym typeface="Calibri"/>
              </a:rPr>
              <a:t>Relay earns revenue</a:t>
            </a:r>
            <a:endParaRPr b="0" i="0" sz="2492"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accent5"/>
              </a:buClr>
              <a:buSzPts val="2180"/>
              <a:buFont typeface="Calibri"/>
              <a:buNone/>
            </a:pPr>
            <a:r>
              <a:rPr b="0" i="0" lang="en-US" sz="2180" u="none" cap="none" strike="noStrike">
                <a:solidFill>
                  <a:schemeClr val="accent5"/>
                </a:solidFill>
                <a:latin typeface="Calibri"/>
                <a:ea typeface="Calibri"/>
                <a:cs typeface="Calibri"/>
                <a:sym typeface="Calibri"/>
              </a:rPr>
              <a:t>contribution margin per item (pilot north star)</a:t>
            </a:r>
            <a:endParaRPr b="0" i="0" sz="2492"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2"/>
          <p:cNvSpPr/>
          <p:nvPr/>
        </p:nvSpPr>
        <p:spPr>
          <a:xfrm>
            <a:off x="5189000" y="2272825"/>
            <a:ext cx="5260200" cy="43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7" name="Google Shape;297;p12"/>
          <p:cNvSpPr txBox="1"/>
          <p:nvPr>
            <p:ph type="title"/>
          </p:nvPr>
        </p:nvSpPr>
        <p:spPr>
          <a:xfrm>
            <a:off x="548640" y="320040"/>
            <a:ext cx="11094415" cy="77724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3000"/>
              <a:buFont typeface="Arial"/>
              <a:buNone/>
            </a:pPr>
            <a:r>
              <a:rPr b="1" lang="en-US" sz="3000">
                <a:solidFill>
                  <a:schemeClr val="dk2"/>
                </a:solidFill>
                <a:latin typeface="Arial"/>
                <a:ea typeface="Arial"/>
                <a:cs typeface="Arial"/>
                <a:sym typeface="Arial"/>
              </a:rPr>
              <a:t>Customer segments and early adopters</a:t>
            </a:r>
            <a:endParaRPr sz="3000"/>
          </a:p>
        </p:txBody>
      </p:sp>
      <p:sp>
        <p:nvSpPr>
          <p:cNvPr id="298" name="Google Shape;298;p12"/>
          <p:cNvSpPr/>
          <p:nvPr/>
        </p:nvSpPr>
        <p:spPr>
          <a:xfrm>
            <a:off x="548640" y="1325880"/>
            <a:ext cx="11094415" cy="685800"/>
          </a:xfrm>
          <a:prstGeom prst="roundRect">
            <a:avLst>
              <a:gd fmla="val 16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2"/>
          <p:cNvSpPr/>
          <p:nvPr/>
        </p:nvSpPr>
        <p:spPr>
          <a:xfrm>
            <a:off x="713232" y="1417320"/>
            <a:ext cx="502920" cy="50292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0" name="Google Shape;300;p12"/>
          <p:cNvPicPr preferRelativeResize="0"/>
          <p:nvPr/>
        </p:nvPicPr>
        <p:blipFill rotWithShape="1">
          <a:blip r:embed="rId3">
            <a:alphaModFix/>
          </a:blip>
          <a:srcRect b="0" l="0" r="0" t="0"/>
          <a:stretch/>
        </p:blipFill>
        <p:spPr>
          <a:xfrm>
            <a:off x="838962" y="1543050"/>
            <a:ext cx="251460" cy="251460"/>
          </a:xfrm>
          <a:prstGeom prst="rect">
            <a:avLst/>
          </a:prstGeom>
          <a:noFill/>
          <a:ln>
            <a:noFill/>
          </a:ln>
        </p:spPr>
      </p:pic>
      <p:sp>
        <p:nvSpPr>
          <p:cNvPr id="301" name="Google Shape;301;p12"/>
          <p:cNvSpPr txBox="1"/>
          <p:nvPr/>
        </p:nvSpPr>
        <p:spPr>
          <a:xfrm>
            <a:off x="1417320" y="1325880"/>
            <a:ext cx="9997135"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sz="1700" u="none" cap="none" strike="noStrike">
                <a:solidFill>
                  <a:schemeClr val="dk1"/>
                </a:solidFill>
                <a:latin typeface="Calibri"/>
                <a:ea typeface="Calibri"/>
                <a:cs typeface="Calibri"/>
                <a:sym typeface="Calibri"/>
              </a:rPr>
              <a:t>Primary market:  </a:t>
            </a:r>
            <a:r>
              <a:rPr b="0" i="0" lang="en-US" sz="1700" u="none" cap="none" strike="noStrike">
                <a:solidFill>
                  <a:schemeClr val="dk1"/>
                </a:solidFill>
                <a:latin typeface="Calibri"/>
                <a:ea typeface="Calibri"/>
                <a:cs typeface="Calibri"/>
                <a:sym typeface="Calibri"/>
              </a:rPr>
              <a:t>Duke students and staff in off-campus apartments who move out in May or move in in August</a:t>
            </a:r>
            <a:endParaRPr b="0" i="0" sz="1700" u="none" cap="none" strike="noStrike">
              <a:solidFill>
                <a:schemeClr val="dk1"/>
              </a:solidFill>
              <a:latin typeface="Calibri"/>
              <a:ea typeface="Calibri"/>
              <a:cs typeface="Calibri"/>
              <a:sym typeface="Calibri"/>
            </a:endParaRPr>
          </a:p>
        </p:txBody>
      </p:sp>
      <p:sp>
        <p:nvSpPr>
          <p:cNvPr id="302" name="Google Shape;302;p12"/>
          <p:cNvSpPr/>
          <p:nvPr/>
        </p:nvSpPr>
        <p:spPr>
          <a:xfrm>
            <a:off x="4304115" y="2811875"/>
            <a:ext cx="640200" cy="640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3" name="Google Shape;303;p12"/>
          <p:cNvPicPr preferRelativeResize="0"/>
          <p:nvPr/>
        </p:nvPicPr>
        <p:blipFill rotWithShape="1">
          <a:blip r:embed="rId4">
            <a:alphaModFix/>
          </a:blip>
          <a:srcRect b="0" l="0" r="0" t="0"/>
          <a:stretch/>
        </p:blipFill>
        <p:spPr>
          <a:xfrm>
            <a:off x="4464135" y="2971895"/>
            <a:ext cx="320040" cy="320040"/>
          </a:xfrm>
          <a:prstGeom prst="rect">
            <a:avLst/>
          </a:prstGeom>
          <a:noFill/>
          <a:ln>
            <a:noFill/>
          </a:ln>
        </p:spPr>
      </p:pic>
      <p:sp>
        <p:nvSpPr>
          <p:cNvPr id="304" name="Google Shape;304;p12"/>
          <p:cNvSpPr txBox="1"/>
          <p:nvPr/>
        </p:nvSpPr>
        <p:spPr>
          <a:xfrm>
            <a:off x="5081355" y="2811875"/>
            <a:ext cx="28803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Main sellers · May</a:t>
            </a:r>
            <a:endParaRPr b="0" i="0" sz="2000" u="none" cap="none" strike="noStrike">
              <a:solidFill>
                <a:schemeClr val="dk1"/>
              </a:solidFill>
              <a:latin typeface="Calibri"/>
              <a:ea typeface="Calibri"/>
              <a:cs typeface="Calibri"/>
              <a:sym typeface="Calibri"/>
            </a:endParaRPr>
          </a:p>
        </p:txBody>
      </p:sp>
      <p:sp>
        <p:nvSpPr>
          <p:cNvPr id="305" name="Google Shape;305;p12"/>
          <p:cNvSpPr txBox="1"/>
          <p:nvPr/>
        </p:nvSpPr>
        <p:spPr>
          <a:xfrm>
            <a:off x="4273290" y="5831990"/>
            <a:ext cx="3657600" cy="685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Students and staff moving out, plus students moving between apartments</a:t>
            </a:r>
            <a:endParaRPr b="0" i="0" sz="1600" u="none" cap="none" strike="noStrike">
              <a:solidFill>
                <a:schemeClr val="dk1"/>
              </a:solidFill>
              <a:latin typeface="Calibri"/>
              <a:ea typeface="Calibri"/>
              <a:cs typeface="Calibri"/>
              <a:sym typeface="Calibri"/>
            </a:endParaRPr>
          </a:p>
        </p:txBody>
      </p:sp>
      <p:sp>
        <p:nvSpPr>
          <p:cNvPr id="306" name="Google Shape;306;p12"/>
          <p:cNvSpPr/>
          <p:nvPr/>
        </p:nvSpPr>
        <p:spPr>
          <a:xfrm>
            <a:off x="4273300" y="3689928"/>
            <a:ext cx="3657600" cy="1755600"/>
          </a:xfrm>
          <a:prstGeom prst="roundRect">
            <a:avLst>
              <a:gd fmla="val 4800"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2"/>
          <p:cNvSpPr txBox="1"/>
          <p:nvPr/>
        </p:nvSpPr>
        <p:spPr>
          <a:xfrm>
            <a:off x="4501890" y="3854524"/>
            <a:ext cx="32004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200"/>
              <a:buFont typeface="Calibri"/>
              <a:buNone/>
            </a:pPr>
            <a:r>
              <a:rPr b="1" i="0" lang="en-US" sz="1200" u="none" cap="none" strike="noStrike">
                <a:solidFill>
                  <a:schemeClr val="accent1"/>
                </a:solidFill>
                <a:latin typeface="Calibri"/>
                <a:ea typeface="Calibri"/>
                <a:cs typeface="Calibri"/>
                <a:sym typeface="Calibri"/>
              </a:rPr>
              <a:t>EARLY ADOPTER</a:t>
            </a:r>
            <a:endParaRPr b="0" i="0" sz="1200" u="none" cap="none" strike="noStrike">
              <a:solidFill>
                <a:schemeClr val="dk1"/>
              </a:solidFill>
              <a:latin typeface="Calibri"/>
              <a:ea typeface="Calibri"/>
              <a:cs typeface="Calibri"/>
              <a:sym typeface="Calibri"/>
            </a:endParaRPr>
          </a:p>
        </p:txBody>
      </p:sp>
      <p:sp>
        <p:nvSpPr>
          <p:cNvPr id="308" name="Google Shape;308;p12"/>
          <p:cNvSpPr txBox="1"/>
          <p:nvPr/>
        </p:nvSpPr>
        <p:spPr>
          <a:xfrm>
            <a:off x="4501890" y="4128844"/>
            <a:ext cx="32004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Arial"/>
              <a:buNone/>
            </a:pPr>
            <a:r>
              <a:rPr b="1" i="0" lang="en-US" sz="1700" u="none" cap="none" strike="noStrike">
                <a:solidFill>
                  <a:schemeClr val="dk1"/>
                </a:solidFill>
                <a:latin typeface="Arial"/>
                <a:ea typeface="Arial"/>
                <a:cs typeface="Arial"/>
                <a:sym typeface="Arial"/>
              </a:rPr>
              <a:t>The Convenience-First Seller</a:t>
            </a:r>
            <a:endParaRPr b="0" i="0" sz="1700" u="none" cap="none" strike="noStrike">
              <a:solidFill>
                <a:schemeClr val="dk1"/>
              </a:solidFill>
              <a:latin typeface="Calibri"/>
              <a:ea typeface="Calibri"/>
              <a:cs typeface="Calibri"/>
              <a:sym typeface="Calibri"/>
            </a:endParaRPr>
          </a:p>
        </p:txBody>
      </p:sp>
      <p:sp>
        <p:nvSpPr>
          <p:cNvPr id="309" name="Google Shape;309;p12"/>
          <p:cNvSpPr txBox="1"/>
          <p:nvPr/>
        </p:nvSpPr>
        <p:spPr>
          <a:xfrm>
            <a:off x="4501890" y="4531180"/>
            <a:ext cx="3200400" cy="86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Leaving within days of finals, no car, would rather take less than haul it</a:t>
            </a:r>
            <a:endParaRPr b="0" i="0" sz="1500" u="none" cap="none" strike="noStrike">
              <a:solidFill>
                <a:schemeClr val="dk1"/>
              </a:solidFill>
              <a:latin typeface="Calibri"/>
              <a:ea typeface="Calibri"/>
              <a:cs typeface="Calibri"/>
              <a:sym typeface="Calibri"/>
            </a:endParaRPr>
          </a:p>
        </p:txBody>
      </p:sp>
      <p:sp>
        <p:nvSpPr>
          <p:cNvPr id="310" name="Google Shape;310;p12"/>
          <p:cNvSpPr/>
          <p:nvPr/>
        </p:nvSpPr>
        <p:spPr>
          <a:xfrm>
            <a:off x="8205235" y="2808929"/>
            <a:ext cx="640200" cy="640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1" name="Google Shape;311;p12"/>
          <p:cNvPicPr preferRelativeResize="0"/>
          <p:nvPr/>
        </p:nvPicPr>
        <p:blipFill rotWithShape="1">
          <a:blip r:embed="rId5">
            <a:alphaModFix/>
          </a:blip>
          <a:srcRect b="0" l="0" r="0" t="0"/>
          <a:stretch/>
        </p:blipFill>
        <p:spPr>
          <a:xfrm>
            <a:off x="8365255" y="2968949"/>
            <a:ext cx="320040" cy="320040"/>
          </a:xfrm>
          <a:prstGeom prst="rect">
            <a:avLst/>
          </a:prstGeom>
          <a:noFill/>
          <a:ln>
            <a:noFill/>
          </a:ln>
        </p:spPr>
      </p:pic>
      <p:sp>
        <p:nvSpPr>
          <p:cNvPr id="312" name="Google Shape;312;p12"/>
          <p:cNvSpPr txBox="1"/>
          <p:nvPr/>
        </p:nvSpPr>
        <p:spPr>
          <a:xfrm>
            <a:off x="8982475" y="2808929"/>
            <a:ext cx="28803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Main buyers · August</a:t>
            </a:r>
            <a:endParaRPr b="0" i="0" sz="2000" u="none" cap="none" strike="noStrike">
              <a:solidFill>
                <a:schemeClr val="dk1"/>
              </a:solidFill>
              <a:latin typeface="Calibri"/>
              <a:ea typeface="Calibri"/>
              <a:cs typeface="Calibri"/>
              <a:sym typeface="Calibri"/>
            </a:endParaRPr>
          </a:p>
        </p:txBody>
      </p:sp>
      <p:sp>
        <p:nvSpPr>
          <p:cNvPr id="313" name="Google Shape;313;p12"/>
          <p:cNvSpPr txBox="1"/>
          <p:nvPr/>
        </p:nvSpPr>
        <p:spPr>
          <a:xfrm>
            <a:off x="8205223" y="5824428"/>
            <a:ext cx="3657600" cy="685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Incoming students and staff, especially graduate and professional students</a:t>
            </a:r>
            <a:endParaRPr b="0" i="0" sz="1600" u="none" cap="none" strike="noStrike">
              <a:solidFill>
                <a:schemeClr val="dk1"/>
              </a:solidFill>
              <a:latin typeface="Calibri"/>
              <a:ea typeface="Calibri"/>
              <a:cs typeface="Calibri"/>
              <a:sym typeface="Calibri"/>
            </a:endParaRPr>
          </a:p>
        </p:txBody>
      </p:sp>
      <p:sp>
        <p:nvSpPr>
          <p:cNvPr id="314" name="Google Shape;314;p12"/>
          <p:cNvSpPr/>
          <p:nvPr/>
        </p:nvSpPr>
        <p:spPr>
          <a:xfrm>
            <a:off x="8205225" y="3689928"/>
            <a:ext cx="3657600" cy="1755600"/>
          </a:xfrm>
          <a:prstGeom prst="roundRect">
            <a:avLst>
              <a:gd fmla="val 48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2"/>
          <p:cNvSpPr txBox="1"/>
          <p:nvPr/>
        </p:nvSpPr>
        <p:spPr>
          <a:xfrm>
            <a:off x="8433835" y="3854524"/>
            <a:ext cx="32004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EARLY ADOPTER</a:t>
            </a:r>
            <a:endParaRPr b="0" i="0" sz="1200" u="none" cap="none" strike="noStrike">
              <a:solidFill>
                <a:schemeClr val="dk1"/>
              </a:solidFill>
              <a:latin typeface="Calibri"/>
              <a:ea typeface="Calibri"/>
              <a:cs typeface="Calibri"/>
              <a:sym typeface="Calibri"/>
            </a:endParaRPr>
          </a:p>
        </p:txBody>
      </p:sp>
      <p:sp>
        <p:nvSpPr>
          <p:cNvPr id="316" name="Google Shape;316;p12"/>
          <p:cNvSpPr txBox="1"/>
          <p:nvPr/>
        </p:nvSpPr>
        <p:spPr>
          <a:xfrm>
            <a:off x="8433835" y="4128844"/>
            <a:ext cx="32004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Arial"/>
              <a:buNone/>
            </a:pPr>
            <a:r>
              <a:rPr b="1" i="0" lang="en-US" sz="1700" u="none" cap="none" strike="noStrike">
                <a:solidFill>
                  <a:schemeClr val="dk1"/>
                </a:solidFill>
                <a:latin typeface="Arial"/>
                <a:ea typeface="Arial"/>
                <a:cs typeface="Arial"/>
                <a:sym typeface="Arial"/>
              </a:rPr>
              <a:t>The Out-of-Town Grad Student</a:t>
            </a:r>
            <a:endParaRPr b="0" i="0" sz="1700" u="none" cap="none" strike="noStrike">
              <a:solidFill>
                <a:schemeClr val="dk1"/>
              </a:solidFill>
              <a:latin typeface="Calibri"/>
              <a:ea typeface="Calibri"/>
              <a:cs typeface="Calibri"/>
              <a:sym typeface="Calibri"/>
            </a:endParaRPr>
          </a:p>
        </p:txBody>
      </p:sp>
      <p:sp>
        <p:nvSpPr>
          <p:cNvPr id="317" name="Google Shape;317;p12"/>
          <p:cNvSpPr txBox="1"/>
          <p:nvPr/>
        </p:nvSpPr>
        <p:spPr>
          <a:xfrm>
            <a:off x="8433835" y="4531180"/>
            <a:ext cx="3200400" cy="868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Arriving shortly before classes with no car and an empty, unfurnished apartment</a:t>
            </a:r>
            <a:endParaRPr b="0" i="0" sz="1500" u="none" cap="none" strike="noStrike">
              <a:solidFill>
                <a:schemeClr val="dk1"/>
              </a:solidFill>
              <a:latin typeface="Calibri"/>
              <a:ea typeface="Calibri"/>
              <a:cs typeface="Calibri"/>
              <a:sym typeface="Calibri"/>
            </a:endParaRPr>
          </a:p>
        </p:txBody>
      </p:sp>
      <p:sp>
        <p:nvSpPr>
          <p:cNvPr id="318" name="Google Shape;318;p12"/>
          <p:cNvSpPr/>
          <p:nvPr/>
        </p:nvSpPr>
        <p:spPr>
          <a:xfrm>
            <a:off x="326975" y="2665750"/>
            <a:ext cx="3230700" cy="3291900"/>
          </a:xfrm>
          <a:prstGeom prst="roundRect">
            <a:avLst>
              <a:gd fmla="val 339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2"/>
          <p:cNvSpPr txBox="1"/>
          <p:nvPr/>
        </p:nvSpPr>
        <p:spPr>
          <a:xfrm>
            <a:off x="601300" y="2894350"/>
            <a:ext cx="26820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200"/>
              <a:buFont typeface="Calibri"/>
              <a:buNone/>
            </a:pPr>
            <a:r>
              <a:rPr b="1" i="1" lang="en-US" sz="2000" u="none" cap="none" strike="noStrike">
                <a:solidFill>
                  <a:schemeClr val="accent1"/>
                </a:solidFill>
                <a:latin typeface="Calibri"/>
                <a:ea typeface="Calibri"/>
                <a:cs typeface="Calibri"/>
                <a:sym typeface="Calibri"/>
              </a:rPr>
              <a:t>WHY DUKE FIRST?</a:t>
            </a:r>
            <a:endParaRPr b="1" i="1" sz="2000" u="none" cap="none" strike="noStrike">
              <a:solidFill>
                <a:schemeClr val="dk1"/>
              </a:solidFill>
              <a:latin typeface="Calibri"/>
              <a:ea typeface="Calibri"/>
              <a:cs typeface="Calibri"/>
              <a:sym typeface="Calibri"/>
            </a:endParaRPr>
          </a:p>
        </p:txBody>
      </p:sp>
      <p:sp>
        <p:nvSpPr>
          <p:cNvPr id="320" name="Google Shape;320;p12"/>
          <p:cNvSpPr txBox="1"/>
          <p:nvPr/>
        </p:nvSpPr>
        <p:spPr>
          <a:xfrm>
            <a:off x="601300" y="3214390"/>
            <a:ext cx="26820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5400"/>
              <a:buFont typeface="Arial"/>
              <a:buNone/>
            </a:pPr>
            <a:r>
              <a:rPr b="1" i="0" lang="en-US" sz="5400" u="none" cap="none" strike="noStrike">
                <a:solidFill>
                  <a:schemeClr val="lt1"/>
                </a:solidFill>
                <a:latin typeface="Arial"/>
                <a:ea typeface="Arial"/>
                <a:cs typeface="Arial"/>
                <a:sym typeface="Arial"/>
              </a:rPr>
              <a:t>63%</a:t>
            </a:r>
            <a:endParaRPr b="0" i="0" sz="5400" u="none" cap="none" strike="noStrike">
              <a:solidFill>
                <a:schemeClr val="dk1"/>
              </a:solidFill>
              <a:latin typeface="Calibri"/>
              <a:ea typeface="Calibri"/>
              <a:cs typeface="Calibri"/>
              <a:sym typeface="Calibri"/>
            </a:endParaRPr>
          </a:p>
        </p:txBody>
      </p:sp>
      <p:sp>
        <p:nvSpPr>
          <p:cNvPr id="321" name="Google Shape;321;p12"/>
          <p:cNvSpPr txBox="1"/>
          <p:nvPr/>
        </p:nvSpPr>
        <p:spPr>
          <a:xfrm>
            <a:off x="601300" y="4037350"/>
            <a:ext cx="26820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of Duke's 17,499 students are graduate or professional (fall 2024)</a:t>
            </a:r>
            <a:endParaRPr b="0" i="0" sz="1500" u="none" cap="none" strike="noStrike">
              <a:solidFill>
                <a:schemeClr val="dk1"/>
              </a:solidFill>
              <a:latin typeface="Calibri"/>
              <a:ea typeface="Calibri"/>
              <a:cs typeface="Calibri"/>
              <a:sym typeface="Calibri"/>
            </a:endParaRPr>
          </a:p>
        </p:txBody>
      </p:sp>
      <p:sp>
        <p:nvSpPr>
          <p:cNvPr id="322" name="Google Shape;322;p12"/>
          <p:cNvSpPr txBox="1"/>
          <p:nvPr/>
        </p:nvSpPr>
        <p:spPr>
          <a:xfrm>
            <a:off x="601300" y="4768870"/>
            <a:ext cx="2682000" cy="64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4000"/>
              <a:buFont typeface="Arial"/>
              <a:buNone/>
            </a:pPr>
            <a:r>
              <a:rPr b="1" i="0" lang="en-US" sz="4000" u="none" cap="none" strike="noStrike">
                <a:solidFill>
                  <a:schemeClr val="lt1"/>
                </a:solidFill>
                <a:latin typeface="Arial"/>
                <a:ea typeface="Arial"/>
                <a:cs typeface="Arial"/>
                <a:sym typeface="Arial"/>
              </a:rPr>
              <a:t>1,189</a:t>
            </a:r>
            <a:endParaRPr b="0" i="0" sz="4000" u="none" cap="none" strike="noStrike">
              <a:solidFill>
                <a:schemeClr val="dk1"/>
              </a:solidFill>
              <a:latin typeface="Calibri"/>
              <a:ea typeface="Calibri"/>
              <a:cs typeface="Calibri"/>
              <a:sym typeface="Calibri"/>
            </a:endParaRPr>
          </a:p>
        </p:txBody>
      </p:sp>
      <p:sp>
        <p:nvSpPr>
          <p:cNvPr id="323" name="Google Shape;323;p12"/>
          <p:cNvSpPr txBox="1"/>
          <p:nvPr/>
        </p:nvSpPr>
        <p:spPr>
          <a:xfrm>
            <a:off x="601300" y="5408950"/>
            <a:ext cx="26820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new international graduate students arrived in fall 2025</a:t>
            </a:r>
            <a:endParaRPr b="0" i="0" sz="1500" u="none" cap="none" strike="noStrike">
              <a:solidFill>
                <a:schemeClr val="dk1"/>
              </a:solidFill>
              <a:latin typeface="Calibri"/>
              <a:ea typeface="Calibri"/>
              <a:cs typeface="Calibri"/>
              <a:sym typeface="Calibri"/>
            </a:endParaRPr>
          </a:p>
        </p:txBody>
      </p:sp>
      <p:sp>
        <p:nvSpPr>
          <p:cNvPr id="324" name="Google Shape;324;p12"/>
          <p:cNvSpPr txBox="1"/>
          <p:nvPr>
            <p:ph idx="4294967295" type="sldNum"/>
          </p:nvPr>
        </p:nvSpPr>
        <p:spPr>
          <a:xfrm>
            <a:off x="11183112" y="640080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
        <p:nvSpPr>
          <p:cNvPr id="325" name="Google Shape;325;p12"/>
          <p:cNvSpPr txBox="1"/>
          <p:nvPr/>
        </p:nvSpPr>
        <p:spPr>
          <a:xfrm>
            <a:off x="5277596" y="2170213"/>
            <a:ext cx="50808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000"/>
              <a:buFont typeface="Arial"/>
              <a:buNone/>
            </a:pPr>
            <a:r>
              <a:rPr b="1" lang="en-US" sz="2600">
                <a:solidFill>
                  <a:schemeClr val="dk1"/>
                </a:solidFill>
              </a:rPr>
              <a:t>Customer Segments </a:t>
            </a:r>
            <a:endParaRPr i="0" sz="2600" u="none" cap="none" strike="noStrike">
              <a:solidFill>
                <a:schemeClr val="dk1"/>
              </a:solidFill>
            </a:endParaRPr>
          </a:p>
        </p:txBody>
      </p:sp>
      <p:sp>
        <p:nvSpPr>
          <p:cNvPr id="326" name="TextBox 325"/>
          <p:cNvSpPr txBox="1"/>
          <p:nvPr/>
        </p:nvSpPr>
        <p:spPr>
          <a:xfrm>
            <a:off x="4498848" y="5212080"/>
            <a:ext cx="3200400" cy="228600"/>
          </a:xfrm>
          <a:prstGeom prst="rect">
            <a:avLst/>
          </a:prstGeom>
          <a:noFill/>
        </p:spPr>
        <p:txBody>
          <a:bodyPr wrap="square" lIns="0" rIns="0" tIns="0" bIns="0">
            <a:spAutoFit/>
          </a:bodyPr>
          <a:lstStyle/>
          <a:p>
            <a:pPr algn="l"/>
            <a:r>
              <a:rPr sz="1100" i="1">
                <a:solidFill>
                  <a:srgbClr val="5F6F73"/>
                </a:solidFill>
                <a:latin typeface="Calibri"/>
              </a:rPr>
              <a:t>Seen in: Jingyu, Duke PhD candidate (real)</a:t>
            </a:r>
          </a:p>
        </p:txBody>
      </p:sp>
      <p:sp>
        <p:nvSpPr>
          <p:cNvPr id="327" name="TextBox 326"/>
          <p:cNvSpPr txBox="1"/>
          <p:nvPr/>
        </p:nvSpPr>
        <p:spPr>
          <a:xfrm>
            <a:off x="8430768" y="5212080"/>
            <a:ext cx="3200400" cy="228600"/>
          </a:xfrm>
          <a:prstGeom prst="rect">
            <a:avLst/>
          </a:prstGeom>
          <a:noFill/>
        </p:spPr>
        <p:txBody>
          <a:bodyPr wrap="square" lIns="0" rIns="0" tIns="0" bIns="0">
            <a:spAutoFit/>
          </a:bodyPr>
          <a:lstStyle/>
          <a:p>
            <a:pPr algn="ctr"/>
            <a:r>
              <a:rPr sz="1100" i="1">
                <a:solidFill>
                  <a:srgbClr val="5F6F73"/>
                </a:solidFill>
                <a:latin typeface="Calibri"/>
              </a:rPr>
              <a:t>Seen in: Kevin (real), Ryan (simulated)</a:t>
            </a:r>
          </a:p>
        </p:txBody>
      </p:sp>
      <p:sp>
        <p:nvSpPr>
          <p:cNvPr id="328" name="TextBox 327"/>
          <p:cNvSpPr txBox="1"/>
          <p:nvPr/>
        </p:nvSpPr>
        <p:spPr>
          <a:xfrm>
            <a:off x="365760" y="6016752"/>
            <a:ext cx="3154680" cy="274320"/>
          </a:xfrm>
          <a:prstGeom prst="rect">
            <a:avLst/>
          </a:prstGeom>
          <a:noFill/>
        </p:spPr>
        <p:txBody>
          <a:bodyPr wrap="square" lIns="0" rIns="0" tIns="0" bIns="0">
            <a:spAutoFit/>
          </a:bodyPr>
          <a:lstStyle/>
          <a:p>
            <a:pPr algn="l"/>
            <a:r>
              <a:rPr sz="1000" i="1">
                <a:solidFill>
                  <a:srgbClr val="5F6F73"/>
                </a:solidFill>
                <a:latin typeface="Calibri"/>
              </a:rPr>
              <a:t>Sources: facts.duke.edu; Duke Visa Services Open Doors 2025</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3"/>
          <p:cNvSpPr txBox="1"/>
          <p:nvPr>
            <p:ph type="title"/>
          </p:nvPr>
        </p:nvSpPr>
        <p:spPr>
          <a:xfrm>
            <a:off x="548640" y="320040"/>
            <a:ext cx="11094415" cy="77724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3000"/>
              <a:buFont typeface="Arial"/>
              <a:buNone/>
            </a:pPr>
            <a:r>
              <a:rPr b="1" lang="en-US" sz="3000">
                <a:solidFill>
                  <a:schemeClr val="dk2"/>
                </a:solidFill>
                <a:latin typeface="Arial"/>
                <a:ea typeface="Arial"/>
                <a:cs typeface="Arial"/>
                <a:sym typeface="Arial"/>
              </a:rPr>
              <a:t>Customer feedback: </a:t>
            </a:r>
            <a:r>
              <a:rPr lang="en-US"/>
              <a:t>W</a:t>
            </a:r>
            <a:r>
              <a:rPr b="1" lang="en-US" sz="3000">
                <a:solidFill>
                  <a:schemeClr val="dk2"/>
                </a:solidFill>
                <a:latin typeface="Arial"/>
                <a:ea typeface="Arial"/>
                <a:cs typeface="Arial"/>
                <a:sym typeface="Arial"/>
              </a:rPr>
              <a:t>hat </a:t>
            </a:r>
            <a:r>
              <a:rPr lang="en-US"/>
              <a:t>R</a:t>
            </a:r>
            <a:r>
              <a:rPr b="1" lang="en-US" sz="3000">
                <a:solidFill>
                  <a:schemeClr val="dk2"/>
                </a:solidFill>
                <a:latin typeface="Arial"/>
                <a:ea typeface="Arial"/>
                <a:cs typeface="Arial"/>
                <a:sym typeface="Arial"/>
              </a:rPr>
              <a:t>eal </a:t>
            </a:r>
            <a:r>
              <a:rPr lang="en-US"/>
              <a:t>S</a:t>
            </a:r>
            <a:r>
              <a:rPr b="1" lang="en-US" sz="3000">
                <a:solidFill>
                  <a:schemeClr val="dk2"/>
                </a:solidFill>
                <a:latin typeface="Arial"/>
                <a:ea typeface="Arial"/>
                <a:cs typeface="Arial"/>
                <a:sym typeface="Arial"/>
              </a:rPr>
              <a:t>tudents </a:t>
            </a:r>
            <a:r>
              <a:rPr lang="en-US"/>
              <a:t>T</a:t>
            </a:r>
            <a:r>
              <a:rPr b="1" lang="en-US" sz="3000">
                <a:solidFill>
                  <a:schemeClr val="dk2"/>
                </a:solidFill>
                <a:latin typeface="Arial"/>
                <a:ea typeface="Arial"/>
                <a:cs typeface="Arial"/>
                <a:sym typeface="Arial"/>
              </a:rPr>
              <a:t>old </a:t>
            </a:r>
            <a:r>
              <a:rPr lang="en-US"/>
              <a:t>U</a:t>
            </a:r>
            <a:r>
              <a:rPr b="1" lang="en-US" sz="3000">
                <a:solidFill>
                  <a:schemeClr val="dk2"/>
                </a:solidFill>
                <a:latin typeface="Arial"/>
                <a:ea typeface="Arial"/>
                <a:cs typeface="Arial"/>
                <a:sym typeface="Arial"/>
              </a:rPr>
              <a:t>s</a:t>
            </a:r>
            <a:endParaRPr sz="3000"/>
          </a:p>
        </p:txBody>
      </p:sp>
      <p:sp>
        <p:nvSpPr>
          <p:cNvPr id="332" name="Google Shape;332;p13"/>
          <p:cNvSpPr/>
          <p:nvPr/>
        </p:nvSpPr>
        <p:spPr>
          <a:xfrm>
            <a:off x="548650" y="1462175"/>
            <a:ext cx="5409900" cy="1555500"/>
          </a:xfrm>
          <a:prstGeom prst="roundRect">
            <a:avLst>
              <a:gd fmla="val 5455"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3"/>
          <p:cNvSpPr/>
          <p:nvPr/>
        </p:nvSpPr>
        <p:spPr>
          <a:xfrm>
            <a:off x="777240" y="155448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4" name="Google Shape;334;p13"/>
          <p:cNvPicPr preferRelativeResize="0"/>
          <p:nvPr/>
        </p:nvPicPr>
        <p:blipFill rotWithShape="1">
          <a:blip r:embed="rId3">
            <a:alphaModFix/>
          </a:blip>
          <a:srcRect b="0" l="0" r="0" t="0"/>
          <a:stretch/>
        </p:blipFill>
        <p:spPr>
          <a:xfrm>
            <a:off x="902970" y="1680210"/>
            <a:ext cx="251460" cy="251460"/>
          </a:xfrm>
          <a:prstGeom prst="rect">
            <a:avLst/>
          </a:prstGeom>
          <a:noFill/>
          <a:ln>
            <a:noFill/>
          </a:ln>
        </p:spPr>
      </p:pic>
      <p:sp>
        <p:nvSpPr>
          <p:cNvPr id="335" name="Google Shape;335;p13"/>
          <p:cNvSpPr txBox="1"/>
          <p:nvPr/>
        </p:nvSpPr>
        <p:spPr>
          <a:xfrm>
            <a:off x="1417320" y="1554480"/>
            <a:ext cx="431276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300"/>
              <a:buFont typeface="Calibri"/>
              <a:buNone/>
            </a:pPr>
            <a:r>
              <a:rPr b="1" i="0" lang="en-US" sz="1300" u="none" cap="none" strike="noStrike">
                <a:solidFill>
                  <a:schemeClr val="accent1"/>
                </a:solidFill>
                <a:latin typeface="Calibri"/>
                <a:ea typeface="Calibri"/>
                <a:cs typeface="Calibri"/>
                <a:sym typeface="Calibri"/>
              </a:rPr>
              <a:t>DEADLINE</a:t>
            </a:r>
            <a:endParaRPr b="0" i="0" sz="1300" u="none" cap="none" strike="noStrike">
              <a:solidFill>
                <a:schemeClr val="dk1"/>
              </a:solidFill>
              <a:latin typeface="Calibri"/>
              <a:ea typeface="Calibri"/>
              <a:cs typeface="Calibri"/>
              <a:sym typeface="Calibri"/>
            </a:endParaRPr>
          </a:p>
        </p:txBody>
      </p:sp>
      <p:sp>
        <p:nvSpPr>
          <p:cNvPr id="336" name="Google Shape;336;p13"/>
          <p:cNvSpPr txBox="1"/>
          <p:nvPr/>
        </p:nvSpPr>
        <p:spPr>
          <a:xfrm>
            <a:off x="777240" y="2130552"/>
            <a:ext cx="4952700" cy="86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0" i="1" lang="en-US" sz="1600" u="none" cap="none" strike="noStrike">
                <a:solidFill>
                  <a:schemeClr val="dk1"/>
                </a:solidFill>
                <a:latin typeface="Calibri"/>
                <a:ea typeface="Calibri"/>
                <a:cs typeface="Calibri"/>
                <a:sym typeface="Calibri"/>
              </a:rPr>
              <a:t>“I only had like two to three days.”</a:t>
            </a:r>
            <a:endParaRPr b="0" i="0" sz="1600" u="none" cap="none" strike="noStrike">
              <a:solidFill>
                <a:schemeClr val="dk1"/>
              </a:solidFill>
              <a:latin typeface="Calibri"/>
              <a:ea typeface="Calibri"/>
              <a:cs typeface="Calibri"/>
              <a:sym typeface="Calibri"/>
            </a:endParaRPr>
          </a:p>
        </p:txBody>
      </p:sp>
      <p:sp>
        <p:nvSpPr>
          <p:cNvPr id="337" name="Google Shape;337;p13"/>
          <p:cNvSpPr txBox="1"/>
          <p:nvPr/>
        </p:nvSpPr>
        <p:spPr>
          <a:xfrm>
            <a:off x="777315" y="2514595"/>
            <a:ext cx="4952700" cy="255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6"/>
              </a:buClr>
              <a:buSzPts val="1200"/>
              <a:buFont typeface="Calibri"/>
              <a:buNone/>
            </a:pPr>
            <a:r>
              <a:rPr b="0" i="0" lang="en-US" u="none" cap="none" strike="noStrike">
                <a:solidFill>
                  <a:schemeClr val="accent6"/>
                </a:solidFill>
                <a:latin typeface="Calibri"/>
                <a:ea typeface="Calibri"/>
                <a:cs typeface="Calibri"/>
                <a:sym typeface="Calibri"/>
              </a:rPr>
              <a:t>Duke master's student, recalling his move-out after graduating from UNC</a:t>
            </a:r>
            <a:endParaRPr b="0" i="0" u="none" cap="none" strike="noStrike">
              <a:solidFill>
                <a:schemeClr val="dk1"/>
              </a:solidFill>
              <a:latin typeface="Calibri"/>
              <a:ea typeface="Calibri"/>
              <a:cs typeface="Calibri"/>
              <a:sym typeface="Calibri"/>
            </a:endParaRPr>
          </a:p>
        </p:txBody>
      </p:sp>
      <p:sp>
        <p:nvSpPr>
          <p:cNvPr id="338" name="Google Shape;338;p13"/>
          <p:cNvSpPr/>
          <p:nvPr/>
        </p:nvSpPr>
        <p:spPr>
          <a:xfrm>
            <a:off x="6233000" y="1462075"/>
            <a:ext cx="5410200" cy="1555500"/>
          </a:xfrm>
          <a:prstGeom prst="roundRect">
            <a:avLst>
              <a:gd fmla="val 5455"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3"/>
          <p:cNvSpPr/>
          <p:nvPr/>
        </p:nvSpPr>
        <p:spPr>
          <a:xfrm>
            <a:off x="6461608" y="155448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0" name="Google Shape;340;p13"/>
          <p:cNvPicPr preferRelativeResize="0"/>
          <p:nvPr/>
        </p:nvPicPr>
        <p:blipFill rotWithShape="1">
          <a:blip r:embed="rId3">
            <a:alphaModFix/>
          </a:blip>
          <a:srcRect b="0" l="0" r="0" t="0"/>
          <a:stretch/>
        </p:blipFill>
        <p:spPr>
          <a:xfrm>
            <a:off x="6587338" y="1680210"/>
            <a:ext cx="251460" cy="251460"/>
          </a:xfrm>
          <a:prstGeom prst="rect">
            <a:avLst/>
          </a:prstGeom>
          <a:noFill/>
          <a:ln>
            <a:noFill/>
          </a:ln>
        </p:spPr>
      </p:pic>
      <p:sp>
        <p:nvSpPr>
          <p:cNvPr id="341" name="Google Shape;341;p13"/>
          <p:cNvSpPr txBox="1"/>
          <p:nvPr/>
        </p:nvSpPr>
        <p:spPr>
          <a:xfrm>
            <a:off x="7101688" y="1554480"/>
            <a:ext cx="431276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300"/>
              <a:buFont typeface="Calibri"/>
              <a:buNone/>
            </a:pPr>
            <a:r>
              <a:rPr b="1" i="0" lang="en-US" sz="1300" u="none" cap="none" strike="noStrike">
                <a:solidFill>
                  <a:schemeClr val="accent1"/>
                </a:solidFill>
                <a:latin typeface="Calibri"/>
                <a:ea typeface="Calibri"/>
                <a:cs typeface="Calibri"/>
                <a:sym typeface="Calibri"/>
              </a:rPr>
              <a:t>PAID TO DISPOSE</a:t>
            </a:r>
            <a:endParaRPr b="0" i="0" sz="1300" u="none" cap="none" strike="noStrike">
              <a:solidFill>
                <a:schemeClr val="dk1"/>
              </a:solidFill>
              <a:latin typeface="Calibri"/>
              <a:ea typeface="Calibri"/>
              <a:cs typeface="Calibri"/>
              <a:sym typeface="Calibri"/>
            </a:endParaRPr>
          </a:p>
        </p:txBody>
      </p:sp>
      <p:sp>
        <p:nvSpPr>
          <p:cNvPr id="342" name="Google Shape;342;p13"/>
          <p:cNvSpPr txBox="1"/>
          <p:nvPr/>
        </p:nvSpPr>
        <p:spPr>
          <a:xfrm>
            <a:off x="6461608" y="2130552"/>
            <a:ext cx="4952848"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0" i="1" lang="en-US" sz="1600" u="none" cap="none" strike="noStrike">
                <a:solidFill>
                  <a:schemeClr val="dk1"/>
                </a:solidFill>
                <a:latin typeface="Calibri"/>
                <a:ea typeface="Calibri"/>
                <a:cs typeface="Calibri"/>
                <a:sym typeface="Calibri"/>
              </a:rPr>
              <a:t>“I ended up paying a junk removal service to take them away.”</a:t>
            </a:r>
            <a:endParaRPr b="0" i="0" sz="1600" u="none" cap="none" strike="noStrike">
              <a:solidFill>
                <a:schemeClr val="dk1"/>
              </a:solidFill>
              <a:latin typeface="Calibri"/>
              <a:ea typeface="Calibri"/>
              <a:cs typeface="Calibri"/>
              <a:sym typeface="Calibri"/>
            </a:endParaRPr>
          </a:p>
        </p:txBody>
      </p:sp>
      <p:sp>
        <p:nvSpPr>
          <p:cNvPr id="343" name="Google Shape;343;p13"/>
          <p:cNvSpPr txBox="1"/>
          <p:nvPr/>
        </p:nvSpPr>
        <p:spPr>
          <a:xfrm>
            <a:off x="6461608" y="2660908"/>
            <a:ext cx="4952700" cy="25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Current Duke PhD candidate, on furniture she couldn't sell</a:t>
            </a:r>
            <a:endParaRPr b="0" i="0" sz="1200" u="none" cap="none" strike="noStrike">
              <a:solidFill>
                <a:schemeClr val="dk1"/>
              </a:solidFill>
              <a:latin typeface="Calibri"/>
              <a:ea typeface="Calibri"/>
              <a:cs typeface="Calibri"/>
              <a:sym typeface="Calibri"/>
            </a:endParaRPr>
          </a:p>
        </p:txBody>
      </p:sp>
      <p:sp>
        <p:nvSpPr>
          <p:cNvPr id="344" name="Google Shape;344;p13"/>
          <p:cNvSpPr/>
          <p:nvPr/>
        </p:nvSpPr>
        <p:spPr>
          <a:xfrm>
            <a:off x="548650" y="3749050"/>
            <a:ext cx="5410200" cy="1384800"/>
          </a:xfrm>
          <a:prstGeom prst="roundRect">
            <a:avLst>
              <a:gd fmla="val 5455"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3"/>
          <p:cNvSpPr/>
          <p:nvPr/>
        </p:nvSpPr>
        <p:spPr>
          <a:xfrm>
            <a:off x="777240" y="374904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6" name="Google Shape;346;p13"/>
          <p:cNvPicPr preferRelativeResize="0"/>
          <p:nvPr/>
        </p:nvPicPr>
        <p:blipFill rotWithShape="1">
          <a:blip r:embed="rId3">
            <a:alphaModFix/>
          </a:blip>
          <a:srcRect b="0" l="0" r="0" t="0"/>
          <a:stretch/>
        </p:blipFill>
        <p:spPr>
          <a:xfrm>
            <a:off x="902970" y="3874770"/>
            <a:ext cx="251460" cy="251460"/>
          </a:xfrm>
          <a:prstGeom prst="rect">
            <a:avLst/>
          </a:prstGeom>
          <a:noFill/>
          <a:ln>
            <a:noFill/>
          </a:ln>
        </p:spPr>
      </p:pic>
      <p:sp>
        <p:nvSpPr>
          <p:cNvPr id="347" name="Google Shape;347;p13"/>
          <p:cNvSpPr txBox="1"/>
          <p:nvPr/>
        </p:nvSpPr>
        <p:spPr>
          <a:xfrm>
            <a:off x="1417320" y="3749040"/>
            <a:ext cx="431276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300"/>
              <a:buFont typeface="Calibri"/>
              <a:buNone/>
            </a:pPr>
            <a:r>
              <a:rPr b="1" i="0" lang="en-US" sz="1300" u="none" cap="none" strike="noStrike">
                <a:solidFill>
                  <a:schemeClr val="accent1"/>
                </a:solidFill>
                <a:latin typeface="Calibri"/>
                <a:ea typeface="Calibri"/>
                <a:cs typeface="Calibri"/>
                <a:sym typeface="Calibri"/>
              </a:rPr>
              <a:t>THE SUMMER GAP</a:t>
            </a:r>
            <a:endParaRPr b="0" i="0" sz="1300" u="none" cap="none" strike="noStrike">
              <a:solidFill>
                <a:schemeClr val="dk1"/>
              </a:solidFill>
              <a:latin typeface="Calibri"/>
              <a:ea typeface="Calibri"/>
              <a:cs typeface="Calibri"/>
              <a:sym typeface="Calibri"/>
            </a:endParaRPr>
          </a:p>
        </p:txBody>
      </p:sp>
      <p:sp>
        <p:nvSpPr>
          <p:cNvPr id="348" name="Google Shape;348;p13"/>
          <p:cNvSpPr txBox="1"/>
          <p:nvPr/>
        </p:nvSpPr>
        <p:spPr>
          <a:xfrm>
            <a:off x="777240" y="4325112"/>
            <a:ext cx="4952848"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0" i="1" lang="en-US" sz="1600" u="none" cap="none" strike="noStrike">
                <a:solidFill>
                  <a:schemeClr val="dk1"/>
                </a:solidFill>
                <a:latin typeface="Calibri"/>
                <a:ea typeface="Calibri"/>
                <a:cs typeface="Calibri"/>
                <a:sym typeface="Calibri"/>
              </a:rPr>
              <a:t>Buyers wanted immediate pickup; holding items until August would have bought him time to sell.</a:t>
            </a:r>
            <a:endParaRPr b="0" i="0" sz="1600" u="none" cap="none" strike="noStrike">
              <a:solidFill>
                <a:schemeClr val="dk1"/>
              </a:solidFill>
              <a:latin typeface="Calibri"/>
              <a:ea typeface="Calibri"/>
              <a:cs typeface="Calibri"/>
              <a:sym typeface="Calibri"/>
            </a:endParaRPr>
          </a:p>
        </p:txBody>
      </p:sp>
      <p:sp>
        <p:nvSpPr>
          <p:cNvPr id="349" name="Google Shape;349;p13"/>
          <p:cNvSpPr txBox="1"/>
          <p:nvPr/>
        </p:nvSpPr>
        <p:spPr>
          <a:xfrm>
            <a:off x="777240" y="4877880"/>
            <a:ext cx="4952700" cy="25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Duke '25 graduate, Storage Scholars user (paraphrased from notes)</a:t>
            </a:r>
            <a:endParaRPr b="0" i="0" sz="1200" u="none" cap="none" strike="noStrike">
              <a:solidFill>
                <a:schemeClr val="dk1"/>
              </a:solidFill>
              <a:latin typeface="Calibri"/>
              <a:ea typeface="Calibri"/>
              <a:cs typeface="Calibri"/>
              <a:sym typeface="Calibri"/>
            </a:endParaRPr>
          </a:p>
        </p:txBody>
      </p:sp>
      <p:sp>
        <p:nvSpPr>
          <p:cNvPr id="350" name="Google Shape;350;p13"/>
          <p:cNvSpPr/>
          <p:nvPr/>
        </p:nvSpPr>
        <p:spPr>
          <a:xfrm>
            <a:off x="6233000" y="3749050"/>
            <a:ext cx="5410200" cy="1384800"/>
          </a:xfrm>
          <a:prstGeom prst="roundRect">
            <a:avLst>
              <a:gd fmla="val 5455"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3"/>
          <p:cNvSpPr/>
          <p:nvPr/>
        </p:nvSpPr>
        <p:spPr>
          <a:xfrm>
            <a:off x="6461608" y="3749040"/>
            <a:ext cx="502920" cy="50292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2" name="Google Shape;352;p13"/>
          <p:cNvPicPr preferRelativeResize="0"/>
          <p:nvPr/>
        </p:nvPicPr>
        <p:blipFill rotWithShape="1">
          <a:blip r:embed="rId3">
            <a:alphaModFix/>
          </a:blip>
          <a:srcRect b="0" l="0" r="0" t="0"/>
          <a:stretch/>
        </p:blipFill>
        <p:spPr>
          <a:xfrm>
            <a:off x="6587338" y="3874770"/>
            <a:ext cx="251460" cy="251460"/>
          </a:xfrm>
          <a:prstGeom prst="rect">
            <a:avLst/>
          </a:prstGeom>
          <a:noFill/>
          <a:ln>
            <a:noFill/>
          </a:ln>
        </p:spPr>
      </p:pic>
      <p:sp>
        <p:nvSpPr>
          <p:cNvPr id="353" name="Google Shape;353;p13"/>
          <p:cNvSpPr txBox="1"/>
          <p:nvPr/>
        </p:nvSpPr>
        <p:spPr>
          <a:xfrm>
            <a:off x="7101688" y="3749040"/>
            <a:ext cx="431276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300"/>
              <a:buFont typeface="Calibri"/>
              <a:buNone/>
            </a:pPr>
            <a:r>
              <a:rPr b="1" i="0" lang="en-US" sz="1300" u="none" cap="none" strike="noStrike">
                <a:solidFill>
                  <a:schemeClr val="accent2"/>
                </a:solidFill>
                <a:latin typeface="Calibri"/>
                <a:ea typeface="Calibri"/>
                <a:cs typeface="Calibri"/>
                <a:sym typeface="Calibri"/>
              </a:rPr>
              <a:t>DELIVERY</a:t>
            </a:r>
            <a:endParaRPr b="0" i="0" sz="1300" u="none" cap="none" strike="noStrike">
              <a:solidFill>
                <a:schemeClr val="dk1"/>
              </a:solidFill>
              <a:latin typeface="Calibri"/>
              <a:ea typeface="Calibri"/>
              <a:cs typeface="Calibri"/>
              <a:sym typeface="Calibri"/>
            </a:endParaRPr>
          </a:p>
        </p:txBody>
      </p:sp>
      <p:sp>
        <p:nvSpPr>
          <p:cNvPr id="354" name="Google Shape;354;p13"/>
          <p:cNvSpPr txBox="1"/>
          <p:nvPr/>
        </p:nvSpPr>
        <p:spPr>
          <a:xfrm>
            <a:off x="6461608" y="4325112"/>
            <a:ext cx="4952848"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0" i="1" lang="en-US" sz="1600" u="none" cap="none" strike="noStrike">
                <a:solidFill>
                  <a:schemeClr val="dk1"/>
                </a:solidFill>
                <a:latin typeface="Calibri"/>
                <a:ea typeface="Calibri"/>
                <a:cs typeface="Calibri"/>
                <a:sym typeface="Calibri"/>
              </a:rPr>
              <a:t>“The most stressful part would have to be simply getting all of the furniture to where I was going to be living.”</a:t>
            </a:r>
            <a:endParaRPr b="0" i="0" sz="1600" u="none" cap="none" strike="noStrike">
              <a:solidFill>
                <a:schemeClr val="dk1"/>
              </a:solidFill>
              <a:latin typeface="Calibri"/>
              <a:ea typeface="Calibri"/>
              <a:cs typeface="Calibri"/>
              <a:sym typeface="Calibri"/>
            </a:endParaRPr>
          </a:p>
        </p:txBody>
      </p:sp>
      <p:sp>
        <p:nvSpPr>
          <p:cNvPr id="355" name="Google Shape;355;p13"/>
          <p:cNvSpPr txBox="1"/>
          <p:nvPr/>
        </p:nvSpPr>
        <p:spPr>
          <a:xfrm>
            <a:off x="6461683" y="4832605"/>
            <a:ext cx="4952700" cy="25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Kevin, Duke Divinity School student, on furnishing his apartment</a:t>
            </a:r>
            <a:endParaRPr b="0" i="0" sz="1200" u="none" cap="none" strike="noStrike">
              <a:solidFill>
                <a:schemeClr val="dk1"/>
              </a:solidFill>
              <a:latin typeface="Calibri"/>
              <a:ea typeface="Calibri"/>
              <a:cs typeface="Calibri"/>
              <a:sym typeface="Calibri"/>
            </a:endParaRPr>
          </a:p>
        </p:txBody>
      </p:sp>
      <p:sp>
        <p:nvSpPr>
          <p:cNvPr id="356" name="Google Shape;356;p13"/>
          <p:cNvSpPr/>
          <p:nvPr/>
        </p:nvSpPr>
        <p:spPr>
          <a:xfrm>
            <a:off x="548640" y="5669280"/>
            <a:ext cx="11094415" cy="548640"/>
          </a:xfrm>
          <a:prstGeom prst="roundRect">
            <a:avLst>
              <a:gd fmla="val 2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3"/>
          <p:cNvSpPr txBox="1"/>
          <p:nvPr/>
        </p:nvSpPr>
        <p:spPr>
          <a:xfrm>
            <a:off x="822960" y="5669280"/>
            <a:ext cx="10545775"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700"/>
              <a:buFont typeface="Calibri"/>
              <a:buNone/>
            </a:pPr>
            <a:r>
              <a:rPr b="1" i="0" lang="en-US" sz="1700" u="none" cap="none" strike="noStrike">
                <a:solidFill>
                  <a:schemeClr val="accent1"/>
                </a:solidFill>
                <a:latin typeface="Calibri"/>
                <a:ea typeface="Calibri"/>
                <a:cs typeface="Calibri"/>
                <a:sym typeface="Calibri"/>
              </a:rPr>
              <a:t>What changed our thinking:  </a:t>
            </a:r>
            <a:r>
              <a:rPr b="0" i="0" lang="en-US" sz="1700" u="none" cap="none" strike="noStrike">
                <a:solidFill>
                  <a:schemeClr val="lt1"/>
                </a:solidFill>
                <a:latin typeface="Calibri"/>
                <a:ea typeface="Calibri"/>
                <a:cs typeface="Calibri"/>
                <a:sym typeface="Calibri"/>
              </a:rPr>
              <a:t>most sellers wanted a fast, certain exit more than the highest price.</a:t>
            </a:r>
            <a:endParaRPr b="0" i="0" sz="1700" u="none" cap="none" strike="noStrike">
              <a:solidFill>
                <a:schemeClr val="dk1"/>
              </a:solidFill>
              <a:latin typeface="Calibri"/>
              <a:ea typeface="Calibri"/>
              <a:cs typeface="Calibri"/>
              <a:sym typeface="Calibri"/>
            </a:endParaRPr>
          </a:p>
        </p:txBody>
      </p:sp>
      <p:sp>
        <p:nvSpPr>
          <p:cNvPr id="358" name="Google Shape;358;p13"/>
          <p:cNvSpPr txBox="1"/>
          <p:nvPr>
            <p:ph idx="4294967295" type="sldNum"/>
          </p:nvPr>
        </p:nvSpPr>
        <p:spPr>
          <a:xfrm>
            <a:off x="11183112" y="640080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14"/>
          <p:cNvSpPr txBox="1"/>
          <p:nvPr>
            <p:ph type="title"/>
          </p:nvPr>
        </p:nvSpPr>
        <p:spPr>
          <a:xfrm>
            <a:off x="548640" y="320040"/>
            <a:ext cx="11094415" cy="77724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3000"/>
              <a:buFont typeface="Arial"/>
              <a:buNone/>
            </a:pPr>
            <a:r>
              <a:rPr b="1" lang="en-US" sz="3000">
                <a:solidFill>
                  <a:schemeClr val="dk2"/>
                </a:solidFill>
                <a:latin typeface="Arial"/>
                <a:ea typeface="Arial"/>
                <a:cs typeface="Arial"/>
                <a:sym typeface="Arial"/>
              </a:rPr>
              <a:t>Cost and revenue story</a:t>
            </a:r>
            <a:endParaRPr sz="3000"/>
          </a:p>
        </p:txBody>
      </p:sp>
      <p:sp>
        <p:nvSpPr>
          <p:cNvPr id="365" name="Google Shape;365;p14"/>
          <p:cNvSpPr/>
          <p:nvPr/>
        </p:nvSpPr>
        <p:spPr>
          <a:xfrm>
            <a:off x="548640" y="1371600"/>
            <a:ext cx="2567864" cy="4800600"/>
          </a:xfrm>
          <a:prstGeom prst="roundRect">
            <a:avLst>
              <a:gd fmla="val 427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4"/>
          <p:cNvSpPr/>
          <p:nvPr/>
        </p:nvSpPr>
        <p:spPr>
          <a:xfrm>
            <a:off x="822960" y="1645920"/>
            <a:ext cx="640080" cy="64008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7" name="Google Shape;367;p14"/>
          <p:cNvPicPr preferRelativeResize="0"/>
          <p:nvPr/>
        </p:nvPicPr>
        <p:blipFill rotWithShape="1">
          <a:blip r:embed="rId3">
            <a:alphaModFix/>
          </a:blip>
          <a:srcRect b="0" l="0" r="0" t="0"/>
          <a:stretch/>
        </p:blipFill>
        <p:spPr>
          <a:xfrm>
            <a:off x="982980" y="1805940"/>
            <a:ext cx="320040" cy="320040"/>
          </a:xfrm>
          <a:prstGeom prst="rect">
            <a:avLst/>
          </a:prstGeom>
          <a:noFill/>
          <a:ln>
            <a:noFill/>
          </a:ln>
        </p:spPr>
      </p:pic>
      <p:sp>
        <p:nvSpPr>
          <p:cNvPr id="368" name="Google Shape;368;p14"/>
          <p:cNvSpPr txBox="1"/>
          <p:nvPr/>
        </p:nvSpPr>
        <p:spPr>
          <a:xfrm>
            <a:off x="822960" y="2423160"/>
            <a:ext cx="2019224"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900"/>
              <a:buFont typeface="Arial"/>
              <a:buNone/>
            </a:pPr>
            <a:r>
              <a:rPr b="1" i="0" lang="en-US" sz="1900" u="none" cap="none" strike="noStrike">
                <a:solidFill>
                  <a:schemeClr val="dk1"/>
                </a:solidFill>
                <a:latin typeface="Arial"/>
                <a:ea typeface="Arial"/>
                <a:cs typeface="Arial"/>
                <a:sym typeface="Arial"/>
              </a:rPr>
              <a:t>Main costs</a:t>
            </a:r>
            <a:endParaRPr b="0" i="0" sz="1900" u="none" cap="none" strike="noStrike">
              <a:solidFill>
                <a:schemeClr val="dk1"/>
              </a:solidFill>
              <a:latin typeface="Calibri"/>
              <a:ea typeface="Calibri"/>
              <a:cs typeface="Calibri"/>
              <a:sym typeface="Calibri"/>
            </a:endParaRPr>
          </a:p>
        </p:txBody>
      </p:sp>
      <p:sp>
        <p:nvSpPr>
          <p:cNvPr id="369" name="Google Shape;369;p14"/>
          <p:cNvSpPr txBox="1"/>
          <p:nvPr/>
        </p:nvSpPr>
        <p:spPr>
          <a:xfrm>
            <a:off x="822960" y="2971800"/>
            <a:ext cx="2110664" cy="301752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Inventory: cash paid to sellers at pickup</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Pickup and delivery (partner haulers)</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Summer storage space</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Damaged or unsold items</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Platform and marketing</a:t>
            </a:r>
            <a:endParaRPr b="0" i="0" sz="1500" u="none" cap="none" strike="noStrike">
              <a:solidFill>
                <a:schemeClr val="dk1"/>
              </a:solidFill>
              <a:latin typeface="Calibri"/>
              <a:ea typeface="Calibri"/>
              <a:cs typeface="Calibri"/>
              <a:sym typeface="Calibri"/>
            </a:endParaRPr>
          </a:p>
        </p:txBody>
      </p:sp>
      <p:sp>
        <p:nvSpPr>
          <p:cNvPr id="370" name="Google Shape;370;p14"/>
          <p:cNvSpPr/>
          <p:nvPr/>
        </p:nvSpPr>
        <p:spPr>
          <a:xfrm>
            <a:off x="3390824" y="1371600"/>
            <a:ext cx="2567864" cy="4800600"/>
          </a:xfrm>
          <a:prstGeom prst="roundRect">
            <a:avLst>
              <a:gd fmla="val 427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4"/>
          <p:cNvSpPr/>
          <p:nvPr/>
        </p:nvSpPr>
        <p:spPr>
          <a:xfrm>
            <a:off x="3665144" y="1645920"/>
            <a:ext cx="640080" cy="64008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2" name="Google Shape;372;p14"/>
          <p:cNvPicPr preferRelativeResize="0"/>
          <p:nvPr/>
        </p:nvPicPr>
        <p:blipFill rotWithShape="1">
          <a:blip r:embed="rId4">
            <a:alphaModFix/>
          </a:blip>
          <a:srcRect b="0" l="0" r="0" t="0"/>
          <a:stretch/>
        </p:blipFill>
        <p:spPr>
          <a:xfrm>
            <a:off x="3825164" y="1805940"/>
            <a:ext cx="320040" cy="320040"/>
          </a:xfrm>
          <a:prstGeom prst="rect">
            <a:avLst/>
          </a:prstGeom>
          <a:noFill/>
          <a:ln>
            <a:noFill/>
          </a:ln>
        </p:spPr>
      </p:pic>
      <p:sp>
        <p:nvSpPr>
          <p:cNvPr id="373" name="Google Shape;373;p14"/>
          <p:cNvSpPr txBox="1"/>
          <p:nvPr/>
        </p:nvSpPr>
        <p:spPr>
          <a:xfrm>
            <a:off x="3665144" y="2423160"/>
            <a:ext cx="2019224"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900"/>
              <a:buFont typeface="Arial"/>
              <a:buNone/>
            </a:pPr>
            <a:r>
              <a:rPr b="1" i="0" lang="en-US" sz="1900" u="none" cap="none" strike="noStrike">
                <a:solidFill>
                  <a:schemeClr val="dk1"/>
                </a:solidFill>
                <a:latin typeface="Arial"/>
                <a:ea typeface="Arial"/>
                <a:cs typeface="Arial"/>
                <a:sym typeface="Arial"/>
              </a:rPr>
              <a:t>Main revenue</a:t>
            </a:r>
            <a:endParaRPr b="0" i="0" sz="1900" u="none" cap="none" strike="noStrike">
              <a:solidFill>
                <a:schemeClr val="dk1"/>
              </a:solidFill>
              <a:latin typeface="Calibri"/>
              <a:ea typeface="Calibri"/>
              <a:cs typeface="Calibri"/>
              <a:sym typeface="Calibri"/>
            </a:endParaRPr>
          </a:p>
        </p:txBody>
      </p:sp>
      <p:sp>
        <p:nvSpPr>
          <p:cNvPr id="374" name="Google Shape;374;p14"/>
          <p:cNvSpPr txBox="1"/>
          <p:nvPr/>
        </p:nvSpPr>
        <p:spPr>
          <a:xfrm>
            <a:off x="3665144" y="2971800"/>
            <a:ext cx="2110664" cy="301752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Resale margin: buy in May, sell in August</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Delivery fee paid by buyers</a:t>
            </a:r>
            <a:endParaRPr b="0" i="0" sz="1500" u="none" cap="none" strike="noStrike">
              <a:solidFill>
                <a:schemeClr val="dk1"/>
              </a:solidFill>
              <a:latin typeface="Calibri"/>
              <a:ea typeface="Calibri"/>
              <a:cs typeface="Calibri"/>
              <a:sym typeface="Calibri"/>
            </a:endParaRPr>
          </a:p>
        </p:txBody>
      </p:sp>
      <p:sp>
        <p:nvSpPr>
          <p:cNvPr id="375" name="Google Shape;375;p14"/>
          <p:cNvSpPr/>
          <p:nvPr/>
        </p:nvSpPr>
        <p:spPr>
          <a:xfrm>
            <a:off x="6233008" y="1371600"/>
            <a:ext cx="2567864" cy="4800600"/>
          </a:xfrm>
          <a:prstGeom prst="roundRect">
            <a:avLst>
              <a:gd fmla="val 427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4"/>
          <p:cNvSpPr/>
          <p:nvPr/>
        </p:nvSpPr>
        <p:spPr>
          <a:xfrm>
            <a:off x="6507328" y="1645920"/>
            <a:ext cx="640080" cy="64008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7" name="Google Shape;377;p14"/>
          <p:cNvPicPr preferRelativeResize="0"/>
          <p:nvPr/>
        </p:nvPicPr>
        <p:blipFill rotWithShape="1">
          <a:blip r:embed="rId5">
            <a:alphaModFix/>
          </a:blip>
          <a:srcRect b="0" l="0" r="0" t="0"/>
          <a:stretch/>
        </p:blipFill>
        <p:spPr>
          <a:xfrm>
            <a:off x="6667348" y="1805940"/>
            <a:ext cx="320040" cy="320040"/>
          </a:xfrm>
          <a:prstGeom prst="rect">
            <a:avLst/>
          </a:prstGeom>
          <a:noFill/>
          <a:ln>
            <a:noFill/>
          </a:ln>
        </p:spPr>
      </p:pic>
      <p:sp>
        <p:nvSpPr>
          <p:cNvPr id="378" name="Google Shape;378;p14"/>
          <p:cNvSpPr txBox="1"/>
          <p:nvPr/>
        </p:nvSpPr>
        <p:spPr>
          <a:xfrm>
            <a:off x="6507328" y="2423160"/>
            <a:ext cx="2019224"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900"/>
              <a:buFont typeface="Arial"/>
              <a:buNone/>
            </a:pPr>
            <a:r>
              <a:rPr b="1" i="0" lang="en-US" sz="1900" u="none" cap="none" strike="noStrike">
                <a:solidFill>
                  <a:schemeClr val="dk1"/>
                </a:solidFill>
                <a:latin typeface="Arial"/>
                <a:ea typeface="Arial"/>
                <a:cs typeface="Arial"/>
                <a:sym typeface="Arial"/>
              </a:rPr>
              <a:t>Pricing approach</a:t>
            </a:r>
            <a:endParaRPr b="0" i="0" sz="1900" u="none" cap="none" strike="noStrike">
              <a:solidFill>
                <a:schemeClr val="dk1"/>
              </a:solidFill>
              <a:latin typeface="Calibri"/>
              <a:ea typeface="Calibri"/>
              <a:cs typeface="Calibri"/>
              <a:sym typeface="Calibri"/>
            </a:endParaRPr>
          </a:p>
        </p:txBody>
      </p:sp>
      <p:sp>
        <p:nvSpPr>
          <p:cNvPr id="379" name="Google Shape;379;p14"/>
          <p:cNvSpPr txBox="1"/>
          <p:nvPr/>
        </p:nvSpPr>
        <p:spPr>
          <a:xfrm>
            <a:off x="6507328" y="2971800"/>
            <a:ext cx="2110664" cy="301752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Offers set by our AI pricing engine from comparable listings, minus our margin</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Buyer prices kept below buying new</a:t>
            </a:r>
            <a:endParaRPr b="0" i="0" sz="1500" u="none" cap="none" strike="noStrike">
              <a:solidFill>
                <a:schemeClr val="dk1"/>
              </a:solidFill>
              <a:latin typeface="Calibri"/>
              <a:ea typeface="Calibri"/>
              <a:cs typeface="Calibri"/>
              <a:sym typeface="Calibri"/>
            </a:endParaRPr>
          </a:p>
        </p:txBody>
      </p:sp>
      <p:sp>
        <p:nvSpPr>
          <p:cNvPr id="380" name="Google Shape;380;p14"/>
          <p:cNvSpPr/>
          <p:nvPr/>
        </p:nvSpPr>
        <p:spPr>
          <a:xfrm>
            <a:off x="9075191" y="1371600"/>
            <a:ext cx="2567864" cy="4800600"/>
          </a:xfrm>
          <a:prstGeom prst="roundRect">
            <a:avLst>
              <a:gd fmla="val 427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4"/>
          <p:cNvSpPr/>
          <p:nvPr/>
        </p:nvSpPr>
        <p:spPr>
          <a:xfrm>
            <a:off x="9349511" y="1645920"/>
            <a:ext cx="640080" cy="64008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2" name="Google Shape;382;p14"/>
          <p:cNvPicPr preferRelativeResize="0"/>
          <p:nvPr/>
        </p:nvPicPr>
        <p:blipFill rotWithShape="1">
          <a:blip r:embed="rId6">
            <a:alphaModFix/>
          </a:blip>
          <a:srcRect b="0" l="0" r="0" t="0"/>
          <a:stretch/>
        </p:blipFill>
        <p:spPr>
          <a:xfrm>
            <a:off x="9509531" y="1805940"/>
            <a:ext cx="320040" cy="320040"/>
          </a:xfrm>
          <a:prstGeom prst="rect">
            <a:avLst/>
          </a:prstGeom>
          <a:noFill/>
          <a:ln>
            <a:noFill/>
          </a:ln>
        </p:spPr>
      </p:pic>
      <p:sp>
        <p:nvSpPr>
          <p:cNvPr id="383" name="Google Shape;383;p14"/>
          <p:cNvSpPr txBox="1"/>
          <p:nvPr/>
        </p:nvSpPr>
        <p:spPr>
          <a:xfrm>
            <a:off x="9349511" y="2423160"/>
            <a:ext cx="2019224"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900"/>
              <a:buFont typeface="Arial"/>
              <a:buNone/>
            </a:pPr>
            <a:r>
              <a:rPr b="1" i="0" lang="en-US" sz="1900" u="none" cap="none" strike="noStrike">
                <a:solidFill>
                  <a:schemeClr val="dk1"/>
                </a:solidFill>
                <a:latin typeface="Arial"/>
                <a:ea typeface="Arial"/>
                <a:cs typeface="Arial"/>
                <a:sym typeface="Arial"/>
              </a:rPr>
              <a:t>Channels</a:t>
            </a:r>
            <a:endParaRPr b="0" i="0" sz="1900" u="none" cap="none" strike="noStrike">
              <a:solidFill>
                <a:schemeClr val="dk1"/>
              </a:solidFill>
              <a:latin typeface="Calibri"/>
              <a:ea typeface="Calibri"/>
              <a:cs typeface="Calibri"/>
              <a:sym typeface="Calibri"/>
            </a:endParaRPr>
          </a:p>
        </p:txBody>
      </p:sp>
      <p:sp>
        <p:nvSpPr>
          <p:cNvPr id="384" name="Google Shape;384;p14"/>
          <p:cNvSpPr txBox="1"/>
          <p:nvPr/>
        </p:nvSpPr>
        <p:spPr>
          <a:xfrm>
            <a:off x="9349511" y="2971800"/>
            <a:ext cx="2110664" cy="301752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Duke housing and move-out emails</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Off-campus apartment complexes</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Grad and international orientation</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Targeted ads to incoming students</a:t>
            </a:r>
            <a:endParaRPr b="0" i="0" sz="15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Group chats and Marketplace</a:t>
            </a:r>
            <a:endParaRPr b="0" i="0" sz="1500" u="none" cap="none" strike="noStrike">
              <a:solidFill>
                <a:schemeClr val="dk1"/>
              </a:solidFill>
              <a:latin typeface="Calibri"/>
              <a:ea typeface="Calibri"/>
              <a:cs typeface="Calibri"/>
              <a:sym typeface="Calibri"/>
            </a:endParaRPr>
          </a:p>
        </p:txBody>
      </p:sp>
      <p:sp>
        <p:nvSpPr>
          <p:cNvPr id="385" name="Google Shape;385;p14"/>
          <p:cNvSpPr txBox="1"/>
          <p:nvPr>
            <p:ph idx="4294967295" type="sldNum"/>
          </p:nvPr>
        </p:nvSpPr>
        <p:spPr>
          <a:xfrm>
            <a:off x="11183112" y="640080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15"/>
          <p:cNvSpPr txBox="1"/>
          <p:nvPr>
            <p:ph type="title"/>
          </p:nvPr>
        </p:nvSpPr>
        <p:spPr>
          <a:xfrm>
            <a:off x="548640" y="320040"/>
            <a:ext cx="11094415" cy="77724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3000"/>
              <a:buFont typeface="Arial"/>
              <a:buNone/>
            </a:pPr>
            <a:r>
              <a:rPr b="1" lang="en-US" sz="3000">
                <a:solidFill>
                  <a:schemeClr val="dk2"/>
                </a:solidFill>
                <a:latin typeface="Arial"/>
                <a:ea typeface="Arial"/>
                <a:cs typeface="Arial"/>
                <a:sym typeface="Arial"/>
              </a:rPr>
              <a:t>Lean Canvas (updated after customer interviews)</a:t>
            </a:r>
            <a:endParaRPr sz="3000"/>
          </a:p>
        </p:txBody>
      </p:sp>
      <p:sp>
        <p:nvSpPr>
          <p:cNvPr id="392" name="Google Shape;392;p15"/>
          <p:cNvSpPr/>
          <p:nvPr/>
        </p:nvSpPr>
        <p:spPr>
          <a:xfrm>
            <a:off x="548640" y="1188720"/>
            <a:ext cx="2160361" cy="3977640"/>
          </a:xfrm>
          <a:prstGeom prst="rect">
            <a:avLst/>
          </a:prstGeom>
          <a:solidFill>
            <a:schemeClr val="lt1"/>
          </a:solidFill>
          <a:ln cap="flat" cmpd="sng" w="12700">
            <a:solidFill>
              <a:srgbClr val="BFD6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5"/>
          <p:cNvSpPr txBox="1"/>
          <p:nvPr/>
        </p:nvSpPr>
        <p:spPr>
          <a:xfrm>
            <a:off x="658368" y="1280160"/>
            <a:ext cx="1940905"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1" i="0" lang="en-US" sz="1000" u="none" cap="none" strike="noStrike">
                <a:solidFill>
                  <a:schemeClr val="dk2"/>
                </a:solidFill>
                <a:latin typeface="Arial"/>
                <a:ea typeface="Arial"/>
                <a:cs typeface="Arial"/>
                <a:sym typeface="Arial"/>
              </a:rPr>
              <a:t>PROBLEM</a:t>
            </a:r>
            <a:endParaRPr b="0" i="0" sz="1000" u="none" cap="none" strike="noStrike">
              <a:solidFill>
                <a:schemeClr val="dk1"/>
              </a:solidFill>
              <a:latin typeface="Calibri"/>
              <a:ea typeface="Calibri"/>
              <a:cs typeface="Calibri"/>
              <a:sym typeface="Calibri"/>
            </a:endParaRPr>
          </a:p>
        </p:txBody>
      </p:sp>
      <p:sp>
        <p:nvSpPr>
          <p:cNvPr id="394" name="Google Shape;394;p15"/>
          <p:cNvSpPr txBox="1"/>
          <p:nvPr/>
        </p:nvSpPr>
        <p:spPr>
          <a:xfrm>
            <a:off x="658368" y="1572768"/>
            <a:ext cx="1940905" cy="3520440"/>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Seniors must clear bulky furniture in days, with no car</a:t>
            </a:r>
            <a:endParaRPr b="0" i="0" sz="1250" u="none" cap="none" strike="noStrike">
              <a:solidFill>
                <a:schemeClr val="dk1"/>
              </a:solidFill>
              <a:latin typeface="Calibri"/>
              <a:ea typeface="Calibri"/>
              <a:cs typeface="Calibri"/>
              <a:sym typeface="Calibri"/>
            </a:endParaRPr>
          </a:p>
          <a:p>
            <a:pPr indent="-127000" lvl="0" marL="127000" marR="0" rtl="0" algn="l">
              <a:spcBef>
                <a:spcPts val="3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May buyers are scarce and unreliable</a:t>
            </a:r>
            <a:endParaRPr b="0" i="0" sz="1250" u="none" cap="none" strike="noStrike">
              <a:solidFill>
                <a:schemeClr val="dk1"/>
              </a:solidFill>
              <a:latin typeface="Calibri"/>
              <a:ea typeface="Calibri"/>
              <a:cs typeface="Calibri"/>
              <a:sym typeface="Calibri"/>
            </a:endParaRPr>
          </a:p>
          <a:p>
            <a:pPr indent="-127000" lvl="0" marL="127000" marR="0" rtl="0" algn="l">
              <a:spcBef>
                <a:spcPts val="3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Incoming students can't get furniture to their apartment</a:t>
            </a:r>
            <a:endParaRPr b="0" i="0" sz="125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E07B1F"/>
              </a:buClr>
              <a:buSzPts val="1250"/>
              <a:buFont typeface="Calibri"/>
              <a:buNone/>
            </a:pPr>
            <a:r>
              <a:rPr b="1" i="0" lang="en-US" sz="1250" u="none" cap="none" strike="noStrike">
                <a:solidFill>
                  <a:srgbClr val="E07B1F"/>
                </a:solidFill>
                <a:latin typeface="Calibri"/>
                <a:ea typeface="Calibri"/>
                <a:cs typeface="Calibri"/>
                <a:sym typeface="Calibri"/>
              </a:rPr>
              <a:t>Existing alternatives</a:t>
            </a:r>
            <a:endParaRPr b="0" i="0" sz="1250" u="none" cap="none" strike="noStrike">
              <a:solidFill>
                <a:schemeClr val="dk1"/>
              </a:solidFill>
              <a:latin typeface="Calibri"/>
              <a:ea typeface="Calibri"/>
              <a:cs typeface="Calibri"/>
              <a:sym typeface="Calibri"/>
            </a:endParaRPr>
          </a:p>
          <a:p>
            <a:pPr indent="-127000" lvl="0" marL="127000" marR="0" rtl="0" algn="l">
              <a:spcBef>
                <a:spcPts val="2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Marketplace, OfferUp, DormXchange, GathrU</a:t>
            </a:r>
            <a:endParaRPr b="0" i="0" sz="1250" u="none" cap="none" strike="noStrike">
              <a:solidFill>
                <a:schemeClr val="dk1"/>
              </a:solidFill>
              <a:latin typeface="Calibri"/>
              <a:ea typeface="Calibri"/>
              <a:cs typeface="Calibri"/>
              <a:sym typeface="Calibri"/>
            </a:endParaRPr>
          </a:p>
          <a:p>
            <a:pPr indent="-127000" lvl="0" marL="127000" marR="0" rtl="0" algn="l">
              <a:spcBef>
                <a:spcPts val="3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Duke group chats</a:t>
            </a:r>
            <a:endParaRPr b="0" i="0" sz="1250" u="none" cap="none" strike="noStrike">
              <a:solidFill>
                <a:schemeClr val="dk1"/>
              </a:solidFill>
              <a:latin typeface="Calibri"/>
              <a:ea typeface="Calibri"/>
              <a:cs typeface="Calibri"/>
              <a:sym typeface="Calibri"/>
            </a:endParaRPr>
          </a:p>
          <a:p>
            <a:pPr indent="-127000" lvl="0" marL="127000" marR="0" rtl="0" algn="l">
              <a:spcBef>
                <a:spcPts val="3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Junk removal, curb</a:t>
            </a:r>
            <a:endParaRPr b="0" i="0" sz="1250" u="none" cap="none" strike="noStrike">
              <a:solidFill>
                <a:schemeClr val="dk1"/>
              </a:solidFill>
              <a:latin typeface="Calibri"/>
              <a:ea typeface="Calibri"/>
              <a:cs typeface="Calibri"/>
              <a:sym typeface="Calibri"/>
            </a:endParaRPr>
          </a:p>
        </p:txBody>
      </p:sp>
      <p:sp>
        <p:nvSpPr>
          <p:cNvPr id="395" name="Google Shape;395;p15"/>
          <p:cNvSpPr/>
          <p:nvPr/>
        </p:nvSpPr>
        <p:spPr>
          <a:xfrm>
            <a:off x="2782153" y="1188720"/>
            <a:ext cx="2160361" cy="1952244"/>
          </a:xfrm>
          <a:prstGeom prst="rect">
            <a:avLst/>
          </a:prstGeom>
          <a:solidFill>
            <a:schemeClr val="lt1"/>
          </a:solidFill>
          <a:ln cap="flat" cmpd="sng" w="12700">
            <a:solidFill>
              <a:srgbClr val="BFD6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5"/>
          <p:cNvSpPr txBox="1"/>
          <p:nvPr/>
        </p:nvSpPr>
        <p:spPr>
          <a:xfrm>
            <a:off x="2891881" y="1280160"/>
            <a:ext cx="1940905"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1" i="0" lang="en-US" sz="1000" u="none" cap="none" strike="noStrike">
                <a:solidFill>
                  <a:schemeClr val="dk2"/>
                </a:solidFill>
                <a:latin typeface="Arial"/>
                <a:ea typeface="Arial"/>
                <a:cs typeface="Arial"/>
                <a:sym typeface="Arial"/>
              </a:rPr>
              <a:t>SOLUTION</a:t>
            </a:r>
            <a:endParaRPr b="0" i="0" sz="1000" u="none" cap="none" strike="noStrike">
              <a:solidFill>
                <a:schemeClr val="dk1"/>
              </a:solidFill>
              <a:latin typeface="Calibri"/>
              <a:ea typeface="Calibri"/>
              <a:cs typeface="Calibri"/>
              <a:sym typeface="Calibri"/>
            </a:endParaRPr>
          </a:p>
        </p:txBody>
      </p:sp>
      <p:sp>
        <p:nvSpPr>
          <p:cNvPr id="397" name="Google Shape;397;p15"/>
          <p:cNvSpPr txBox="1"/>
          <p:nvPr/>
        </p:nvSpPr>
        <p:spPr>
          <a:xfrm>
            <a:off x="2891881" y="1572768"/>
            <a:ext cx="1940905" cy="1495044"/>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AI instant offer and acceptance check</a:t>
            </a:r>
            <a:endParaRPr b="0" i="0" sz="1250" u="none" cap="none" strike="noStrike">
              <a:solidFill>
                <a:schemeClr val="dk1"/>
              </a:solidFill>
              <a:latin typeface="Calibri"/>
              <a:ea typeface="Calibri"/>
              <a:cs typeface="Calibri"/>
              <a:sym typeface="Calibri"/>
            </a:endParaRPr>
          </a:p>
          <a:p>
            <a:pPr indent="-127000" lvl="0" marL="127000" marR="0" rtl="0" algn="l">
              <a:spcBef>
                <a:spcPts val="3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One pickup, paid on the spot</a:t>
            </a:r>
            <a:endParaRPr b="0" i="0" sz="1250" u="none" cap="none" strike="noStrike">
              <a:solidFill>
                <a:schemeClr val="dk1"/>
              </a:solidFill>
              <a:latin typeface="Calibri"/>
              <a:ea typeface="Calibri"/>
              <a:cs typeface="Calibri"/>
              <a:sym typeface="Calibri"/>
            </a:endParaRPr>
          </a:p>
          <a:p>
            <a:pPr indent="-127000" lvl="0" marL="127000" marR="0" rtl="0" algn="l">
              <a:spcBef>
                <a:spcPts val="3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Summer storage, reserve early, August delivery</a:t>
            </a:r>
            <a:endParaRPr b="0" i="0" sz="1250" u="none" cap="none" strike="noStrike">
              <a:solidFill>
                <a:schemeClr val="dk1"/>
              </a:solidFill>
              <a:latin typeface="Calibri"/>
              <a:ea typeface="Calibri"/>
              <a:cs typeface="Calibri"/>
              <a:sym typeface="Calibri"/>
            </a:endParaRPr>
          </a:p>
        </p:txBody>
      </p:sp>
      <p:sp>
        <p:nvSpPr>
          <p:cNvPr id="398" name="Google Shape;398;p15"/>
          <p:cNvSpPr/>
          <p:nvPr/>
        </p:nvSpPr>
        <p:spPr>
          <a:xfrm>
            <a:off x="2782153" y="3214116"/>
            <a:ext cx="2160361" cy="1952244"/>
          </a:xfrm>
          <a:prstGeom prst="rect">
            <a:avLst/>
          </a:prstGeom>
          <a:solidFill>
            <a:schemeClr val="lt1"/>
          </a:solidFill>
          <a:ln cap="flat" cmpd="sng" w="12700">
            <a:solidFill>
              <a:srgbClr val="BFD6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5"/>
          <p:cNvSpPr txBox="1"/>
          <p:nvPr/>
        </p:nvSpPr>
        <p:spPr>
          <a:xfrm>
            <a:off x="2891881" y="3305556"/>
            <a:ext cx="1940905"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1" i="0" lang="en-US" sz="1000" u="none" cap="none" strike="noStrike">
                <a:solidFill>
                  <a:schemeClr val="dk2"/>
                </a:solidFill>
                <a:latin typeface="Arial"/>
                <a:ea typeface="Arial"/>
                <a:cs typeface="Arial"/>
                <a:sym typeface="Arial"/>
              </a:rPr>
              <a:t>KEY METRICS</a:t>
            </a:r>
            <a:endParaRPr b="0" i="0" sz="1000" u="none" cap="none" strike="noStrike">
              <a:solidFill>
                <a:schemeClr val="dk1"/>
              </a:solidFill>
              <a:latin typeface="Calibri"/>
              <a:ea typeface="Calibri"/>
              <a:cs typeface="Calibri"/>
              <a:sym typeface="Calibri"/>
            </a:endParaRPr>
          </a:p>
        </p:txBody>
      </p:sp>
      <p:sp>
        <p:nvSpPr>
          <p:cNvPr id="400" name="Google Shape;400;p15"/>
          <p:cNvSpPr txBox="1"/>
          <p:nvPr/>
        </p:nvSpPr>
        <p:spPr>
          <a:xfrm>
            <a:off x="2891881" y="3598164"/>
            <a:ext cx="1940905" cy="1495044"/>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Adoption: offer acceptance, early reservations</a:t>
            </a:r>
            <a:endParaRPr b="0" i="0" sz="1250" u="none" cap="none" strike="noStrike">
              <a:solidFill>
                <a:schemeClr val="dk1"/>
              </a:solidFill>
              <a:latin typeface="Calibri"/>
              <a:ea typeface="Calibri"/>
              <a:cs typeface="Calibri"/>
              <a:sym typeface="Calibri"/>
            </a:endParaRPr>
          </a:p>
          <a:p>
            <a:pPr indent="-127000" lvl="0" marL="127000" marR="0" rtl="0" algn="l">
              <a:spcBef>
                <a:spcPts val="3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Burden saved: on-time pickups, satisfaction rating</a:t>
            </a:r>
            <a:endParaRPr b="0" i="0" sz="1250" u="none" cap="none" strike="noStrike">
              <a:solidFill>
                <a:schemeClr val="dk1"/>
              </a:solidFill>
              <a:latin typeface="Calibri"/>
              <a:ea typeface="Calibri"/>
              <a:cs typeface="Calibri"/>
              <a:sym typeface="Calibri"/>
            </a:endParaRPr>
          </a:p>
          <a:p>
            <a:pPr indent="-127000" lvl="0" marL="127000" marR="0" rtl="0" algn="l">
              <a:spcBef>
                <a:spcPts val="3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Revenue: contribution margin per item</a:t>
            </a:r>
            <a:endParaRPr b="0" i="0" sz="1250" u="none" cap="none" strike="noStrike">
              <a:solidFill>
                <a:schemeClr val="dk1"/>
              </a:solidFill>
              <a:latin typeface="Calibri"/>
              <a:ea typeface="Calibri"/>
              <a:cs typeface="Calibri"/>
              <a:sym typeface="Calibri"/>
            </a:endParaRPr>
          </a:p>
        </p:txBody>
      </p:sp>
      <p:sp>
        <p:nvSpPr>
          <p:cNvPr id="401" name="Google Shape;401;p15"/>
          <p:cNvSpPr/>
          <p:nvPr/>
        </p:nvSpPr>
        <p:spPr>
          <a:xfrm>
            <a:off x="5015667" y="1188720"/>
            <a:ext cx="2160361" cy="3977640"/>
          </a:xfrm>
          <a:prstGeom prst="rect">
            <a:avLst/>
          </a:prstGeom>
          <a:solidFill>
            <a:schemeClr val="lt2"/>
          </a:solidFill>
          <a:ln cap="flat" cmpd="sng" w="12700">
            <a:solidFill>
              <a:srgbClr val="BFD6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5"/>
          <p:cNvSpPr txBox="1"/>
          <p:nvPr/>
        </p:nvSpPr>
        <p:spPr>
          <a:xfrm>
            <a:off x="5125395" y="1280160"/>
            <a:ext cx="1940905"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1" i="0" lang="en-US" sz="1000" u="none" cap="none" strike="noStrike">
                <a:solidFill>
                  <a:schemeClr val="dk2"/>
                </a:solidFill>
                <a:latin typeface="Arial"/>
                <a:ea typeface="Arial"/>
                <a:cs typeface="Arial"/>
                <a:sym typeface="Arial"/>
              </a:rPr>
              <a:t>UNIQUE VALUE PROPOSITION</a:t>
            </a:r>
            <a:endParaRPr b="0" i="0" sz="1000" u="none" cap="none" strike="noStrike">
              <a:solidFill>
                <a:schemeClr val="dk1"/>
              </a:solidFill>
              <a:latin typeface="Calibri"/>
              <a:ea typeface="Calibri"/>
              <a:cs typeface="Calibri"/>
              <a:sym typeface="Calibri"/>
            </a:endParaRPr>
          </a:p>
        </p:txBody>
      </p:sp>
      <p:sp>
        <p:nvSpPr>
          <p:cNvPr id="403" name="Google Shape;403;p15"/>
          <p:cNvSpPr txBox="1"/>
          <p:nvPr/>
        </p:nvSpPr>
        <p:spPr>
          <a:xfrm>
            <a:off x="5125395" y="1572768"/>
            <a:ext cx="1940905" cy="3520440"/>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Sellers: one pickup, paid on the spot</a:t>
            </a:r>
            <a:endParaRPr b="0" i="0" sz="1250" u="none" cap="none" strike="noStrike">
              <a:solidFill>
                <a:schemeClr val="dk1"/>
              </a:solidFill>
              <a:latin typeface="Calibri"/>
              <a:ea typeface="Calibri"/>
              <a:cs typeface="Calibri"/>
              <a:sym typeface="Calibri"/>
            </a:endParaRPr>
          </a:p>
          <a:p>
            <a:pPr indent="-127000" lvl="0" marL="127000" marR="0" rtl="0" algn="l">
              <a:spcBef>
                <a:spcPts val="3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Buyers: furnished before you arrive</a:t>
            </a:r>
            <a:endParaRPr b="0" i="0" sz="125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E07B1F"/>
              </a:buClr>
              <a:buSzPts val="1250"/>
              <a:buFont typeface="Calibri"/>
              <a:buNone/>
            </a:pPr>
            <a:r>
              <a:rPr b="1" i="0" lang="en-US" sz="1250" u="none" cap="none" strike="noStrike">
                <a:solidFill>
                  <a:srgbClr val="E07B1F"/>
                </a:solidFill>
                <a:latin typeface="Calibri"/>
                <a:ea typeface="Calibri"/>
                <a:cs typeface="Calibri"/>
                <a:sym typeface="Calibri"/>
              </a:rPr>
              <a:t>High-level concept</a:t>
            </a:r>
            <a:endParaRPr b="0" i="0" sz="1250" u="none" cap="none" strike="noStrike">
              <a:solidFill>
                <a:schemeClr val="dk1"/>
              </a:solidFill>
              <a:latin typeface="Calibri"/>
              <a:ea typeface="Calibri"/>
              <a:cs typeface="Calibri"/>
              <a:sym typeface="Calibri"/>
            </a:endParaRPr>
          </a:p>
          <a:p>
            <a:pPr indent="-127000" lvl="0" marL="127000" marR="0" rtl="0" algn="l">
              <a:spcBef>
                <a:spcPts val="2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Full-stack furniture marketplace: pickup, storage, delivery</a:t>
            </a:r>
            <a:endParaRPr b="0" i="0" sz="1250" u="none" cap="none" strike="noStrike">
              <a:solidFill>
                <a:schemeClr val="dk1"/>
              </a:solidFill>
              <a:latin typeface="Calibri"/>
              <a:ea typeface="Calibri"/>
              <a:cs typeface="Calibri"/>
              <a:sym typeface="Calibri"/>
            </a:endParaRPr>
          </a:p>
        </p:txBody>
      </p:sp>
      <p:sp>
        <p:nvSpPr>
          <p:cNvPr id="404" name="Google Shape;404;p15"/>
          <p:cNvSpPr/>
          <p:nvPr/>
        </p:nvSpPr>
        <p:spPr>
          <a:xfrm>
            <a:off x="7249180" y="1188720"/>
            <a:ext cx="2160361" cy="1952244"/>
          </a:xfrm>
          <a:prstGeom prst="rect">
            <a:avLst/>
          </a:prstGeom>
          <a:solidFill>
            <a:schemeClr val="lt1"/>
          </a:solidFill>
          <a:ln cap="flat" cmpd="sng" w="12700">
            <a:solidFill>
              <a:srgbClr val="BFD6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5"/>
          <p:cNvSpPr txBox="1"/>
          <p:nvPr/>
        </p:nvSpPr>
        <p:spPr>
          <a:xfrm>
            <a:off x="7358908" y="1280160"/>
            <a:ext cx="1940905"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1" i="0" lang="en-US" sz="1000" u="none" cap="none" strike="noStrike">
                <a:solidFill>
                  <a:schemeClr val="dk2"/>
                </a:solidFill>
                <a:latin typeface="Arial"/>
                <a:ea typeface="Arial"/>
                <a:cs typeface="Arial"/>
                <a:sym typeface="Arial"/>
              </a:rPr>
              <a:t>UNFAIR ADVANTAGE</a:t>
            </a:r>
            <a:endParaRPr b="0" i="0" sz="1000" u="none" cap="none" strike="noStrike">
              <a:solidFill>
                <a:schemeClr val="dk1"/>
              </a:solidFill>
              <a:latin typeface="Calibri"/>
              <a:ea typeface="Calibri"/>
              <a:cs typeface="Calibri"/>
              <a:sym typeface="Calibri"/>
            </a:endParaRPr>
          </a:p>
        </p:txBody>
      </p:sp>
      <p:sp>
        <p:nvSpPr>
          <p:cNvPr id="406" name="Google Shape;406;p15"/>
          <p:cNvSpPr txBox="1"/>
          <p:nvPr/>
        </p:nvSpPr>
        <p:spPr>
          <a:xfrm>
            <a:off x="7358908" y="1572768"/>
            <a:ext cx="1940905" cy="1495044"/>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Inventory captured in May, when August buyers have none</a:t>
            </a:r>
            <a:endParaRPr b="0" i="0" sz="1250" u="none" cap="none" strike="noStrike">
              <a:solidFill>
                <a:schemeClr val="dk1"/>
              </a:solidFill>
              <a:latin typeface="Calibri"/>
              <a:ea typeface="Calibri"/>
              <a:cs typeface="Calibri"/>
              <a:sym typeface="Calibri"/>
            </a:endParaRPr>
          </a:p>
          <a:p>
            <a:pPr indent="-127000" lvl="0" marL="127000" marR="0" rtl="0" algn="l">
              <a:spcBef>
                <a:spcPts val="3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.edu-verified Duke community</a:t>
            </a:r>
            <a:endParaRPr b="0" i="0" sz="1250" u="none" cap="none" strike="noStrike">
              <a:solidFill>
                <a:schemeClr val="dk1"/>
              </a:solidFill>
              <a:latin typeface="Calibri"/>
              <a:ea typeface="Calibri"/>
              <a:cs typeface="Calibri"/>
              <a:sym typeface="Calibri"/>
            </a:endParaRPr>
          </a:p>
          <a:p>
            <a:pPr indent="-127000" lvl="0" marL="127000" marR="0" rtl="0" algn="l">
              <a:spcBef>
                <a:spcPts val="3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Campus pricing data (building)</a:t>
            </a:r>
            <a:endParaRPr b="0" i="0" sz="1250" u="none" cap="none" strike="noStrike">
              <a:solidFill>
                <a:schemeClr val="dk1"/>
              </a:solidFill>
              <a:latin typeface="Calibri"/>
              <a:ea typeface="Calibri"/>
              <a:cs typeface="Calibri"/>
              <a:sym typeface="Calibri"/>
            </a:endParaRPr>
          </a:p>
        </p:txBody>
      </p:sp>
      <p:sp>
        <p:nvSpPr>
          <p:cNvPr id="407" name="Google Shape;407;p15"/>
          <p:cNvSpPr/>
          <p:nvPr/>
        </p:nvSpPr>
        <p:spPr>
          <a:xfrm>
            <a:off x="7249180" y="3214116"/>
            <a:ext cx="2160361" cy="1952244"/>
          </a:xfrm>
          <a:prstGeom prst="rect">
            <a:avLst/>
          </a:prstGeom>
          <a:solidFill>
            <a:schemeClr val="lt1"/>
          </a:solidFill>
          <a:ln cap="flat" cmpd="sng" w="12700">
            <a:solidFill>
              <a:srgbClr val="BFD6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5"/>
          <p:cNvSpPr txBox="1"/>
          <p:nvPr/>
        </p:nvSpPr>
        <p:spPr>
          <a:xfrm>
            <a:off x="7358908" y="3305556"/>
            <a:ext cx="1940905"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1" i="0" lang="en-US" sz="1000" u="none" cap="none" strike="noStrike">
                <a:solidFill>
                  <a:schemeClr val="dk2"/>
                </a:solidFill>
                <a:latin typeface="Arial"/>
                <a:ea typeface="Arial"/>
                <a:cs typeface="Arial"/>
                <a:sym typeface="Arial"/>
              </a:rPr>
              <a:t>CHANNELS</a:t>
            </a:r>
            <a:endParaRPr b="0" i="0" sz="1000" u="none" cap="none" strike="noStrike">
              <a:solidFill>
                <a:schemeClr val="dk1"/>
              </a:solidFill>
              <a:latin typeface="Calibri"/>
              <a:ea typeface="Calibri"/>
              <a:cs typeface="Calibri"/>
              <a:sym typeface="Calibri"/>
            </a:endParaRPr>
          </a:p>
        </p:txBody>
      </p:sp>
      <p:sp>
        <p:nvSpPr>
          <p:cNvPr id="409" name="Google Shape;409;p15"/>
          <p:cNvSpPr txBox="1"/>
          <p:nvPr/>
        </p:nvSpPr>
        <p:spPr>
          <a:xfrm>
            <a:off x="7358908" y="3598164"/>
            <a:ext cx="1940905" cy="1495044"/>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Duke move-out emails</a:t>
            </a:r>
            <a:endParaRPr b="0" i="0" sz="1250" u="none" cap="none" strike="noStrike">
              <a:solidFill>
                <a:schemeClr val="dk1"/>
              </a:solidFill>
              <a:latin typeface="Calibri"/>
              <a:ea typeface="Calibri"/>
              <a:cs typeface="Calibri"/>
              <a:sym typeface="Calibri"/>
            </a:endParaRPr>
          </a:p>
          <a:p>
            <a:pPr indent="-127000" lvl="0" marL="127000" marR="0" rtl="0" algn="l">
              <a:spcBef>
                <a:spcPts val="3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Off-campus apartments</a:t>
            </a:r>
            <a:endParaRPr b="0" i="0" sz="1250" u="none" cap="none" strike="noStrike">
              <a:solidFill>
                <a:schemeClr val="dk1"/>
              </a:solidFill>
              <a:latin typeface="Calibri"/>
              <a:ea typeface="Calibri"/>
              <a:cs typeface="Calibri"/>
              <a:sym typeface="Calibri"/>
            </a:endParaRPr>
          </a:p>
          <a:p>
            <a:pPr indent="-127000" lvl="0" marL="127000" marR="0" rtl="0" algn="l">
              <a:spcBef>
                <a:spcPts val="3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Grad and intl. orientation</a:t>
            </a:r>
            <a:endParaRPr b="0" i="0" sz="1250" u="none" cap="none" strike="noStrike">
              <a:solidFill>
                <a:schemeClr val="dk1"/>
              </a:solidFill>
              <a:latin typeface="Calibri"/>
              <a:ea typeface="Calibri"/>
              <a:cs typeface="Calibri"/>
              <a:sym typeface="Calibri"/>
            </a:endParaRPr>
          </a:p>
          <a:p>
            <a:pPr indent="-127000" lvl="0" marL="127000" marR="0" rtl="0" algn="l">
              <a:spcBef>
                <a:spcPts val="3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Targeted ads, group chats</a:t>
            </a:r>
            <a:endParaRPr b="0" i="0" sz="1250" u="none" cap="none" strike="noStrike">
              <a:solidFill>
                <a:schemeClr val="dk1"/>
              </a:solidFill>
              <a:latin typeface="Calibri"/>
              <a:ea typeface="Calibri"/>
              <a:cs typeface="Calibri"/>
              <a:sym typeface="Calibri"/>
            </a:endParaRPr>
          </a:p>
        </p:txBody>
      </p:sp>
      <p:sp>
        <p:nvSpPr>
          <p:cNvPr id="410" name="Google Shape;410;p15"/>
          <p:cNvSpPr/>
          <p:nvPr/>
        </p:nvSpPr>
        <p:spPr>
          <a:xfrm>
            <a:off x="9482694" y="1188720"/>
            <a:ext cx="2160361" cy="3977640"/>
          </a:xfrm>
          <a:prstGeom prst="rect">
            <a:avLst/>
          </a:prstGeom>
          <a:solidFill>
            <a:schemeClr val="lt1"/>
          </a:solidFill>
          <a:ln cap="flat" cmpd="sng" w="12700">
            <a:solidFill>
              <a:srgbClr val="BFD6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5"/>
          <p:cNvSpPr txBox="1"/>
          <p:nvPr/>
        </p:nvSpPr>
        <p:spPr>
          <a:xfrm>
            <a:off x="9592422" y="1280160"/>
            <a:ext cx="1940905"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1" i="0" lang="en-US" sz="1000" u="none" cap="none" strike="noStrike">
                <a:solidFill>
                  <a:schemeClr val="dk2"/>
                </a:solidFill>
                <a:latin typeface="Arial"/>
                <a:ea typeface="Arial"/>
                <a:cs typeface="Arial"/>
                <a:sym typeface="Arial"/>
              </a:rPr>
              <a:t>CUSTOMER SEGMENTS</a:t>
            </a:r>
            <a:endParaRPr b="0" i="0" sz="1000" u="none" cap="none" strike="noStrike">
              <a:solidFill>
                <a:schemeClr val="dk1"/>
              </a:solidFill>
              <a:latin typeface="Calibri"/>
              <a:ea typeface="Calibri"/>
              <a:cs typeface="Calibri"/>
              <a:sym typeface="Calibri"/>
            </a:endParaRPr>
          </a:p>
        </p:txBody>
      </p:sp>
      <p:sp>
        <p:nvSpPr>
          <p:cNvPr id="412" name="Google Shape;412;p15"/>
          <p:cNvSpPr txBox="1"/>
          <p:nvPr/>
        </p:nvSpPr>
        <p:spPr>
          <a:xfrm>
            <a:off x="9592422" y="1572768"/>
            <a:ext cx="1940905" cy="3520440"/>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Sellers: Duke students and staff moving out</a:t>
            </a:r>
            <a:endParaRPr b="0" i="0" sz="1250" u="none" cap="none" strike="noStrike">
              <a:solidFill>
                <a:schemeClr val="dk1"/>
              </a:solidFill>
              <a:latin typeface="Calibri"/>
              <a:ea typeface="Calibri"/>
              <a:cs typeface="Calibri"/>
              <a:sym typeface="Calibri"/>
            </a:endParaRPr>
          </a:p>
          <a:p>
            <a:pPr indent="-127000" lvl="0" marL="127000" marR="0" rtl="0" algn="l">
              <a:spcBef>
                <a:spcPts val="3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Buyers: incoming Duke students and staff</a:t>
            </a:r>
            <a:endParaRPr b="0" i="0" sz="125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E07B1F"/>
              </a:buClr>
              <a:buSzPts val="1250"/>
              <a:buFont typeface="Calibri"/>
              <a:buNone/>
            </a:pPr>
            <a:r>
              <a:rPr b="1" i="0" lang="en-US" sz="1250" u="none" cap="none" strike="noStrike">
                <a:solidFill>
                  <a:srgbClr val="E07B1F"/>
                </a:solidFill>
                <a:latin typeface="Calibri"/>
                <a:ea typeface="Calibri"/>
                <a:cs typeface="Calibri"/>
                <a:sym typeface="Calibri"/>
              </a:rPr>
              <a:t>Early adopters</a:t>
            </a:r>
            <a:endParaRPr b="0" i="0" sz="1250" u="none" cap="none" strike="noStrike">
              <a:solidFill>
                <a:schemeClr val="dk1"/>
              </a:solidFill>
              <a:latin typeface="Calibri"/>
              <a:ea typeface="Calibri"/>
              <a:cs typeface="Calibri"/>
              <a:sym typeface="Calibri"/>
            </a:endParaRPr>
          </a:p>
          <a:p>
            <a:pPr indent="-127000" lvl="0" marL="127000" marR="0" rtl="0" algn="l">
              <a:spcBef>
                <a:spcPts val="2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No-car seller leaving within days of finals</a:t>
            </a:r>
            <a:endParaRPr b="0" i="0" sz="1250" u="none" cap="none" strike="noStrike">
              <a:solidFill>
                <a:schemeClr val="dk1"/>
              </a:solidFill>
              <a:latin typeface="Calibri"/>
              <a:ea typeface="Calibri"/>
              <a:cs typeface="Calibri"/>
              <a:sym typeface="Calibri"/>
            </a:endParaRPr>
          </a:p>
          <a:p>
            <a:pPr indent="-127000" lvl="0" marL="127000" marR="0" rtl="0" algn="l">
              <a:spcBef>
                <a:spcPts val="3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Out-of-town grad student with an unfurnished lease</a:t>
            </a:r>
            <a:endParaRPr b="0" i="0" sz="1250" u="none" cap="none" strike="noStrike">
              <a:solidFill>
                <a:schemeClr val="dk1"/>
              </a:solidFill>
              <a:latin typeface="Calibri"/>
              <a:ea typeface="Calibri"/>
              <a:cs typeface="Calibri"/>
              <a:sym typeface="Calibri"/>
            </a:endParaRPr>
          </a:p>
        </p:txBody>
      </p:sp>
      <p:sp>
        <p:nvSpPr>
          <p:cNvPr id="413" name="Google Shape;413;p15"/>
          <p:cNvSpPr/>
          <p:nvPr/>
        </p:nvSpPr>
        <p:spPr>
          <a:xfrm>
            <a:off x="548640" y="5239512"/>
            <a:ext cx="5510632" cy="914400"/>
          </a:xfrm>
          <a:prstGeom prst="rect">
            <a:avLst/>
          </a:prstGeom>
          <a:solidFill>
            <a:schemeClr val="lt1"/>
          </a:solidFill>
          <a:ln cap="flat" cmpd="sng" w="12700">
            <a:solidFill>
              <a:srgbClr val="BFD6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5"/>
          <p:cNvSpPr txBox="1"/>
          <p:nvPr/>
        </p:nvSpPr>
        <p:spPr>
          <a:xfrm>
            <a:off x="658368" y="5330952"/>
            <a:ext cx="5291176"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1" i="0" lang="en-US" sz="1000" u="none" cap="none" strike="noStrike">
                <a:solidFill>
                  <a:schemeClr val="dk2"/>
                </a:solidFill>
                <a:latin typeface="Arial"/>
                <a:ea typeface="Arial"/>
                <a:cs typeface="Arial"/>
                <a:sym typeface="Arial"/>
              </a:rPr>
              <a:t>COST STRUCTURE</a:t>
            </a:r>
            <a:endParaRPr b="0" i="0" sz="1000" u="none" cap="none" strike="noStrike">
              <a:solidFill>
                <a:schemeClr val="dk1"/>
              </a:solidFill>
              <a:latin typeface="Calibri"/>
              <a:ea typeface="Calibri"/>
              <a:cs typeface="Calibri"/>
              <a:sym typeface="Calibri"/>
            </a:endParaRPr>
          </a:p>
        </p:txBody>
      </p:sp>
      <p:sp>
        <p:nvSpPr>
          <p:cNvPr id="415" name="Google Shape;415;p15"/>
          <p:cNvSpPr txBox="1"/>
          <p:nvPr/>
        </p:nvSpPr>
        <p:spPr>
          <a:xfrm>
            <a:off x="658368" y="5623560"/>
            <a:ext cx="5291176" cy="457200"/>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Inventory paid to sellers  ·  Pickup and delivery (partner haulers)</a:t>
            </a:r>
            <a:endParaRPr b="0" i="0" sz="1250" u="none" cap="none" strike="noStrike">
              <a:solidFill>
                <a:schemeClr val="dk1"/>
              </a:solidFill>
              <a:latin typeface="Calibri"/>
              <a:ea typeface="Calibri"/>
              <a:cs typeface="Calibri"/>
              <a:sym typeface="Calibri"/>
            </a:endParaRPr>
          </a:p>
          <a:p>
            <a:pPr indent="-127000" lvl="0" marL="127000" marR="0" rtl="0" algn="l">
              <a:spcBef>
                <a:spcPts val="3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Summer storage  ·  Damaged or unsold items  ·  Platform and marketing</a:t>
            </a:r>
            <a:endParaRPr b="0" i="0" sz="1250" u="none" cap="none" strike="noStrike">
              <a:solidFill>
                <a:schemeClr val="dk1"/>
              </a:solidFill>
              <a:latin typeface="Calibri"/>
              <a:ea typeface="Calibri"/>
              <a:cs typeface="Calibri"/>
              <a:sym typeface="Calibri"/>
            </a:endParaRPr>
          </a:p>
        </p:txBody>
      </p:sp>
      <p:sp>
        <p:nvSpPr>
          <p:cNvPr id="416" name="Google Shape;416;p15"/>
          <p:cNvSpPr/>
          <p:nvPr/>
        </p:nvSpPr>
        <p:spPr>
          <a:xfrm>
            <a:off x="6132424" y="5239512"/>
            <a:ext cx="5510632" cy="914400"/>
          </a:xfrm>
          <a:prstGeom prst="rect">
            <a:avLst/>
          </a:prstGeom>
          <a:solidFill>
            <a:schemeClr val="lt1"/>
          </a:solidFill>
          <a:ln cap="flat" cmpd="sng" w="12700">
            <a:solidFill>
              <a:srgbClr val="BFD6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5"/>
          <p:cNvSpPr txBox="1"/>
          <p:nvPr/>
        </p:nvSpPr>
        <p:spPr>
          <a:xfrm>
            <a:off x="6242152" y="5330952"/>
            <a:ext cx="5291176"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000"/>
              <a:buFont typeface="Arial"/>
              <a:buNone/>
            </a:pPr>
            <a:r>
              <a:rPr b="1" i="0" lang="en-US" sz="1000" u="none" cap="none" strike="noStrike">
                <a:solidFill>
                  <a:schemeClr val="dk2"/>
                </a:solidFill>
                <a:latin typeface="Arial"/>
                <a:ea typeface="Arial"/>
                <a:cs typeface="Arial"/>
                <a:sym typeface="Arial"/>
              </a:rPr>
              <a:t>REVENUE STREAMS</a:t>
            </a:r>
            <a:endParaRPr b="0" i="0" sz="1000" u="none" cap="none" strike="noStrike">
              <a:solidFill>
                <a:schemeClr val="dk1"/>
              </a:solidFill>
              <a:latin typeface="Calibri"/>
              <a:ea typeface="Calibri"/>
              <a:cs typeface="Calibri"/>
              <a:sym typeface="Calibri"/>
            </a:endParaRPr>
          </a:p>
        </p:txBody>
      </p:sp>
      <p:sp>
        <p:nvSpPr>
          <p:cNvPr id="418" name="Google Shape;418;p15"/>
          <p:cNvSpPr txBox="1"/>
          <p:nvPr/>
        </p:nvSpPr>
        <p:spPr>
          <a:xfrm>
            <a:off x="6242152" y="5623560"/>
            <a:ext cx="5291176" cy="457200"/>
          </a:xfrm>
          <a:prstGeom prst="rect">
            <a:avLst/>
          </a:prstGeom>
          <a:noFill/>
          <a:ln>
            <a:noFill/>
          </a:ln>
        </p:spPr>
        <p:txBody>
          <a:bodyPr anchorCtr="0" anchor="t" bIns="0" lIns="0" spcFirstLastPara="1" rIns="0" wrap="square" tIns="0">
            <a:noAutofit/>
          </a:bodyPr>
          <a:lstStyle/>
          <a:p>
            <a:pPr indent="-127000" lvl="0" marL="127000" marR="0" rtl="0" algn="l">
              <a:spcBef>
                <a:spcPts val="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Resale margin (e.g., buy at $40, sell at $80)</a:t>
            </a:r>
            <a:endParaRPr b="0" i="0" sz="1250" u="none" cap="none" strike="noStrike">
              <a:solidFill>
                <a:schemeClr val="dk1"/>
              </a:solidFill>
              <a:latin typeface="Calibri"/>
              <a:ea typeface="Calibri"/>
              <a:cs typeface="Calibri"/>
              <a:sym typeface="Calibri"/>
            </a:endParaRPr>
          </a:p>
          <a:p>
            <a:pPr indent="-127000" lvl="0" marL="127000" marR="0" rtl="0" algn="l">
              <a:spcBef>
                <a:spcPts val="300"/>
              </a:spcBef>
              <a:spcAft>
                <a:spcPts val="0"/>
              </a:spcAft>
              <a:buClr>
                <a:schemeClr val="dk1"/>
              </a:buClr>
              <a:buSzPts val="1250"/>
              <a:buFont typeface="Calibri"/>
              <a:buChar char="•"/>
            </a:pPr>
            <a:r>
              <a:rPr b="0" i="0" lang="en-US" sz="1250" u="none" cap="none" strike="noStrike">
                <a:solidFill>
                  <a:schemeClr val="dk1"/>
                </a:solidFill>
                <a:latin typeface="Calibri"/>
                <a:ea typeface="Calibri"/>
                <a:cs typeface="Calibri"/>
                <a:sym typeface="Calibri"/>
              </a:rPr>
              <a:t>Buyer delivery fee</a:t>
            </a:r>
            <a:endParaRPr b="0" i="0" sz="1250" u="none" cap="none" strike="noStrike">
              <a:solidFill>
                <a:schemeClr val="dk1"/>
              </a:solidFill>
              <a:latin typeface="Calibri"/>
              <a:ea typeface="Calibri"/>
              <a:cs typeface="Calibri"/>
              <a:sym typeface="Calibri"/>
            </a:endParaRPr>
          </a:p>
        </p:txBody>
      </p:sp>
      <p:sp>
        <p:nvSpPr>
          <p:cNvPr id="419" name="Google Shape;419;p15"/>
          <p:cNvSpPr txBox="1"/>
          <p:nvPr>
            <p:ph idx="4294967295" type="sldNum"/>
          </p:nvPr>
        </p:nvSpPr>
        <p:spPr>
          <a:xfrm>
            <a:off x="11183112" y="6400800"/>
            <a:ext cx="457200"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6"/>
                </a:solidFill>
                <a:latin typeface="Calibri"/>
                <a:ea typeface="Calibri"/>
                <a:cs typeface="Calibri"/>
                <a:sym typeface="Calibri"/>
              </a:rPr>
              <a:t>‹#›</a:t>
            </a:fld>
            <a:endParaRPr b="0" i="0" sz="1000" u="none" cap="none" strike="noStrike">
              <a:solidFill>
                <a:schemeClr val="accent6"/>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Relay">
  <a:themeElements>
    <a:clrScheme name="Relay">
      <a:dk1>
        <a:srgbClr val="17262A"/>
      </a:dk1>
      <a:lt1>
        <a:srgbClr val="FFFFFF"/>
      </a:lt1>
      <a:dk2>
        <a:srgbClr val="0E4B4F"/>
      </a:dk2>
      <a:lt2>
        <a:srgbClr val="EEF5F4"/>
      </a:lt2>
      <a:accent1>
        <a:srgbClr val="E07B1F"/>
      </a:accent1>
      <a:accent2>
        <a:srgbClr val="1F8A8A"/>
      </a:accent2>
      <a:accent3>
        <a:srgbClr val="0E4B4F"/>
      </a:accent3>
      <a:accent4>
        <a:srgbClr val="FBE7D2"/>
      </a:accent4>
      <a:accent5>
        <a:srgbClr val="D7ECEA"/>
      </a:accent5>
      <a:accent6>
        <a:srgbClr val="5F6F73"/>
      </a:accent6>
      <a:hlink>
        <a:srgbClr val="1F8A8A"/>
      </a:hlink>
      <a:folHlink>
        <a:srgbClr val="5F6F7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lay">
  <a:themeElements>
    <a:clrScheme name="Relay">
      <a:dk1>
        <a:srgbClr val="17262A"/>
      </a:dk1>
      <a:lt1>
        <a:srgbClr val="FFFFFF"/>
      </a:lt1>
      <a:dk2>
        <a:srgbClr val="0E4B4F"/>
      </a:dk2>
      <a:lt2>
        <a:srgbClr val="EEF5F4"/>
      </a:lt2>
      <a:accent1>
        <a:srgbClr val="E07B1F"/>
      </a:accent1>
      <a:accent2>
        <a:srgbClr val="1F8A8A"/>
      </a:accent2>
      <a:accent3>
        <a:srgbClr val="0E4B4F"/>
      </a:accent3>
      <a:accent4>
        <a:srgbClr val="FBE7D2"/>
      </a:accent4>
      <a:accent5>
        <a:srgbClr val="D7ECEA"/>
      </a:accent5>
      <a:accent6>
        <a:srgbClr val="5F6F73"/>
      </a:accent6>
      <a:hlink>
        <a:srgbClr val="1F8A8A"/>
      </a:hlink>
      <a:folHlink>
        <a:srgbClr val="5F6F7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