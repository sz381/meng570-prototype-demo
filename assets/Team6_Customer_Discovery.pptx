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8"/>
  </p:normalViewPr>
  <p:slideViewPr>
    <p:cSldViewPr snapToGrid="0">
      <p:cViewPr varScale="1">
        <p:scale>
          <a:sx n="117" d="100"/>
          <a:sy n="117" d="100"/>
        </p:scale>
        <p:origin x="5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attached Customer Discovery Interview Workbook. Team: Shenwei Zhang, Kush Mishra, Sam Teshome, and Mihir. Virtual interviews are AI simulations. Real interviews include both seller and buyer experiences.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Customer_Discovery_Interview_Workbook (2)(1).docx. Student Inputs: Allan, Ryan, and Nemo. Nemo has a blank description, so this summary uses the completed JTBD and constraints.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Customer_Discovery_Interview_Workbook (2)(1).docx. These are hypotheses from the persona inputs, not established 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Customer_Discovery_Interview_Workbook (2)(1).docx. Virtual transcripts: Ryan (Kush), graduating senior (Sam), Allan (Mihir), and seller simulation (Shenwei). These results generated questions for real interviews rather than validating demand.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Customer_Discovery_Interview_Workbook (2)(1).docx. Real interviews: Jingyu had 2–3 days, no car, and apartment disposal fees. The 2025 Duke graduate identified May-to-August timing, storage fees, and damage concerns. The PhD candidate paid for junk removal and now prefers furnished housing. Kevin described buying furniture with several weeks and family/friend help. Buyer-side demand and willingness to pay for the proposed service remain unvalidated. The team reflection says no real buyer interview, but Kevin’s transcript does document a buying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Customer_Discovery_Interview_Workbook (2)(1).docx. Synthesis of the team’s existing reflection and all interview records. The team observed that virtual interviews suggested earlier selling, while real interviews exposed constraints and more resigned responses. Next steps below reflect the workbook’s team assessment: interview more real buyers and assess which furniture merits summer storage.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D3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062848-2D4F-46FD-B9C1-C0A26DF50C53}"/>
              </a:ext>
            </a:extLst>
          </p:cNvPr>
          <p:cNvSpPr>
            <a:spLocks noGrp="1"/>
          </p:cNvSpPr>
          <p:nvPr/>
        </p:nvSpPr>
        <p:spPr>
          <a:xfrm>
            <a:off x="685800" y="1600200"/>
            <a:ext cx="10572750" cy="1809750"/>
          </a:xfrm>
          <a:prstGeom prst="rect">
            <a:avLst/>
          </a:prstGeom>
          <a:noFill/>
          <a:ln w="0">
            <a:noFill/>
          </a:ln>
        </p:spPr>
        <p:txBody>
          <a:bodyPr>
            <a:noAutofit/>
          </a:bodyPr>
          <a:lstStyle/>
          <a:p>
            <a:pPr>
              <a:defRPr sz="4950" b="1">
                <a:solidFill>
                  <a:srgbClr val="FFFFFF"/>
                </a:solidFill>
                <a:latin typeface="Bitstream Charter"/>
                <a:ea typeface="Bitstream Charter"/>
                <a:cs typeface="Bitstream Charter"/>
              </a:defRPr>
            </a:pPr>
            <a:r>
              <a:rPr lang="en-US" sz="4950" b="1" dirty="0">
                <a:solidFill>
                  <a:srgbClr val="FFFFFF"/>
                </a:solidFill>
                <a:latin typeface="Bitstream Charter"/>
                <a:ea typeface="Bitstream Charter"/>
                <a:cs typeface="Bitstream Charter"/>
              </a:rPr>
              <a:t>Relay Customer Discovery</a:t>
            </a:r>
            <a:endParaRPr sz="4950" b="1" dirty="0">
              <a:solidFill>
                <a:srgbClr val="FFFFFF"/>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5E147593-1877-4B11-9E0F-C1762BE1CB81}"/>
              </a:ext>
            </a:extLst>
          </p:cNvPr>
          <p:cNvSpPr>
            <a:spLocks noGrp="1"/>
          </p:cNvSpPr>
          <p:nvPr/>
        </p:nvSpPr>
        <p:spPr>
          <a:xfrm>
            <a:off x="723900" y="4895850"/>
            <a:ext cx="10477500" cy="457200"/>
          </a:xfrm>
          <a:prstGeom prst="rect">
            <a:avLst/>
          </a:prstGeom>
          <a:noFill/>
          <a:ln w="0">
            <a:noFill/>
          </a:ln>
        </p:spPr>
        <p:txBody>
          <a:bodyPr>
            <a:noAutofit/>
          </a:bodyPr>
          <a:lstStyle/>
          <a:p>
            <a:pPr>
              <a:defRPr sz="1875" b="0">
                <a:solidFill>
                  <a:srgbClr val="E5E8E8"/>
                </a:solidFill>
                <a:latin typeface="Bitstream Charter"/>
                <a:ea typeface="Bitstream Charter"/>
                <a:cs typeface="Bitstream Charter"/>
              </a:defRPr>
            </a:pPr>
            <a:r>
              <a:rPr lang="en-US" sz="1875" dirty="0">
                <a:solidFill>
                  <a:srgbClr val="E5E8E8"/>
                </a:solidFill>
                <a:latin typeface="Bitstream Charter"/>
                <a:ea typeface="Bitstream Charter"/>
                <a:cs typeface="Bitstream Charter"/>
              </a:rPr>
              <a:t>P</a:t>
            </a:r>
            <a:r>
              <a:rPr sz="1875" b="0" dirty="0">
                <a:solidFill>
                  <a:srgbClr val="E5E8E8"/>
                </a:solidFill>
                <a:latin typeface="Bitstream Charter"/>
                <a:ea typeface="Bitstream Charter"/>
                <a:cs typeface="Bitstream Charter"/>
              </a:rPr>
              <a:t>ersonas   /   </a:t>
            </a:r>
            <a:r>
              <a:rPr lang="en-US" sz="1875" dirty="0">
                <a:solidFill>
                  <a:srgbClr val="E5E8E8"/>
                </a:solidFill>
                <a:latin typeface="Bitstream Charter"/>
                <a:ea typeface="Bitstream Charter"/>
                <a:cs typeface="Bitstream Charter"/>
              </a:rPr>
              <a:t>V</a:t>
            </a:r>
            <a:r>
              <a:rPr sz="1875" b="0" dirty="0">
                <a:solidFill>
                  <a:srgbClr val="E5E8E8"/>
                </a:solidFill>
                <a:latin typeface="Bitstream Charter"/>
                <a:ea typeface="Bitstream Charter"/>
                <a:cs typeface="Bitstream Charter"/>
              </a:rPr>
              <a:t>irtual interviews   /   </a:t>
            </a:r>
            <a:r>
              <a:rPr lang="en-US" sz="1875" dirty="0">
                <a:solidFill>
                  <a:srgbClr val="E5E8E8"/>
                </a:solidFill>
                <a:latin typeface="Bitstream Charter"/>
                <a:ea typeface="Bitstream Charter"/>
                <a:cs typeface="Bitstream Charter"/>
              </a:rPr>
              <a:t>In-person</a:t>
            </a:r>
            <a:r>
              <a:rPr sz="1875" b="0" dirty="0">
                <a:solidFill>
                  <a:srgbClr val="E5E8E8"/>
                </a:solidFill>
                <a:latin typeface="Bitstream Charter"/>
                <a:ea typeface="Bitstream Charter"/>
                <a:cs typeface="Bitstream Charter"/>
              </a:rPr>
              <a:t> interviews</a:t>
            </a:r>
          </a:p>
        </p:txBody>
      </p:sp>
      <p:sp>
        <p:nvSpPr>
          <p:cNvPr id="6" name="Rectangle 5">
            <a:extLst>
              <a:ext uri="{FF2B5EF4-FFF2-40B4-BE49-F238E27FC236}">
                <a16:creationId xmlns:a16="http://schemas.microsoft.com/office/drawing/2014/main" id="{10DD966E-8819-F141-A3CE-FE83BBADF751}"/>
              </a:ext>
            </a:extLst>
          </p:cNvPr>
          <p:cNvSpPr>
            <a:spLocks noGrp="1"/>
          </p:cNvSpPr>
          <p:nvPr/>
        </p:nvSpPr>
        <p:spPr>
          <a:xfrm>
            <a:off x="723900" y="3248025"/>
            <a:ext cx="10572750" cy="1809750"/>
          </a:xfrm>
          <a:prstGeom prst="rect">
            <a:avLst/>
          </a:prstGeom>
          <a:noFill/>
          <a:ln w="0">
            <a:noFill/>
          </a:ln>
        </p:spPr>
        <p:txBody>
          <a:bodyPr>
            <a:noAutofit/>
          </a:bodyPr>
          <a:lstStyle/>
          <a:p>
            <a:pPr>
              <a:defRPr sz="4950" b="1">
                <a:solidFill>
                  <a:srgbClr val="FFFFFF"/>
                </a:solidFill>
                <a:latin typeface="Bitstream Charter"/>
                <a:ea typeface="Bitstream Charter"/>
                <a:cs typeface="Bitstream Charter"/>
              </a:defRPr>
            </a:pPr>
            <a:r>
              <a:rPr lang="en-US" sz="3000" b="1" dirty="0">
                <a:solidFill>
                  <a:srgbClr val="FFFFFF"/>
                </a:solidFill>
                <a:latin typeface="Bitstream Charter"/>
                <a:ea typeface="Bitstream Charter"/>
                <a:cs typeface="Bitstream Charter"/>
              </a:rPr>
              <a:t>Team 6</a:t>
            </a:r>
            <a:endParaRPr sz="3000" b="1" dirty="0">
              <a:solidFill>
                <a:srgbClr val="FFFFFF"/>
              </a:solidFill>
              <a:latin typeface="Bitstream Charter"/>
              <a:ea typeface="Bitstream Charter"/>
              <a:cs typeface="Bitstream Charter"/>
            </a:endParaRPr>
          </a:p>
        </p:txBody>
      </p:sp>
    </p:spTree>
    <p:extLst>
      <p:ext uri="{BB962C8B-B14F-4D97-AF65-F5344CB8AC3E}">
        <p14:creationId xmlns:p14="http://schemas.microsoft.com/office/powerpoint/2010/main" val="1870959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1AB4118-E9C4-4FA3-A5A8-ACEC3F016734}"/>
              </a:ext>
            </a:extLst>
          </p:cNvPr>
          <p:cNvSpPr>
            <a:spLocks noGrp="1"/>
          </p:cNvSpPr>
          <p:nvPr/>
        </p:nvSpPr>
        <p:spPr>
          <a:xfrm>
            <a:off x="685800" y="495300"/>
            <a:ext cx="10820400" cy="809625"/>
          </a:xfrm>
          <a:prstGeom prst="rect">
            <a:avLst/>
          </a:prstGeom>
          <a:noFill/>
          <a:ln w="0">
            <a:noFill/>
          </a:ln>
        </p:spPr>
        <p:txBody>
          <a:bodyPr>
            <a:noAutofit/>
          </a:bodyPr>
          <a:lstStyle/>
          <a:p>
            <a:pPr algn="ctr">
              <a:defRPr sz="3300" b="1">
                <a:solidFill>
                  <a:srgbClr val="172D3D"/>
                </a:solidFill>
                <a:latin typeface="Bitstream Charter"/>
                <a:ea typeface="Bitstream Charter"/>
                <a:cs typeface="Bitstream Charter"/>
              </a:defRPr>
            </a:pPr>
            <a:r>
              <a:rPr sz="3300" b="1" dirty="0">
                <a:solidFill>
                  <a:srgbClr val="172D3D"/>
                </a:solidFill>
                <a:latin typeface="Bitstream Charter"/>
                <a:ea typeface="Bitstream Charter"/>
                <a:cs typeface="Bitstream Charter"/>
              </a:rPr>
              <a:t>Our personas</a:t>
            </a:r>
          </a:p>
        </p:txBody>
      </p:sp>
      <p:sp>
        <p:nvSpPr>
          <p:cNvPr id="2" name="Rectangle 1">
            <a:extLst>
              <a:ext uri="{FF2B5EF4-FFF2-40B4-BE49-F238E27FC236}">
                <a16:creationId xmlns:a16="http://schemas.microsoft.com/office/drawing/2014/main" id="{B5942B05-F680-4925-8BB9-CC83BE3C38C6}"/>
              </a:ext>
            </a:extLst>
          </p:cNvPr>
          <p:cNvSpPr>
            <a:spLocks noGrp="1"/>
          </p:cNvSpPr>
          <p:nvPr/>
        </p:nvSpPr>
        <p:spPr>
          <a:xfrm>
            <a:off x="723900" y="16002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sz="2100" b="1">
                <a:solidFill>
                  <a:srgbClr val="0F756F"/>
                </a:solidFill>
                <a:latin typeface="Bitstream Charter"/>
                <a:ea typeface="Bitstream Charter"/>
                <a:cs typeface="Bitstream Charter"/>
              </a:rPr>
              <a:t>Allan: graduating undergraduate</a:t>
            </a:r>
          </a:p>
        </p:txBody>
      </p:sp>
      <p:sp>
        <p:nvSpPr>
          <p:cNvPr id="3" name="Rectangle 2">
            <a:extLst>
              <a:ext uri="{FF2B5EF4-FFF2-40B4-BE49-F238E27FC236}">
                <a16:creationId xmlns:a16="http://schemas.microsoft.com/office/drawing/2014/main" id="{32777CB7-D5BB-4649-921E-AFE17C544247}"/>
              </a:ext>
            </a:extLst>
          </p:cNvPr>
          <p:cNvSpPr>
            <a:spLocks noGrp="1"/>
          </p:cNvSpPr>
          <p:nvPr/>
        </p:nvSpPr>
        <p:spPr>
          <a:xfrm>
            <a:off x="723900" y="20383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His furniture will go to waste if not sold</a:t>
            </a:r>
            <a:r>
              <a:rPr sz="2025" b="0" dirty="0">
                <a:solidFill>
                  <a:srgbClr val="172D3D"/>
                </a:solidFill>
                <a:latin typeface="Bitstream Charter"/>
                <a:ea typeface="Bitstream Charter"/>
                <a:cs typeface="Bitstream Charter"/>
              </a:rPr>
              <a:t>. </a:t>
            </a:r>
            <a:r>
              <a:rPr lang="en-US" sz="2025" b="0" dirty="0">
                <a:solidFill>
                  <a:srgbClr val="172D3D"/>
                </a:solidFill>
                <a:latin typeface="Bitstream Charter"/>
                <a:ea typeface="Bitstream Charter"/>
                <a:cs typeface="Bitstream Charter"/>
              </a:rPr>
              <a:t>He has</a:t>
            </a:r>
            <a:r>
              <a:rPr sz="2025" b="0" dirty="0">
                <a:solidFill>
                  <a:srgbClr val="172D3D"/>
                </a:solidFill>
                <a:latin typeface="Bitstream Charter"/>
                <a:ea typeface="Bitstream Charter"/>
                <a:cs typeface="Bitstream Charter"/>
              </a:rPr>
              <a:t> a hard deadline</a:t>
            </a:r>
            <a:r>
              <a:rPr lang="en-US" sz="2025" b="0" dirty="0">
                <a:solidFill>
                  <a:srgbClr val="172D3D"/>
                </a:solidFill>
                <a:latin typeface="Bitstream Charter"/>
                <a:ea typeface="Bitstream Charter"/>
                <a:cs typeface="Bitstream Charter"/>
              </a:rPr>
              <a:t> to leave Durham</a:t>
            </a:r>
            <a:r>
              <a:rPr sz="2025" b="0" dirty="0">
                <a:solidFill>
                  <a:srgbClr val="172D3D"/>
                </a:solidFill>
                <a:latin typeface="Bitstream Charter"/>
                <a:ea typeface="Bitstream Charter"/>
                <a:cs typeface="Bitstream Charter"/>
              </a:rPr>
              <a:t>, </a:t>
            </a:r>
            <a:r>
              <a:rPr lang="en-US" sz="2025" b="0" dirty="0">
                <a:solidFill>
                  <a:srgbClr val="172D3D"/>
                </a:solidFill>
                <a:latin typeface="Bitstream Charter"/>
                <a:ea typeface="Bitstream Charter"/>
                <a:cs typeface="Bitstream Charter"/>
              </a:rPr>
              <a:t>so items must be sold quickly</a:t>
            </a:r>
            <a:endParaRPr sz="2025" b="0" dirty="0">
              <a:solidFill>
                <a:srgbClr val="172D3D"/>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8E1C78AB-03C5-4484-8088-140A286AF639}"/>
              </a:ext>
            </a:extLst>
          </p:cNvPr>
          <p:cNvSpPr>
            <a:spLocks noGrp="1"/>
          </p:cNvSpPr>
          <p:nvPr/>
        </p:nvSpPr>
        <p:spPr>
          <a:xfrm>
            <a:off x="723900" y="310515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sz="2100" b="1">
                <a:solidFill>
                  <a:srgbClr val="0F756F"/>
                </a:solidFill>
                <a:latin typeface="Bitstream Charter"/>
                <a:ea typeface="Bitstream Charter"/>
                <a:cs typeface="Bitstream Charter"/>
              </a:rPr>
              <a:t>Ryan: incoming Fuqua student</a:t>
            </a:r>
          </a:p>
        </p:txBody>
      </p:sp>
      <p:sp>
        <p:nvSpPr>
          <p:cNvPr id="5" name="Rectangle 4">
            <a:extLst>
              <a:ext uri="{FF2B5EF4-FFF2-40B4-BE49-F238E27FC236}">
                <a16:creationId xmlns:a16="http://schemas.microsoft.com/office/drawing/2014/main" id="{C9B85116-D72F-4229-B773-854B66CD369B}"/>
              </a:ext>
            </a:extLst>
          </p:cNvPr>
          <p:cNvSpPr>
            <a:spLocks noGrp="1"/>
          </p:cNvSpPr>
          <p:nvPr/>
        </p:nvSpPr>
        <p:spPr>
          <a:xfrm>
            <a:off x="723900" y="354330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Need to furnish his apartment</a:t>
            </a:r>
            <a:r>
              <a:rPr sz="2025" b="0" dirty="0">
                <a:solidFill>
                  <a:srgbClr val="172D3D"/>
                </a:solidFill>
                <a:latin typeface="Bitstream Charter"/>
                <a:ea typeface="Bitstream Charter"/>
                <a:cs typeface="Bitstream Charter"/>
              </a:rPr>
              <a:t>. </a:t>
            </a:r>
            <a:r>
              <a:rPr lang="en-US" sz="2025" b="0" dirty="0">
                <a:solidFill>
                  <a:srgbClr val="172D3D"/>
                </a:solidFill>
                <a:latin typeface="Bitstream Charter"/>
                <a:ea typeface="Bitstream Charter"/>
                <a:cs typeface="Bitstream Charter"/>
              </a:rPr>
              <a:t>Arriving to campus just before classes start, so he needs guaranteed arrival and delivery</a:t>
            </a:r>
            <a:endParaRPr sz="2025" b="0" dirty="0">
              <a:solidFill>
                <a:srgbClr val="172D3D"/>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DF4321AB-FE3F-4453-9722-6BBB6F78BAE6}"/>
              </a:ext>
            </a:extLst>
          </p:cNvPr>
          <p:cNvSpPr>
            <a:spLocks noGrp="1"/>
          </p:cNvSpPr>
          <p:nvPr/>
        </p:nvSpPr>
        <p:spPr>
          <a:xfrm>
            <a:off x="723900" y="46101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sz="2100" b="1">
                <a:solidFill>
                  <a:srgbClr val="0F756F"/>
                </a:solidFill>
                <a:latin typeface="Bitstream Charter"/>
                <a:ea typeface="Bitstream Charter"/>
                <a:cs typeface="Bitstream Charter"/>
              </a:rPr>
              <a:t>Nemo: PhD candidate moving between schools</a:t>
            </a:r>
          </a:p>
        </p:txBody>
      </p:sp>
      <p:sp>
        <p:nvSpPr>
          <p:cNvPr id="7" name="Rectangle 6">
            <a:extLst>
              <a:ext uri="{FF2B5EF4-FFF2-40B4-BE49-F238E27FC236}">
                <a16:creationId xmlns:a16="http://schemas.microsoft.com/office/drawing/2014/main" id="{3914DD1F-94C5-4B44-8D06-B29DDF52B8B3}"/>
              </a:ext>
            </a:extLst>
          </p:cNvPr>
          <p:cNvSpPr>
            <a:spLocks noGrp="1"/>
          </p:cNvSpPr>
          <p:nvPr/>
        </p:nvSpPr>
        <p:spPr>
          <a:xfrm>
            <a:off x="723900" y="50482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sz="2025" b="0" dirty="0">
                <a:solidFill>
                  <a:srgbClr val="172D3D"/>
                </a:solidFill>
                <a:latin typeface="Bitstream Charter"/>
                <a:ea typeface="Bitstream Charter"/>
                <a:cs typeface="Bitstream Charter"/>
              </a:rPr>
              <a:t>Wants to </a:t>
            </a:r>
            <a:r>
              <a:rPr lang="en-US" sz="2025" b="0" dirty="0">
                <a:solidFill>
                  <a:srgbClr val="172D3D"/>
                </a:solidFill>
                <a:latin typeface="Bitstream Charter"/>
                <a:ea typeface="Bitstream Charter"/>
                <a:cs typeface="Bitstream Charter"/>
              </a:rPr>
              <a:t>sell</a:t>
            </a:r>
            <a:r>
              <a:rPr lang="en-US" sz="2025" dirty="0">
                <a:solidFill>
                  <a:srgbClr val="172D3D"/>
                </a:solidFill>
                <a:latin typeface="Bitstream Charter"/>
                <a:ea typeface="Bitstream Charter"/>
                <a:cs typeface="Bitstream Charter"/>
              </a:rPr>
              <a:t> </a:t>
            </a:r>
            <a:r>
              <a:rPr sz="2025" b="0" dirty="0">
                <a:solidFill>
                  <a:srgbClr val="172D3D"/>
                </a:solidFill>
                <a:latin typeface="Bitstream Charter"/>
                <a:ea typeface="Bitstream Charter"/>
                <a:cs typeface="Bitstream Charter"/>
              </a:rPr>
              <a:t>furniture before a long move. </a:t>
            </a:r>
            <a:r>
              <a:rPr lang="en-US" sz="2025" dirty="0">
                <a:solidFill>
                  <a:srgbClr val="172D3D"/>
                </a:solidFill>
                <a:latin typeface="Bitstream Charter"/>
                <a:ea typeface="Bitstream Charter"/>
                <a:cs typeface="Bitstream Charter"/>
              </a:rPr>
              <a:t>Not getting</a:t>
            </a:r>
            <a:r>
              <a:rPr sz="2025" b="0" dirty="0">
                <a:solidFill>
                  <a:srgbClr val="172D3D"/>
                </a:solidFill>
                <a:latin typeface="Bitstream Charter"/>
                <a:ea typeface="Bitstream Charter"/>
                <a:cs typeface="Bitstream Charter"/>
              </a:rPr>
              <a:t> </a:t>
            </a:r>
            <a:r>
              <a:rPr lang="en-US" sz="2025" b="0" dirty="0">
                <a:solidFill>
                  <a:srgbClr val="172D3D"/>
                </a:solidFill>
                <a:latin typeface="Bitstream Charter"/>
                <a:ea typeface="Bitstream Charter"/>
                <a:cs typeface="Bitstream Charter"/>
              </a:rPr>
              <a:t>any </a:t>
            </a:r>
            <a:r>
              <a:rPr sz="2025" b="0" dirty="0">
                <a:solidFill>
                  <a:srgbClr val="172D3D"/>
                </a:solidFill>
                <a:latin typeface="Bitstream Charter"/>
                <a:ea typeface="Bitstream Charter"/>
                <a:cs typeface="Bitstream Charter"/>
              </a:rPr>
              <a:t>demand and </a:t>
            </a:r>
            <a:r>
              <a:rPr lang="en-US" sz="2025" b="0" dirty="0">
                <a:solidFill>
                  <a:srgbClr val="172D3D"/>
                </a:solidFill>
                <a:latin typeface="Bitstream Charter"/>
                <a:ea typeface="Bitstream Charter"/>
                <a:cs typeface="Bitstream Charter"/>
              </a:rPr>
              <a:t>does </a:t>
            </a:r>
            <a:r>
              <a:rPr sz="2025" b="0" dirty="0">
                <a:solidFill>
                  <a:srgbClr val="172D3D"/>
                </a:solidFill>
                <a:latin typeface="Bitstream Charter"/>
                <a:ea typeface="Bitstream Charter"/>
                <a:cs typeface="Bitstream Charter"/>
              </a:rPr>
              <a:t>no</a:t>
            </a:r>
            <a:r>
              <a:rPr lang="en-US" sz="2025" b="0" dirty="0">
                <a:solidFill>
                  <a:srgbClr val="172D3D"/>
                </a:solidFill>
                <a:latin typeface="Bitstream Charter"/>
                <a:ea typeface="Bitstream Charter"/>
                <a:cs typeface="Bitstream Charter"/>
              </a:rPr>
              <a:t>t have a</a:t>
            </a:r>
            <a:r>
              <a:rPr sz="2025" b="0" dirty="0">
                <a:solidFill>
                  <a:srgbClr val="172D3D"/>
                </a:solidFill>
                <a:latin typeface="Bitstream Charter"/>
                <a:ea typeface="Bitstream Charter"/>
                <a:cs typeface="Bitstream Charter"/>
              </a:rPr>
              <a:t> car </a:t>
            </a:r>
            <a:r>
              <a:rPr lang="en-US" sz="2025" b="0" dirty="0">
                <a:solidFill>
                  <a:srgbClr val="172D3D"/>
                </a:solidFill>
                <a:latin typeface="Bitstream Charter"/>
                <a:ea typeface="Bitstream Charter"/>
                <a:cs typeface="Bitstream Charter"/>
              </a:rPr>
              <a:t>which </a:t>
            </a:r>
            <a:r>
              <a:rPr sz="2025" b="0" dirty="0">
                <a:solidFill>
                  <a:srgbClr val="172D3D"/>
                </a:solidFill>
                <a:latin typeface="Bitstream Charter"/>
                <a:ea typeface="Bitstream Charter"/>
                <a:cs typeface="Bitstream Charter"/>
              </a:rPr>
              <a:t>make</a:t>
            </a:r>
            <a:r>
              <a:rPr lang="en-US" sz="2025" b="0" dirty="0">
                <a:solidFill>
                  <a:srgbClr val="172D3D"/>
                </a:solidFill>
                <a:latin typeface="Bitstream Charter"/>
                <a:ea typeface="Bitstream Charter"/>
                <a:cs typeface="Bitstream Charter"/>
              </a:rPr>
              <a:t>s</a:t>
            </a:r>
            <a:r>
              <a:rPr sz="2025" b="0" dirty="0">
                <a:solidFill>
                  <a:srgbClr val="172D3D"/>
                </a:solidFill>
                <a:latin typeface="Bitstream Charter"/>
                <a:ea typeface="Bitstream Charter"/>
                <a:cs typeface="Bitstream Charter"/>
              </a:rPr>
              <a:t> removal difficult</a:t>
            </a:r>
          </a:p>
        </p:txBody>
      </p:sp>
    </p:spTree>
    <p:extLst>
      <p:ext uri="{BB962C8B-B14F-4D97-AF65-F5344CB8AC3E}">
        <p14:creationId xmlns:p14="http://schemas.microsoft.com/office/powerpoint/2010/main" val="1564518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F6A626-5ED7-43AF-8EB6-5E5FAE5D41F6}"/>
              </a:ext>
            </a:extLst>
          </p:cNvPr>
          <p:cNvSpPr>
            <a:spLocks noGrp="1"/>
          </p:cNvSpPr>
          <p:nvPr/>
        </p:nvSpPr>
        <p:spPr>
          <a:xfrm>
            <a:off x="685800" y="495300"/>
            <a:ext cx="10820400" cy="809625"/>
          </a:xfrm>
          <a:prstGeom prst="rect">
            <a:avLst/>
          </a:prstGeom>
          <a:noFill/>
          <a:ln w="0">
            <a:noFill/>
          </a:ln>
        </p:spPr>
        <p:txBody>
          <a:bodyPr>
            <a:noAutofit/>
          </a:bodyPr>
          <a:lstStyle/>
          <a:p>
            <a:pPr algn="ctr">
              <a:defRPr sz="3300" b="1">
                <a:solidFill>
                  <a:srgbClr val="172D3D"/>
                </a:solidFill>
                <a:latin typeface="Bitstream Charter"/>
                <a:ea typeface="Bitstream Charter"/>
                <a:cs typeface="Bitstream Charter"/>
              </a:defRPr>
            </a:pPr>
            <a:r>
              <a:rPr sz="3300" b="1" dirty="0">
                <a:solidFill>
                  <a:srgbClr val="172D3D"/>
                </a:solidFill>
                <a:latin typeface="Bitstream Charter"/>
                <a:ea typeface="Bitstream Charter"/>
                <a:cs typeface="Bitstream Charter"/>
              </a:rPr>
              <a:t>What </a:t>
            </a:r>
            <a:r>
              <a:rPr lang="en-US" sz="3300" b="1" dirty="0">
                <a:solidFill>
                  <a:srgbClr val="172D3D"/>
                </a:solidFill>
                <a:latin typeface="Bitstream Charter"/>
                <a:ea typeface="Bitstream Charter"/>
                <a:cs typeface="Bitstream Charter"/>
              </a:rPr>
              <a:t>W</a:t>
            </a:r>
            <a:r>
              <a:rPr sz="3300" b="1" dirty="0">
                <a:solidFill>
                  <a:srgbClr val="172D3D"/>
                </a:solidFill>
                <a:latin typeface="Bitstream Charter"/>
                <a:ea typeface="Bitstream Charter"/>
                <a:cs typeface="Bitstream Charter"/>
              </a:rPr>
              <a:t>e </a:t>
            </a:r>
            <a:r>
              <a:rPr lang="en-US" sz="3300" b="1" dirty="0">
                <a:solidFill>
                  <a:srgbClr val="172D3D"/>
                </a:solidFill>
                <a:latin typeface="Bitstream Charter"/>
                <a:ea typeface="Bitstream Charter"/>
                <a:cs typeface="Bitstream Charter"/>
              </a:rPr>
              <a:t>E</a:t>
            </a:r>
            <a:r>
              <a:rPr sz="3300" b="1" dirty="0">
                <a:solidFill>
                  <a:srgbClr val="172D3D"/>
                </a:solidFill>
                <a:latin typeface="Bitstream Charter"/>
                <a:ea typeface="Bitstream Charter"/>
                <a:cs typeface="Bitstream Charter"/>
              </a:rPr>
              <a:t>xpected</a:t>
            </a:r>
          </a:p>
        </p:txBody>
      </p:sp>
      <p:sp>
        <p:nvSpPr>
          <p:cNvPr id="2" name="Rectangle 1">
            <a:extLst>
              <a:ext uri="{FF2B5EF4-FFF2-40B4-BE49-F238E27FC236}">
                <a16:creationId xmlns:a16="http://schemas.microsoft.com/office/drawing/2014/main" id="{20FDE336-9E98-403E-8AE5-05CA3FE18B0A}"/>
              </a:ext>
            </a:extLst>
          </p:cNvPr>
          <p:cNvSpPr>
            <a:spLocks noGrp="1"/>
          </p:cNvSpPr>
          <p:nvPr/>
        </p:nvSpPr>
        <p:spPr>
          <a:xfrm>
            <a:off x="723900" y="16002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Graduating/Incoming </a:t>
            </a:r>
            <a:r>
              <a:rPr sz="2100" b="1" dirty="0">
                <a:solidFill>
                  <a:srgbClr val="0F756F"/>
                </a:solidFill>
                <a:latin typeface="Bitstream Charter"/>
                <a:ea typeface="Bitstream Charter"/>
                <a:cs typeface="Bitstream Charter"/>
              </a:rPr>
              <a:t>Timing </a:t>
            </a:r>
            <a:r>
              <a:rPr lang="en-US" sz="2100" b="1" dirty="0">
                <a:solidFill>
                  <a:srgbClr val="0F756F"/>
                </a:solidFill>
                <a:latin typeface="Bitstream Charter"/>
                <a:ea typeface="Bitstream Charter"/>
                <a:cs typeface="Bitstream Charter"/>
              </a:rPr>
              <a:t>Issue</a:t>
            </a:r>
            <a:endParaRPr sz="2100" b="1" dirty="0">
              <a:solidFill>
                <a:srgbClr val="0F756F"/>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142798AA-4825-4104-9EA4-6133799186D0}"/>
              </a:ext>
            </a:extLst>
          </p:cNvPr>
          <p:cNvSpPr>
            <a:spLocks noGrp="1"/>
          </p:cNvSpPr>
          <p:nvPr/>
        </p:nvSpPr>
        <p:spPr>
          <a:xfrm>
            <a:off x="723900" y="20383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sz="2025" b="0" dirty="0">
                <a:solidFill>
                  <a:srgbClr val="172D3D"/>
                </a:solidFill>
                <a:latin typeface="Bitstream Charter"/>
                <a:ea typeface="Bitstream Charter"/>
                <a:cs typeface="Bitstream Charter"/>
              </a:rPr>
              <a:t>Students sell in May, while incoming students need furniture in August</a:t>
            </a:r>
          </a:p>
        </p:txBody>
      </p:sp>
      <p:sp>
        <p:nvSpPr>
          <p:cNvPr id="4" name="Rectangle 3">
            <a:extLst>
              <a:ext uri="{FF2B5EF4-FFF2-40B4-BE49-F238E27FC236}">
                <a16:creationId xmlns:a16="http://schemas.microsoft.com/office/drawing/2014/main" id="{65B79244-EE40-49D9-AF53-C4CA208D86D4}"/>
              </a:ext>
            </a:extLst>
          </p:cNvPr>
          <p:cNvSpPr>
            <a:spLocks noGrp="1"/>
          </p:cNvSpPr>
          <p:nvPr/>
        </p:nvSpPr>
        <p:spPr>
          <a:xfrm>
            <a:off x="723900" y="310515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Transportation Difficulty</a:t>
            </a:r>
            <a:endParaRPr sz="2100" b="1" dirty="0">
              <a:solidFill>
                <a:srgbClr val="0F756F"/>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91CCD373-8348-43EB-95DD-978714C7C09B}"/>
              </a:ext>
            </a:extLst>
          </p:cNvPr>
          <p:cNvSpPr>
            <a:spLocks noGrp="1"/>
          </p:cNvSpPr>
          <p:nvPr/>
        </p:nvSpPr>
        <p:spPr>
          <a:xfrm>
            <a:off x="723900" y="354330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sz="2025" b="0" dirty="0">
                <a:solidFill>
                  <a:srgbClr val="172D3D"/>
                </a:solidFill>
                <a:latin typeface="Bitstream Charter"/>
                <a:ea typeface="Bitstream Charter"/>
                <a:cs typeface="Bitstream Charter"/>
              </a:rPr>
              <a:t>Without a car or truck, moving large furniture is difficult. Buyers </a:t>
            </a:r>
            <a:r>
              <a:rPr lang="en-US" sz="2025" dirty="0">
                <a:solidFill>
                  <a:srgbClr val="172D3D"/>
                </a:solidFill>
                <a:latin typeface="Bitstream Charter"/>
                <a:ea typeface="Bitstream Charter"/>
                <a:cs typeface="Bitstream Charter"/>
              </a:rPr>
              <a:t>will </a:t>
            </a:r>
            <a:r>
              <a:rPr sz="2025" b="0" dirty="0">
                <a:solidFill>
                  <a:srgbClr val="172D3D"/>
                </a:solidFill>
                <a:latin typeface="Bitstream Charter"/>
                <a:ea typeface="Bitstream Charter"/>
                <a:cs typeface="Bitstream Charter"/>
              </a:rPr>
              <a:t>need </a:t>
            </a:r>
            <a:r>
              <a:rPr lang="en-US" sz="2025" b="0" dirty="0">
                <a:solidFill>
                  <a:srgbClr val="172D3D"/>
                </a:solidFill>
                <a:latin typeface="Bitstream Charter"/>
                <a:ea typeface="Bitstream Charter"/>
                <a:cs typeface="Bitstream Charter"/>
              </a:rPr>
              <a:t>to take </a:t>
            </a:r>
            <a:r>
              <a:rPr sz="2025" b="0" dirty="0">
                <a:solidFill>
                  <a:srgbClr val="172D3D"/>
                </a:solidFill>
                <a:latin typeface="Bitstream Charter"/>
                <a:ea typeface="Bitstream Charter"/>
                <a:cs typeface="Bitstream Charter"/>
              </a:rPr>
              <a:t>several trips or </a:t>
            </a:r>
            <a:r>
              <a:rPr lang="en-US" sz="2025" b="0" dirty="0">
                <a:solidFill>
                  <a:srgbClr val="172D3D"/>
                </a:solidFill>
                <a:latin typeface="Bitstream Charter"/>
                <a:ea typeface="Bitstream Charter"/>
                <a:cs typeface="Bitstream Charter"/>
              </a:rPr>
              <a:t>hire a </a:t>
            </a:r>
            <a:r>
              <a:rPr sz="2025" b="0" dirty="0">
                <a:solidFill>
                  <a:srgbClr val="172D3D"/>
                </a:solidFill>
                <a:latin typeface="Bitstream Charter"/>
                <a:ea typeface="Bitstream Charter"/>
                <a:cs typeface="Bitstream Charter"/>
              </a:rPr>
              <a:t>delivery</a:t>
            </a:r>
            <a:r>
              <a:rPr lang="en-US" sz="2025" b="0" dirty="0">
                <a:solidFill>
                  <a:srgbClr val="172D3D"/>
                </a:solidFill>
                <a:latin typeface="Bitstream Charter"/>
                <a:ea typeface="Bitstream Charter"/>
                <a:cs typeface="Bitstream Charter"/>
              </a:rPr>
              <a:t> service</a:t>
            </a:r>
            <a:endParaRPr sz="2025" b="0" dirty="0">
              <a:solidFill>
                <a:srgbClr val="172D3D"/>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C1ADD757-349E-4CA9-878F-DCE27124A928}"/>
              </a:ext>
            </a:extLst>
          </p:cNvPr>
          <p:cNvSpPr>
            <a:spLocks noGrp="1"/>
          </p:cNvSpPr>
          <p:nvPr/>
        </p:nvSpPr>
        <p:spPr>
          <a:xfrm>
            <a:off x="723900" y="46101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Unreliable Condition</a:t>
            </a:r>
            <a:endParaRPr sz="2100" b="1" dirty="0">
              <a:solidFill>
                <a:srgbClr val="0F756F"/>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05635837-A928-4174-8791-C96BEF4024F4}"/>
              </a:ext>
            </a:extLst>
          </p:cNvPr>
          <p:cNvSpPr>
            <a:spLocks noGrp="1"/>
          </p:cNvSpPr>
          <p:nvPr/>
        </p:nvSpPr>
        <p:spPr>
          <a:xfrm>
            <a:off x="723900" y="50482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Pictures often do not convey the true condition of the furniture and hide damages</a:t>
            </a:r>
            <a:endParaRPr sz="2025" b="0" dirty="0">
              <a:solidFill>
                <a:srgbClr val="172D3D"/>
              </a:solidFill>
              <a:latin typeface="Bitstream Charter"/>
              <a:ea typeface="Bitstream Charter"/>
              <a:cs typeface="Bitstream Charter"/>
            </a:endParaRPr>
          </a:p>
        </p:txBody>
      </p:sp>
    </p:spTree>
    <p:extLst>
      <p:ext uri="{BB962C8B-B14F-4D97-AF65-F5344CB8AC3E}">
        <p14:creationId xmlns:p14="http://schemas.microsoft.com/office/powerpoint/2010/main" val="118094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D4954A-8657-45E0-9E4A-6E67CA8EBE8E}"/>
              </a:ext>
            </a:extLst>
          </p:cNvPr>
          <p:cNvSpPr>
            <a:spLocks noGrp="1"/>
          </p:cNvSpPr>
          <p:nvPr/>
        </p:nvSpPr>
        <p:spPr>
          <a:xfrm>
            <a:off x="685800" y="495300"/>
            <a:ext cx="10820400" cy="809625"/>
          </a:xfrm>
          <a:prstGeom prst="rect">
            <a:avLst/>
          </a:prstGeom>
          <a:noFill/>
          <a:ln w="0">
            <a:noFill/>
          </a:ln>
        </p:spPr>
        <p:txBody>
          <a:bodyPr>
            <a:noAutofit/>
          </a:bodyPr>
          <a:lstStyle/>
          <a:p>
            <a:pPr algn="ctr">
              <a:defRPr sz="3300" b="1">
                <a:solidFill>
                  <a:srgbClr val="172D3D"/>
                </a:solidFill>
                <a:latin typeface="Bitstream Charter"/>
                <a:ea typeface="Bitstream Charter"/>
                <a:cs typeface="Bitstream Charter"/>
              </a:defRPr>
            </a:pPr>
            <a:r>
              <a:rPr sz="3300" b="1" dirty="0">
                <a:solidFill>
                  <a:srgbClr val="172D3D"/>
                </a:solidFill>
                <a:latin typeface="Bitstream Charter"/>
                <a:ea typeface="Bitstream Charter"/>
                <a:cs typeface="Bitstream Charter"/>
              </a:rPr>
              <a:t>Surprising </a:t>
            </a:r>
            <a:r>
              <a:rPr lang="en-US" sz="3300" b="1" dirty="0">
                <a:solidFill>
                  <a:srgbClr val="172D3D"/>
                </a:solidFill>
                <a:latin typeface="Bitstream Charter"/>
                <a:ea typeface="Bitstream Charter"/>
                <a:cs typeface="Bitstream Charter"/>
              </a:rPr>
              <a:t>R</a:t>
            </a:r>
            <a:r>
              <a:rPr sz="3300" b="1" dirty="0">
                <a:solidFill>
                  <a:srgbClr val="172D3D"/>
                </a:solidFill>
                <a:latin typeface="Bitstream Charter"/>
                <a:ea typeface="Bitstream Charter"/>
                <a:cs typeface="Bitstream Charter"/>
              </a:rPr>
              <a:t>esults</a:t>
            </a:r>
          </a:p>
        </p:txBody>
      </p:sp>
      <p:sp>
        <p:nvSpPr>
          <p:cNvPr id="2" name="Rectangle 1">
            <a:extLst>
              <a:ext uri="{FF2B5EF4-FFF2-40B4-BE49-F238E27FC236}">
                <a16:creationId xmlns:a16="http://schemas.microsoft.com/office/drawing/2014/main" id="{7E72A60B-A412-43CD-B7AD-BF9142387226}"/>
              </a:ext>
            </a:extLst>
          </p:cNvPr>
          <p:cNvSpPr>
            <a:spLocks noGrp="1"/>
          </p:cNvSpPr>
          <p:nvPr/>
        </p:nvSpPr>
        <p:spPr>
          <a:xfrm>
            <a:off x="723900" y="16002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Convenience was more important than price</a:t>
            </a:r>
            <a:endParaRPr sz="2100" b="1" dirty="0">
              <a:solidFill>
                <a:srgbClr val="0F756F"/>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2DBB8C3F-CB20-4EE8-A45A-D0F6BDD73753}"/>
              </a:ext>
            </a:extLst>
          </p:cNvPr>
          <p:cNvSpPr>
            <a:spLocks noGrp="1"/>
          </p:cNvSpPr>
          <p:nvPr/>
        </p:nvSpPr>
        <p:spPr>
          <a:xfrm>
            <a:off x="723900" y="20383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A low-priced </a:t>
            </a:r>
            <a:r>
              <a:rPr lang="en-US" sz="2025" dirty="0">
                <a:solidFill>
                  <a:srgbClr val="172D3D"/>
                </a:solidFill>
                <a:latin typeface="Bitstream Charter"/>
                <a:ea typeface="Bitstream Charter"/>
                <a:cs typeface="Bitstream Charter"/>
              </a:rPr>
              <a:t>couch sale fell through because the seller was unresponsive and pickup was not properly coordinated. Buyers are willing to pay a higher price for reliability</a:t>
            </a:r>
            <a:endParaRPr sz="2025" b="0" dirty="0">
              <a:solidFill>
                <a:srgbClr val="172D3D"/>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950FA4A6-64D5-4AA3-9DC9-6151ABF35CA8}"/>
              </a:ext>
            </a:extLst>
          </p:cNvPr>
          <p:cNvSpPr>
            <a:spLocks noGrp="1"/>
          </p:cNvSpPr>
          <p:nvPr/>
        </p:nvSpPr>
        <p:spPr>
          <a:xfrm>
            <a:off x="723900" y="310515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Different standards for different items</a:t>
            </a:r>
            <a:endParaRPr sz="2100" b="1" dirty="0">
              <a:solidFill>
                <a:srgbClr val="0F756F"/>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1D1FFD23-029C-4386-B5C2-AE6226FD28C6}"/>
              </a:ext>
            </a:extLst>
          </p:cNvPr>
          <p:cNvSpPr>
            <a:spLocks noGrp="1"/>
          </p:cNvSpPr>
          <p:nvPr/>
        </p:nvSpPr>
        <p:spPr>
          <a:xfrm>
            <a:off x="723900" y="354330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dirty="0">
                <a:solidFill>
                  <a:srgbClr val="172D3D"/>
                </a:solidFill>
                <a:latin typeface="Bitstream Charter"/>
              </a:rPr>
              <a:t>Ryan was comfortable buying a used desk and chair, but wanted a new mattress</a:t>
            </a:r>
            <a:endParaRPr sz="2025" b="0" dirty="0">
              <a:solidFill>
                <a:srgbClr val="172D3D"/>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C2D2B05-0D59-4925-9265-0F40F0F08351}"/>
              </a:ext>
            </a:extLst>
          </p:cNvPr>
          <p:cNvSpPr>
            <a:spLocks noGrp="1"/>
          </p:cNvSpPr>
          <p:nvPr/>
        </p:nvSpPr>
        <p:spPr>
          <a:xfrm>
            <a:off x="723900" y="447675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Storage Environment Concerns</a:t>
            </a:r>
            <a:endParaRPr sz="2100" b="1" dirty="0">
              <a:solidFill>
                <a:srgbClr val="0F756F"/>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51988BE1-8407-4F8A-82E5-5EEACC125DF1}"/>
              </a:ext>
            </a:extLst>
          </p:cNvPr>
          <p:cNvSpPr>
            <a:spLocks noGrp="1"/>
          </p:cNvSpPr>
          <p:nvPr/>
        </p:nvSpPr>
        <p:spPr>
          <a:xfrm>
            <a:off x="723900" y="4905375"/>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Storage </a:t>
            </a:r>
            <a:r>
              <a:rPr lang="en-US" sz="2025" dirty="0">
                <a:solidFill>
                  <a:srgbClr val="172D3D"/>
                </a:solidFill>
                <a:latin typeface="Bitstream Charter"/>
                <a:ea typeface="Bitstream Charter"/>
                <a:cs typeface="Bitstream Charter"/>
              </a:rPr>
              <a:t>setup raised concerns</a:t>
            </a:r>
            <a:r>
              <a:rPr sz="2025" b="0" dirty="0">
                <a:solidFill>
                  <a:srgbClr val="172D3D"/>
                </a:solidFill>
                <a:latin typeface="Bitstream Charter"/>
                <a:ea typeface="Bitstream Charter"/>
                <a:cs typeface="Bitstream Charter"/>
              </a:rPr>
              <a:t> about fees, damage</a:t>
            </a:r>
            <a:r>
              <a:rPr lang="en-US" sz="2025" b="0" dirty="0">
                <a:solidFill>
                  <a:srgbClr val="172D3D"/>
                </a:solidFill>
                <a:latin typeface="Bitstream Charter"/>
                <a:ea typeface="Bitstream Charter"/>
                <a:cs typeface="Bitstream Charter"/>
              </a:rPr>
              <a:t>s</a:t>
            </a:r>
            <a:r>
              <a:rPr sz="2025" b="0" dirty="0">
                <a:solidFill>
                  <a:srgbClr val="172D3D"/>
                </a:solidFill>
                <a:latin typeface="Bitstream Charter"/>
                <a:ea typeface="Bitstream Charter"/>
                <a:cs typeface="Bitstream Charter"/>
              </a:rPr>
              <a:t>, and unsold items</a:t>
            </a:r>
          </a:p>
        </p:txBody>
      </p:sp>
    </p:spTree>
    <p:extLst>
      <p:ext uri="{BB962C8B-B14F-4D97-AF65-F5344CB8AC3E}">
        <p14:creationId xmlns:p14="http://schemas.microsoft.com/office/powerpoint/2010/main" val="82925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616701-C97E-4BD4-948B-0D36EB337445}"/>
              </a:ext>
            </a:extLst>
          </p:cNvPr>
          <p:cNvSpPr>
            <a:spLocks noGrp="1"/>
          </p:cNvSpPr>
          <p:nvPr/>
        </p:nvSpPr>
        <p:spPr>
          <a:xfrm>
            <a:off x="685800" y="495300"/>
            <a:ext cx="10820400" cy="809625"/>
          </a:xfrm>
          <a:prstGeom prst="rect">
            <a:avLst/>
          </a:prstGeom>
          <a:noFill/>
          <a:ln w="0">
            <a:noFill/>
          </a:ln>
        </p:spPr>
        <p:txBody>
          <a:bodyPr>
            <a:noAutofit/>
          </a:bodyPr>
          <a:lstStyle/>
          <a:p>
            <a:pPr algn="ctr">
              <a:defRPr sz="3300" b="1">
                <a:solidFill>
                  <a:srgbClr val="172D3D"/>
                </a:solidFill>
                <a:latin typeface="Bitstream Charter"/>
                <a:ea typeface="Bitstream Charter"/>
                <a:cs typeface="Bitstream Charter"/>
              </a:defRPr>
            </a:pPr>
            <a:r>
              <a:rPr sz="3300" b="1" dirty="0">
                <a:solidFill>
                  <a:srgbClr val="172D3D"/>
                </a:solidFill>
                <a:latin typeface="Bitstream Charter"/>
                <a:ea typeface="Bitstream Charter"/>
                <a:cs typeface="Bitstream Charter"/>
              </a:rPr>
              <a:t>What </a:t>
            </a:r>
            <a:r>
              <a:rPr lang="en-US" sz="3300" b="1" dirty="0">
                <a:solidFill>
                  <a:srgbClr val="172D3D"/>
                </a:solidFill>
                <a:latin typeface="Bitstream Charter"/>
                <a:ea typeface="Bitstream Charter"/>
                <a:cs typeface="Bitstream Charter"/>
              </a:rPr>
              <a:t>Was Confirmed</a:t>
            </a:r>
            <a:r>
              <a:rPr sz="3300" b="1" dirty="0">
                <a:solidFill>
                  <a:srgbClr val="172D3D"/>
                </a:solidFill>
                <a:latin typeface="Bitstream Charter"/>
                <a:ea typeface="Bitstream Charter"/>
                <a:cs typeface="Bitstream Charter"/>
              </a:rPr>
              <a:t> and </a:t>
            </a:r>
            <a:r>
              <a:rPr lang="en-US" sz="3300" b="1" dirty="0">
                <a:solidFill>
                  <a:srgbClr val="172D3D"/>
                </a:solidFill>
                <a:latin typeface="Bitstream Charter"/>
                <a:ea typeface="Bitstream Charter"/>
                <a:cs typeface="Bitstream Charter"/>
              </a:rPr>
              <a:t>W</a:t>
            </a:r>
            <a:r>
              <a:rPr sz="3300" b="1" dirty="0">
                <a:solidFill>
                  <a:srgbClr val="172D3D"/>
                </a:solidFill>
                <a:latin typeface="Bitstream Charter"/>
                <a:ea typeface="Bitstream Charter"/>
                <a:cs typeface="Bitstream Charter"/>
              </a:rPr>
              <a:t>hat </a:t>
            </a:r>
            <a:r>
              <a:rPr lang="en-US" sz="3300" b="1" dirty="0">
                <a:solidFill>
                  <a:srgbClr val="172D3D"/>
                </a:solidFill>
                <a:latin typeface="Bitstream Charter"/>
                <a:ea typeface="Bitstream Charter"/>
                <a:cs typeface="Bitstream Charter"/>
              </a:rPr>
              <a:t>Was Refuted</a:t>
            </a:r>
            <a:endParaRPr sz="3300" b="1" dirty="0">
              <a:solidFill>
                <a:srgbClr val="172D3D"/>
              </a:solidFill>
              <a:latin typeface="Bitstream Charter"/>
              <a:ea typeface="Bitstream Charter"/>
              <a:cs typeface="Bitstream Charter"/>
            </a:endParaRPr>
          </a:p>
        </p:txBody>
      </p:sp>
      <p:sp>
        <p:nvSpPr>
          <p:cNvPr id="2" name="Rectangle 1">
            <a:extLst>
              <a:ext uri="{FF2B5EF4-FFF2-40B4-BE49-F238E27FC236}">
                <a16:creationId xmlns:a16="http://schemas.microsoft.com/office/drawing/2014/main" id="{B4D328BD-298C-4F10-B8EB-D70E0136F688}"/>
              </a:ext>
            </a:extLst>
          </p:cNvPr>
          <p:cNvSpPr>
            <a:spLocks noGrp="1"/>
          </p:cNvSpPr>
          <p:nvPr/>
        </p:nvSpPr>
        <p:spPr>
          <a:xfrm>
            <a:off x="723900" y="16002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Confirmed</a:t>
            </a:r>
            <a:r>
              <a:rPr sz="2100" b="1" dirty="0">
                <a:solidFill>
                  <a:srgbClr val="0F756F"/>
                </a:solidFill>
                <a:latin typeface="Bitstream Charter"/>
                <a:ea typeface="Bitstream Charter"/>
                <a:cs typeface="Bitstream Charter"/>
              </a:rPr>
              <a:t>: timing and transportation problems</a:t>
            </a:r>
          </a:p>
        </p:txBody>
      </p:sp>
      <p:sp>
        <p:nvSpPr>
          <p:cNvPr id="3" name="Rectangle 2">
            <a:extLst>
              <a:ext uri="{FF2B5EF4-FFF2-40B4-BE49-F238E27FC236}">
                <a16:creationId xmlns:a16="http://schemas.microsoft.com/office/drawing/2014/main" id="{707D412C-5913-43FF-9C4D-001647EDB978}"/>
              </a:ext>
            </a:extLst>
          </p:cNvPr>
          <p:cNvSpPr>
            <a:spLocks noGrp="1"/>
          </p:cNvSpPr>
          <p:nvPr/>
        </p:nvSpPr>
        <p:spPr>
          <a:xfrm>
            <a:off x="723900" y="20383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The buyers had difficulty finding furniture in August and sellers had difficulty </a:t>
            </a:r>
            <a:r>
              <a:rPr lang="en-US" sz="2025" dirty="0">
                <a:solidFill>
                  <a:srgbClr val="172D3D"/>
                </a:solidFill>
                <a:latin typeface="Bitstream Charter"/>
                <a:ea typeface="Bitstream Charter"/>
                <a:cs typeface="Bitstream Charter"/>
              </a:rPr>
              <a:t>selling furniture in May. The students could not transport large furniture, so they had to hire a delivery service. They needed definite delivery and pickup dates as they had tight deadlines</a:t>
            </a:r>
            <a:endParaRPr sz="2025" b="0" dirty="0">
              <a:solidFill>
                <a:srgbClr val="172D3D"/>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76173B3C-376B-4825-B8C0-1DCCE3C4FBC6}"/>
              </a:ext>
            </a:extLst>
          </p:cNvPr>
          <p:cNvSpPr>
            <a:spLocks noGrp="1"/>
          </p:cNvSpPr>
          <p:nvPr/>
        </p:nvSpPr>
        <p:spPr>
          <a:xfrm>
            <a:off x="723900" y="32385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Refused</a:t>
            </a:r>
            <a:r>
              <a:rPr sz="2100" b="1" dirty="0">
                <a:solidFill>
                  <a:srgbClr val="0F756F"/>
                </a:solidFill>
                <a:latin typeface="Bitstream Charter"/>
                <a:ea typeface="Bitstream Charter"/>
                <a:cs typeface="Bitstream Charter"/>
              </a:rPr>
              <a:t>: </a:t>
            </a:r>
            <a:r>
              <a:rPr lang="en-US" sz="2100" b="1" dirty="0">
                <a:solidFill>
                  <a:srgbClr val="0F756F"/>
                </a:solidFill>
                <a:latin typeface="Bitstream Charter"/>
                <a:ea typeface="Bitstream Charter"/>
                <a:cs typeface="Bitstream Charter"/>
              </a:rPr>
              <a:t>Cost is a very important factor</a:t>
            </a:r>
            <a:endParaRPr sz="2100" b="1" dirty="0">
              <a:solidFill>
                <a:srgbClr val="0F756F"/>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CE4C494C-2342-48CB-977E-6487A1B463D8}"/>
              </a:ext>
            </a:extLst>
          </p:cNvPr>
          <p:cNvSpPr>
            <a:spLocks noGrp="1"/>
          </p:cNvSpPr>
          <p:nvPr/>
        </p:nvSpPr>
        <p:spPr>
          <a:xfrm>
            <a:off x="723900" y="3667125"/>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Students just wanted the furniture to be bought or sold. They were willing to buy at higher prices and sell at lower prices in exchange for reliability</a:t>
            </a:r>
            <a:endParaRPr sz="2025" b="0" dirty="0">
              <a:solidFill>
                <a:srgbClr val="172D3D"/>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0335A51C-687C-41FF-B5D8-BF76C291C74F}"/>
              </a:ext>
            </a:extLst>
          </p:cNvPr>
          <p:cNvSpPr>
            <a:spLocks noGrp="1"/>
          </p:cNvSpPr>
          <p:nvPr/>
        </p:nvSpPr>
        <p:spPr>
          <a:xfrm>
            <a:off x="723900" y="4610100"/>
            <a:ext cx="10744200" cy="381000"/>
          </a:xfrm>
          <a:prstGeom prst="rect">
            <a:avLst/>
          </a:prstGeom>
          <a:noFill/>
          <a:ln w="0">
            <a:noFill/>
          </a:ln>
        </p:spPr>
        <p:txBody>
          <a:bodyPr>
            <a:noAutofit/>
          </a:bodyPr>
          <a:lstStyle/>
          <a:p>
            <a:pPr>
              <a:defRPr sz="2100" b="1">
                <a:solidFill>
                  <a:srgbClr val="0F756F"/>
                </a:solidFill>
                <a:latin typeface="Bitstream Charter"/>
                <a:ea typeface="Bitstream Charter"/>
                <a:cs typeface="Bitstream Charter"/>
              </a:defRPr>
            </a:pPr>
            <a:r>
              <a:rPr lang="en-US" sz="2100" b="1" dirty="0">
                <a:solidFill>
                  <a:srgbClr val="0F756F"/>
                </a:solidFill>
                <a:latin typeface="Bitstream Charter"/>
                <a:ea typeface="Bitstream Charter"/>
                <a:cs typeface="Bitstream Charter"/>
              </a:rPr>
              <a:t>Unproven</a:t>
            </a:r>
            <a:r>
              <a:rPr sz="2100" b="1" dirty="0">
                <a:solidFill>
                  <a:srgbClr val="0F756F"/>
                </a:solidFill>
                <a:latin typeface="Bitstream Charter"/>
                <a:ea typeface="Bitstream Charter"/>
                <a:cs typeface="Bitstream Charter"/>
              </a:rPr>
              <a:t>: demand for a storage and resale service</a:t>
            </a:r>
          </a:p>
        </p:txBody>
      </p:sp>
      <p:sp>
        <p:nvSpPr>
          <p:cNvPr id="7" name="Rectangle 6">
            <a:extLst>
              <a:ext uri="{FF2B5EF4-FFF2-40B4-BE49-F238E27FC236}">
                <a16:creationId xmlns:a16="http://schemas.microsoft.com/office/drawing/2014/main" id="{772EC490-84D8-4098-A3E9-04F59886D0C7}"/>
              </a:ext>
            </a:extLst>
          </p:cNvPr>
          <p:cNvSpPr>
            <a:spLocks noGrp="1"/>
          </p:cNvSpPr>
          <p:nvPr/>
        </p:nvSpPr>
        <p:spPr>
          <a:xfrm>
            <a:off x="723900" y="5048250"/>
            <a:ext cx="10572750" cy="742950"/>
          </a:xfrm>
          <a:prstGeom prst="rect">
            <a:avLst/>
          </a:prstGeom>
          <a:noFill/>
          <a:ln w="0">
            <a:noFill/>
          </a:ln>
        </p:spPr>
        <p:txBody>
          <a:bodyPr>
            <a:noAutofit/>
          </a:bodyPr>
          <a:lstStyle/>
          <a:p>
            <a:pPr>
              <a:defRPr sz="2025" b="0">
                <a:solidFill>
                  <a:srgbClr val="172D3D"/>
                </a:solidFill>
                <a:latin typeface="Bitstream Charter"/>
                <a:ea typeface="Bitstream Charter"/>
                <a:cs typeface="Bitstream Charter"/>
              </a:defRPr>
            </a:pPr>
            <a:r>
              <a:rPr lang="en-US" sz="2025" b="0" dirty="0">
                <a:solidFill>
                  <a:srgbClr val="172D3D"/>
                </a:solidFill>
                <a:latin typeface="Bitstream Charter"/>
                <a:ea typeface="Bitstream Charter"/>
                <a:cs typeface="Bitstream Charter"/>
              </a:rPr>
              <a:t>There are many problems with the buying/selling of furniture landscape, so </a:t>
            </a:r>
            <a:r>
              <a:rPr sz="2025" b="0" dirty="0">
                <a:solidFill>
                  <a:srgbClr val="172D3D"/>
                </a:solidFill>
                <a:latin typeface="Bitstream Charter"/>
                <a:ea typeface="Bitstream Charter"/>
                <a:cs typeface="Bitstream Charter"/>
              </a:rPr>
              <a:t>demand needs </a:t>
            </a:r>
            <a:r>
              <a:rPr lang="en-US" sz="2025" b="0" dirty="0">
                <a:solidFill>
                  <a:srgbClr val="172D3D"/>
                </a:solidFill>
                <a:latin typeface="Bitstream Charter"/>
                <a:ea typeface="Bitstream Charter"/>
                <a:cs typeface="Bitstream Charter"/>
              </a:rPr>
              <a:t>to be </a:t>
            </a:r>
            <a:r>
              <a:rPr sz="2025" b="0" dirty="0">
                <a:solidFill>
                  <a:srgbClr val="172D3D"/>
                </a:solidFill>
                <a:latin typeface="Bitstream Charter"/>
                <a:ea typeface="Bitstream Charter"/>
                <a:cs typeface="Bitstream Charter"/>
              </a:rPr>
              <a:t>test</a:t>
            </a:r>
            <a:r>
              <a:rPr lang="en-US" sz="2025" b="0" dirty="0">
                <a:solidFill>
                  <a:srgbClr val="172D3D"/>
                </a:solidFill>
                <a:latin typeface="Bitstream Charter"/>
                <a:ea typeface="Bitstream Charter"/>
                <a:cs typeface="Bitstream Charter"/>
              </a:rPr>
              <a:t>ed and validated</a:t>
            </a:r>
            <a:r>
              <a:rPr sz="2025" b="0" dirty="0">
                <a:solidFill>
                  <a:srgbClr val="172D3D"/>
                </a:solidFill>
                <a:latin typeface="Bitstream Charter"/>
                <a:ea typeface="Bitstream Charter"/>
                <a:cs typeface="Bitstream Charter"/>
              </a:rPr>
              <a:t>.</a:t>
            </a:r>
          </a:p>
        </p:txBody>
      </p:sp>
    </p:spTree>
    <p:extLst>
      <p:ext uri="{BB962C8B-B14F-4D97-AF65-F5344CB8AC3E}">
        <p14:creationId xmlns:p14="http://schemas.microsoft.com/office/powerpoint/2010/main" val="267007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530065-983E-4347-BE0E-CB9D7BF59697}"/>
              </a:ext>
            </a:extLst>
          </p:cNvPr>
          <p:cNvSpPr>
            <a:spLocks noGrp="1"/>
          </p:cNvSpPr>
          <p:nvPr/>
        </p:nvSpPr>
        <p:spPr>
          <a:xfrm>
            <a:off x="685800" y="495300"/>
            <a:ext cx="10820400" cy="809625"/>
          </a:xfrm>
          <a:prstGeom prst="rect">
            <a:avLst/>
          </a:prstGeom>
          <a:noFill/>
          <a:ln w="0">
            <a:noFill/>
          </a:ln>
        </p:spPr>
        <p:txBody>
          <a:bodyPr>
            <a:noAutofit/>
          </a:bodyPr>
          <a:lstStyle/>
          <a:p>
            <a:pPr algn="ctr">
              <a:defRPr sz="3300" b="1">
                <a:solidFill>
                  <a:srgbClr val="172D3D"/>
                </a:solidFill>
                <a:latin typeface="Bitstream Charter"/>
                <a:ea typeface="Bitstream Charter"/>
                <a:cs typeface="Bitstream Charter"/>
              </a:defRPr>
            </a:pPr>
            <a:r>
              <a:rPr sz="3300" b="1" dirty="0">
                <a:solidFill>
                  <a:srgbClr val="172D3D"/>
                </a:solidFill>
                <a:latin typeface="Bitstream Charter"/>
                <a:ea typeface="Bitstream Charter"/>
                <a:cs typeface="Bitstream Charter"/>
              </a:rPr>
              <a:t>Our experience with both interview types</a:t>
            </a:r>
          </a:p>
        </p:txBody>
      </p:sp>
      <p:sp>
        <p:nvSpPr>
          <p:cNvPr id="6" name="Rectangle 5">
            <a:extLst>
              <a:ext uri="{FF2B5EF4-FFF2-40B4-BE49-F238E27FC236}">
                <a16:creationId xmlns:a16="http://schemas.microsoft.com/office/drawing/2014/main" id="{9C1495EF-9257-4E92-B9F3-B62946BAC00F}"/>
              </a:ext>
            </a:extLst>
          </p:cNvPr>
          <p:cNvSpPr>
            <a:spLocks noGrp="1"/>
          </p:cNvSpPr>
          <p:nvPr/>
        </p:nvSpPr>
        <p:spPr>
          <a:xfrm>
            <a:off x="723900" y="4829175"/>
            <a:ext cx="10744200" cy="857250"/>
          </a:xfrm>
          <a:prstGeom prst="rect">
            <a:avLst/>
          </a:prstGeom>
          <a:noFill/>
          <a:ln w="0">
            <a:noFill/>
          </a:ln>
        </p:spPr>
        <p:txBody>
          <a:bodyPr>
            <a:noAutofit/>
          </a:bodyPr>
          <a:lstStyle/>
          <a:p>
            <a:pPr>
              <a:defRPr sz="2250" b="1">
                <a:solidFill>
                  <a:srgbClr val="172D3D"/>
                </a:solidFill>
                <a:latin typeface="Bitstream Charter"/>
                <a:ea typeface="Bitstream Charter"/>
                <a:cs typeface="Bitstream Charter"/>
              </a:defRPr>
            </a:pPr>
            <a:r>
              <a:rPr lang="en-US" sz="2250" b="1" dirty="0">
                <a:solidFill>
                  <a:srgbClr val="172D3D"/>
                </a:solidFill>
                <a:latin typeface="Bitstream Charter"/>
                <a:ea typeface="Bitstream Charter"/>
                <a:cs typeface="Bitstream Charter"/>
              </a:rPr>
              <a:t>Ideal strategy: </a:t>
            </a:r>
            <a:r>
              <a:rPr sz="2250" b="1" dirty="0">
                <a:solidFill>
                  <a:srgbClr val="172D3D"/>
                </a:solidFill>
                <a:latin typeface="Bitstream Charter"/>
                <a:ea typeface="Bitstream Charter"/>
                <a:cs typeface="Bitstream Charter"/>
              </a:rPr>
              <a:t>We would use virtual interviews to prepare</a:t>
            </a:r>
            <a:r>
              <a:rPr lang="en-US" sz="2250" b="1" dirty="0">
                <a:solidFill>
                  <a:srgbClr val="172D3D"/>
                </a:solidFill>
                <a:latin typeface="Bitstream Charter"/>
                <a:ea typeface="Bitstream Charter"/>
                <a:cs typeface="Bitstream Charter"/>
              </a:rPr>
              <a:t> and simulate</a:t>
            </a:r>
            <a:r>
              <a:rPr sz="2250" b="1" dirty="0">
                <a:solidFill>
                  <a:srgbClr val="172D3D"/>
                </a:solidFill>
                <a:latin typeface="Bitstream Charter"/>
                <a:ea typeface="Bitstream Charter"/>
                <a:cs typeface="Bitstream Charter"/>
              </a:rPr>
              <a:t>, then </a:t>
            </a:r>
            <a:r>
              <a:rPr lang="en-US" sz="2250" b="1" dirty="0">
                <a:solidFill>
                  <a:srgbClr val="172D3D"/>
                </a:solidFill>
                <a:latin typeface="Bitstream Charter"/>
                <a:ea typeface="Bitstream Charter"/>
                <a:cs typeface="Bitstream Charter"/>
              </a:rPr>
              <a:t>do </a:t>
            </a:r>
            <a:r>
              <a:rPr sz="2250" b="1" dirty="0">
                <a:solidFill>
                  <a:srgbClr val="172D3D"/>
                </a:solidFill>
                <a:latin typeface="Bitstream Charter"/>
                <a:ea typeface="Bitstream Charter"/>
                <a:cs typeface="Bitstream Charter"/>
              </a:rPr>
              <a:t>real interviews t</a:t>
            </a:r>
            <a:r>
              <a:rPr lang="en-US" sz="2250" b="1" dirty="0">
                <a:solidFill>
                  <a:srgbClr val="172D3D"/>
                </a:solidFill>
                <a:latin typeface="Bitstream Charter"/>
                <a:ea typeface="Bitstream Charter"/>
                <a:cs typeface="Bitstream Charter"/>
              </a:rPr>
              <a:t>o learn about the market and our customers</a:t>
            </a:r>
            <a:endParaRPr sz="2250" b="1" dirty="0">
              <a:solidFill>
                <a:srgbClr val="172D3D"/>
              </a:solidFill>
              <a:latin typeface="Bitstream Charter"/>
              <a:ea typeface="Bitstream Charter"/>
              <a:cs typeface="Bitstream Charter"/>
            </a:endParaRPr>
          </a:p>
        </p:txBody>
      </p:sp>
      <p:graphicFrame>
        <p:nvGraphicFramePr>
          <p:cNvPr id="9" name="Table 8">
            <a:extLst>
              <a:ext uri="{FF2B5EF4-FFF2-40B4-BE49-F238E27FC236}">
                <a16:creationId xmlns:a16="http://schemas.microsoft.com/office/drawing/2014/main" id="{5677B8E3-D52C-DB9B-56AB-5D8FAA9E64AE}"/>
              </a:ext>
            </a:extLst>
          </p:cNvPr>
          <p:cNvGraphicFramePr>
            <a:graphicFrameLocks noGrp="1"/>
          </p:cNvGraphicFramePr>
          <p:nvPr>
            <p:extLst>
              <p:ext uri="{D42A27DB-BD31-4B8C-83A1-F6EECF244321}">
                <p14:modId xmlns:p14="http://schemas.microsoft.com/office/powerpoint/2010/main" val="2315794618"/>
              </p:ext>
            </p:extLst>
          </p:nvPr>
        </p:nvGraphicFramePr>
        <p:xfrm>
          <a:off x="890813" y="1489982"/>
          <a:ext cx="10016672" cy="2788104"/>
        </p:xfrm>
        <a:graphic>
          <a:graphicData uri="http://schemas.openxmlformats.org/drawingml/2006/table">
            <a:tbl>
              <a:tblPr firstRow="1" bandRow="1">
                <a:tableStyleId>{D7AC3CCA-C797-4891-BE02-D94E43425B78}</a:tableStyleId>
              </a:tblPr>
              <a:tblGrid>
                <a:gridCol w="5008336">
                  <a:extLst>
                    <a:ext uri="{9D8B030D-6E8A-4147-A177-3AD203B41FA5}">
                      <a16:colId xmlns:a16="http://schemas.microsoft.com/office/drawing/2014/main" val="2627069021"/>
                    </a:ext>
                  </a:extLst>
                </a:gridCol>
                <a:gridCol w="5008336">
                  <a:extLst>
                    <a:ext uri="{9D8B030D-6E8A-4147-A177-3AD203B41FA5}">
                      <a16:colId xmlns:a16="http://schemas.microsoft.com/office/drawing/2014/main" val="2988147228"/>
                    </a:ext>
                  </a:extLst>
                </a:gridCol>
              </a:tblGrid>
              <a:tr h="5370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0F756F"/>
                          </a:solidFill>
                          <a:latin typeface="Bitstream Charter"/>
                          <a:ea typeface="Bitstream Charter"/>
                          <a:cs typeface="Bitstream Charter"/>
                        </a:rPr>
                        <a:t>Virtual interviews</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0F756F"/>
                          </a:solidFill>
                          <a:latin typeface="Bitstream Charter"/>
                          <a:ea typeface="Bitstream Charter"/>
                          <a:cs typeface="Bitstream Charter"/>
                        </a:rPr>
                        <a:t>Real interviews</a:t>
                      </a:r>
                    </a:p>
                  </a:txBody>
                  <a:tcPr/>
                </a:tc>
                <a:extLst>
                  <a:ext uri="{0D108BD9-81ED-4DB2-BD59-A6C34878D82A}">
                    <a16:rowId xmlns:a16="http://schemas.microsoft.com/office/drawing/2014/main" val="2201724736"/>
                  </a:ext>
                </a:extLst>
              </a:tr>
              <a:tr h="926915">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dirty="0">
                          <a:solidFill>
                            <a:srgbClr val="172D3D"/>
                          </a:solidFill>
                          <a:latin typeface="Bitstream Charter"/>
                          <a:ea typeface="Bitstream Charter"/>
                          <a:cs typeface="Bitstream Charter"/>
                        </a:rPr>
                        <a:t>Quick to conduct and can be repeated anytime</a:t>
                      </a:r>
                    </a:p>
                  </a:txBody>
                  <a:tcPr/>
                </a:tc>
                <a:tc>
                  <a:txBody>
                    <a:bodyPr/>
                    <a:lstStyle/>
                    <a:p>
                      <a:pPr>
                        <a:defRPr sz="2100" b="0">
                          <a:solidFill>
                            <a:srgbClr val="172D3D"/>
                          </a:solidFill>
                          <a:latin typeface="Bitstream Charter"/>
                          <a:ea typeface="Bitstream Charter"/>
                          <a:cs typeface="Bitstream Charter"/>
                        </a:defRPr>
                      </a:pPr>
                      <a:r>
                        <a:rPr lang="en-US" sz="1800" b="0" dirty="0">
                          <a:solidFill>
                            <a:srgbClr val="172D3D"/>
                          </a:solidFill>
                          <a:latin typeface="Bitstream Charter"/>
                          <a:ea typeface="Bitstream Charter"/>
                          <a:cs typeface="Bitstream Charter"/>
                        </a:rPr>
                        <a:t>Took the time to understand their context and their experiences changed our perspective about our customers’ needs and situations</a:t>
                      </a:r>
                    </a:p>
                  </a:txBody>
                  <a:tcPr/>
                </a:tc>
                <a:extLst>
                  <a:ext uri="{0D108BD9-81ED-4DB2-BD59-A6C34878D82A}">
                    <a16:rowId xmlns:a16="http://schemas.microsoft.com/office/drawing/2014/main" val="1111784594"/>
                  </a:ext>
                </a:extLst>
              </a:tr>
              <a:tr h="1324165">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dirty="0">
                          <a:solidFill>
                            <a:srgbClr val="172D3D"/>
                          </a:solidFill>
                          <a:latin typeface="Bitstream Charter"/>
                          <a:ea typeface="Bitstream Charter"/>
                          <a:cs typeface="Bitstream Charter"/>
                        </a:rPr>
                        <a:t>Focused on costs over realistic logistical issues</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dirty="0">
                          <a:solidFill>
                            <a:srgbClr val="172D3D"/>
                          </a:solidFill>
                          <a:latin typeface="Bitstream Charter"/>
                          <a:ea typeface="Bitstream Charter"/>
                          <a:cs typeface="Bitstream Charter"/>
                        </a:rPr>
                        <a:t>Discovered real-life logistical issues like deadlines, reliability, transportation, delivery, and timing</a:t>
                      </a:r>
                    </a:p>
                  </a:txBody>
                  <a:tcPr/>
                </a:tc>
                <a:extLst>
                  <a:ext uri="{0D108BD9-81ED-4DB2-BD59-A6C34878D82A}">
                    <a16:rowId xmlns:a16="http://schemas.microsoft.com/office/drawing/2014/main" val="191246376"/>
                  </a:ext>
                </a:extLst>
              </a:tr>
            </a:tbl>
          </a:graphicData>
        </a:graphic>
      </p:graphicFrame>
    </p:spTree>
    <p:extLst>
      <p:ext uri="{BB962C8B-B14F-4D97-AF65-F5344CB8AC3E}">
        <p14:creationId xmlns:p14="http://schemas.microsoft.com/office/powerpoint/2010/main" val="11398604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783</Words>
  <Application>Microsoft Macintosh PowerPoint</Application>
  <DocSecurity>0</DocSecurity>
  <PresentationFormat>Widescreen</PresentationFormat>
  <Paragraphs>45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Kush Mishra</cp:lastModifiedBy>
  <cp:revision>1</cp:revision>
  <dcterms:created xsi:type="dcterms:W3CDTF">2026-10-01T03:16:25Z</dcterms:created>
  <dcterms:modified xsi:type="dcterms:W3CDTF">2026-10-01T03:46:33Z</dcterms:modified>
</cp:coreProperties>
</file>